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8" d="100"/>
          <a:sy n="128" d="100"/>
        </p:scale>
        <p:origin x="15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in one line: we built a system that uses a normal webcam to check if a driver looks drowsy and warns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why this matters. Drowsy driving is common and dangerous, and most people can't afford cars with driver monitoring. That's what pushed us to try a low-cost webcam based approach.</a:t>
            </a:r>
          </a:p>
          <a:p>
            <a:endParaRPr/>
          </a:p>
          <a:p>
            <a:r>
              <a:t>Sources: NHTSA, Drowsy Driving: https://www.nhtsa.gov/risky-driving/drowsy-driving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four goals. The main idea: a model for single frames, plus logic on top so we don't beep every time someone blinks.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UTA Real-Life Drowsiness Dataset from Kaggle. The good thing is it's real people in real settings, not actors. We kept only two classes to make it a clean yes/no problem.</a:t>
            </a:r>
          </a:p>
          <a:p>
            <a:endParaRPr/>
          </a:p>
          <a:p>
            <a:r>
              <a:t>Sources: UTA-RLDD project page: https://sites.google.com/view/utarldd/home ; dataset: https://www.kaggle.com/datasets/minhngt02/uta-rldd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full pipeline in five steps. Stress step 4: one frame can be wrong (blinking, looking down), so we decide based on a short history of frames.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classic CV techniques in our project, all done with OpenCV in cv_features.py. HOG describes the shape of the face using edge directions. Sobel finds edges and Otsu thresholding turns them into a binary map. Morphology cleans that map. Optical flow compares two frames in a row to measure movement, for example head nodding. The frontend sends the previous frame along with the current one so optical flow can be computed.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picked the smallest YOLOv8 classification model because it has to run in real time. Training ran for 25 epochs and the best checkpoint was saved and copied into the backend.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parts. Frontend in the browser, backend API in Python, and the trained model inside the backend. Frontend sends a picture, backend replies with the result in 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part we spent time tuning. The model alone gives a number per frame. We lowered the cut-off so we catch more drowsy cases, then used the history of frames to decide the alert level, so it doesn't beep on a single blink.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Accuracy is noisy from epoch to epoch because many frames come from the same videos and look similar. The best checkpoint was around 85 percent, and that's the one we deployed.</a:t>
            </a:r>
          </a:p>
          <a:p>
            <a:endParaRPr/>
          </a:p>
          <a:p>
            <a:r>
              <a:t>Sources: Project training history: ml_pipeline/models/drowsiness_detection/results.csv; held-out evaluation output: ml_pipeline/evaluate.py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table: 897 alert frames correct, 659 drowsy correct. The weak spot is 253 drowsy frames called alert. That's the reason for the 0.20 threshold and the multi-frame logic from the earlier slide.</a:t>
            </a:r>
          </a:p>
          <a:p>
            <a:endParaRPr/>
          </a:p>
          <a:p>
            <a:r>
              <a:t>Sources: Project validation threshold sweep and confusion matrix: ml_pipeline/tune_threshold.py and ml_pipeline/models/drowsiness_detection/confusion_matrix_normalized.png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left panel shows saved YOLO validation predictions; the right panel summarizes the implemented web app features. The image is not a live app screenshot.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honest about limits: it works, but catching drowsy faces from a single frame is the weak point, and lighting or glasses can affect it. Future work is about adding eye and yawn checks and testing in a real car.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C3AD56E-5DC8-4708-8A4F-4DBDCE00F9C4}"/>
              </a:ext>
            </a:extLst>
          </p:cNvPr>
          <p:cNvSpPr>
            <a:spLocks noGrp="1"/>
          </p:cNvSpPr>
          <p:nvPr>
            <p:ph type="title" idx="100" hasCustomPrompt="1"/>
          </p:nvPr>
        </p:nvSpPr>
        <p:spPr>
          <a:xfrm>
            <a:off x="457200" y="274320"/>
            <a:ext cx="8229600" cy="640080"/>
          </a:xfrm>
          <a:prstGeom prst="rect">
            <a:avLst/>
          </a:prstGeom>
          <a:noFill/>
        </p:spPr>
        <p:txBody>
          <a:bodyPr wrap="square"/>
          <a:lstStyle>
            <a:lvl1pPr marL="0" indent="0">
              <a:buNone/>
              <a:defRPr sz="3000" b="1">
                <a:solidFill>
                  <a:srgbClr val="1F2A36"/>
                </a:solidFill>
              </a:defRPr>
            </a:lvl1pPr>
          </a:lstStyle>
          <a:p>
            <a:pPr marL="0" indent="0">
              <a:buNone/>
            </a:pPr>
            <a:endParaRPr sz="3000"/>
          </a:p>
        </p:txBody>
      </p:sp>
      <p:sp>
        <p:nvSpPr>
          <p:cNvPr id="25" name="Slide Number Placeholder 0">
            <a:extLst>
              <a:ext uri="{FF2B5EF4-FFF2-40B4-BE49-F238E27FC236}">
                <a16:creationId xmlns:a16="http://schemas.microsoft.com/office/drawing/2014/main" id="{E5E336C1-7E42-48A2-A12C-CF311C9DF9B4}"/>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3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F065819B-D5E9-4213-8D7B-0622F166A947}"/>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7607D69-6CC1-4056-B1FE-0CFA7022755B}"/>
              </a:ext>
            </a:extLst>
          </p:cNvPr>
          <p:cNvSpPr>
            <a:spLocks noGrp="1"/>
          </p:cNvSpPr>
          <p:nvPr/>
        </p:nvSpPr>
        <p:spPr>
          <a:xfrm>
            <a:off x="548640" y="1280160"/>
            <a:ext cx="8046720" cy="822960"/>
          </a:xfrm>
          <a:prstGeom prst="rect">
            <a:avLst/>
          </a:prstGeom>
          <a:noFill/>
        </p:spPr>
        <p:txBody>
          <a:bodyPr wrap="square" lIns="0" tIns="0" rIns="0" bIns="0" anchor="t"/>
          <a:lstStyle/>
          <a:p>
            <a:pPr marL="0" indent="0">
              <a:buNone/>
            </a:pPr>
            <a:r>
              <a:rPr sz="4000" b="1" dirty="0">
                <a:solidFill>
                  <a:srgbClr val="FFFFFF"/>
                </a:solidFill>
              </a:rPr>
              <a:t>Driver Drowsiness Detection</a:t>
            </a:r>
            <a:endParaRPr sz="4000" dirty="0"/>
          </a:p>
        </p:txBody>
      </p:sp>
      <p:sp>
        <p:nvSpPr>
          <p:cNvPr id="3" name="Text 1">
            <a:extLst>
              <a:ext uri="{FF2B5EF4-FFF2-40B4-BE49-F238E27FC236}">
                <a16:creationId xmlns:a16="http://schemas.microsoft.com/office/drawing/2014/main" id="{C2CC32E2-C701-41A5-BE29-2550A997E7F2}"/>
              </a:ext>
            </a:extLst>
          </p:cNvPr>
          <p:cNvSpPr>
            <a:spLocks noGrp="1"/>
          </p:cNvSpPr>
          <p:nvPr/>
        </p:nvSpPr>
        <p:spPr>
          <a:xfrm>
            <a:off x="548640" y="2148840"/>
            <a:ext cx="7680960" cy="640080"/>
          </a:xfrm>
          <a:prstGeom prst="rect">
            <a:avLst/>
          </a:prstGeom>
          <a:noFill/>
        </p:spPr>
        <p:txBody>
          <a:bodyPr wrap="square" lIns="0" tIns="0" rIns="0" bIns="0" anchor="t"/>
          <a:lstStyle/>
          <a:p>
            <a:pPr marL="0" indent="0">
              <a:buNone/>
            </a:pPr>
            <a:r>
              <a:rPr sz="1800" dirty="0">
                <a:solidFill>
                  <a:srgbClr val="C9D1DA"/>
                </a:solidFill>
              </a:rPr>
              <a:t>Watching the driver through a webcam and raising an alarm when they get sleepy</a:t>
            </a:r>
            <a:endParaRPr sz="1800" dirty="0"/>
          </a:p>
        </p:txBody>
      </p:sp>
      <p:sp>
        <p:nvSpPr>
          <p:cNvPr id="4" name="Shape 2">
            <a:extLst>
              <a:ext uri="{FF2B5EF4-FFF2-40B4-BE49-F238E27FC236}">
                <a16:creationId xmlns:a16="http://schemas.microsoft.com/office/drawing/2014/main" id="{82186A0F-E9CE-4B65-AB01-44714F5CA5A8}"/>
              </a:ext>
            </a:extLst>
          </p:cNvPr>
          <p:cNvSpPr>
            <a:spLocks noGrp="1"/>
          </p:cNvSpPr>
          <p:nvPr/>
        </p:nvSpPr>
        <p:spPr>
          <a:xfrm>
            <a:off x="548638" y="3154680"/>
            <a:ext cx="4877603" cy="384048"/>
          </a:xfrm>
          <a:prstGeom prst="roundRect">
            <a:avLst>
              <a:gd name="adj" fmla="val 19048"/>
            </a:avLst>
          </a:prstGeom>
          <a:solidFill>
            <a:srgbClr val="F2A900"/>
          </a:solidFill>
          <a:ln w="12700">
            <a:solidFill>
              <a:srgbClr val="F2A900"/>
            </a:solidFill>
            <a:prstDash val="solid"/>
          </a:ln>
        </p:spPr>
        <p:txBody>
          <a:bodyPr/>
          <a:lstStyle/>
          <a:p>
            <a:endParaRPr lang="en-IN" dirty="0"/>
          </a:p>
        </p:txBody>
      </p:sp>
      <p:sp>
        <p:nvSpPr>
          <p:cNvPr id="5" name="Text 3">
            <a:extLst>
              <a:ext uri="{FF2B5EF4-FFF2-40B4-BE49-F238E27FC236}">
                <a16:creationId xmlns:a16="http://schemas.microsoft.com/office/drawing/2014/main" id="{03F8312C-31B1-46AF-933E-DDD0CFB8F4B3}"/>
              </a:ext>
            </a:extLst>
          </p:cNvPr>
          <p:cNvSpPr>
            <a:spLocks noGrp="1"/>
          </p:cNvSpPr>
          <p:nvPr/>
        </p:nvSpPr>
        <p:spPr>
          <a:xfrm>
            <a:off x="548639" y="3154680"/>
            <a:ext cx="4979871" cy="384048"/>
          </a:xfrm>
          <a:prstGeom prst="rect">
            <a:avLst/>
          </a:prstGeom>
          <a:noFill/>
        </p:spPr>
        <p:txBody>
          <a:bodyPr wrap="square" lIns="0" tIns="0" rIns="0" bIns="0" anchor="ctr"/>
          <a:lstStyle/>
          <a:p>
            <a:pPr marL="0" indent="0" algn="ctr">
              <a:buNone/>
            </a:pPr>
            <a:r>
              <a:rPr sz="1300" b="1" dirty="0">
                <a:solidFill>
                  <a:srgbClr val="1F2A36"/>
                </a:solidFill>
              </a:rPr>
              <a:t>CSE411</a:t>
            </a:r>
            <a:r>
              <a:rPr lang="en-IN" sz="1300" b="1" dirty="0">
                <a:solidFill>
                  <a:srgbClr val="1F2A36"/>
                </a:solidFill>
              </a:rPr>
              <a:t> Computer Vision</a:t>
            </a:r>
            <a:r>
              <a:rPr sz="1300" b="1" dirty="0">
                <a:solidFill>
                  <a:srgbClr val="1F2A36"/>
                </a:solidFill>
              </a:rPr>
              <a:t> </a:t>
            </a:r>
            <a:r>
              <a:rPr lang="en-IN" sz="1300" b="1" dirty="0">
                <a:solidFill>
                  <a:srgbClr val="1F2A36"/>
                </a:solidFill>
              </a:rPr>
              <a:t>And It’s Principles</a:t>
            </a:r>
            <a:endParaRPr sz="1300" dirty="0"/>
          </a:p>
        </p:txBody>
      </p:sp>
      <p:sp>
        <p:nvSpPr>
          <p:cNvPr id="6" name="Text 4">
            <a:extLst>
              <a:ext uri="{FF2B5EF4-FFF2-40B4-BE49-F238E27FC236}">
                <a16:creationId xmlns:a16="http://schemas.microsoft.com/office/drawing/2014/main" id="{7AC1DEEE-AD1A-41FF-8040-7F6D9B6D8B70}"/>
              </a:ext>
            </a:extLst>
          </p:cNvPr>
          <p:cNvSpPr>
            <a:spLocks noGrp="1"/>
          </p:cNvSpPr>
          <p:nvPr/>
        </p:nvSpPr>
        <p:spPr>
          <a:xfrm>
            <a:off x="548640" y="3749040"/>
            <a:ext cx="7315200" cy="914400"/>
          </a:xfrm>
          <a:prstGeom prst="rect">
            <a:avLst/>
          </a:prstGeom>
          <a:noFill/>
        </p:spPr>
        <p:txBody>
          <a:bodyPr wrap="square" lIns="0" tIns="0" rIns="0" bIns="0" anchor="t"/>
          <a:lstStyle/>
          <a:p>
            <a:pPr marL="0" indent="0">
              <a:spcAft>
                <a:spcPts val="200"/>
              </a:spcAft>
              <a:buNone/>
            </a:pPr>
            <a:r>
              <a:rPr sz="1300" dirty="0">
                <a:solidFill>
                  <a:srgbClr val="C9D1DA"/>
                </a:solidFill>
              </a:rPr>
              <a:t>Team 25</a:t>
            </a:r>
            <a:endParaRPr sz="1300" dirty="0"/>
          </a:p>
          <a:p>
            <a:pPr marL="0" indent="0">
              <a:spcAft>
                <a:spcPts val="200"/>
              </a:spcAft>
              <a:buNone/>
            </a:pPr>
            <a:r>
              <a:rPr sz="1300" dirty="0" err="1">
                <a:solidFill>
                  <a:srgbClr val="C9D1DA"/>
                </a:solidFill>
              </a:rPr>
              <a:t>Vangara</a:t>
            </a:r>
            <a:r>
              <a:rPr sz="1300" dirty="0">
                <a:solidFill>
                  <a:srgbClr val="C9D1DA"/>
                </a:solidFill>
              </a:rPr>
              <a:t> Sridhar (2023BCS0106) | Suragouni Sahithi (2023BCS0070)</a:t>
            </a:r>
            <a:endParaRPr sz="1300" dirty="0"/>
          </a:p>
          <a:p>
            <a:pPr marL="0" indent="0">
              <a:spcAft>
                <a:spcPts val="200"/>
              </a:spcAft>
              <a:buNone/>
            </a:pPr>
            <a:r>
              <a:rPr sz="1300" dirty="0" err="1">
                <a:solidFill>
                  <a:srgbClr val="C9D1DA"/>
                </a:solidFill>
              </a:rPr>
              <a:t>Vatte</a:t>
            </a:r>
            <a:r>
              <a:rPr sz="1300" dirty="0">
                <a:solidFill>
                  <a:srgbClr val="C9D1DA"/>
                </a:solidFill>
              </a:rPr>
              <a:t> Ramya Sri (2023BCS0208) | Abhay Devanand </a:t>
            </a:r>
            <a:r>
              <a:rPr sz="1300" dirty="0" err="1">
                <a:solidFill>
                  <a:srgbClr val="C9D1DA"/>
                </a:solidFill>
              </a:rPr>
              <a:t>Sawale</a:t>
            </a:r>
            <a:r>
              <a:rPr sz="1300" dirty="0">
                <a:solidFill>
                  <a:srgbClr val="C9D1DA"/>
                </a:solidFill>
              </a:rPr>
              <a:t> (2023BCS0046)</a:t>
            </a:r>
            <a:endParaRPr sz="1300" dirty="0"/>
          </a:p>
        </p:txBody>
      </p:sp>
    </p:spTree>
    <p:extLst>
      <p:ext uri="{BB962C8B-B14F-4D97-AF65-F5344CB8AC3E}">
        <p14:creationId xmlns:p14="http://schemas.microsoft.com/office/powerpoint/2010/main" val="1201194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DEE33D6-08A8-4A6E-B17F-AC5057285131}"/>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Problem Statement</a:t>
            </a:r>
            <a:endParaRPr sz="3000"/>
          </a:p>
        </p:txBody>
      </p:sp>
      <p:sp>
        <p:nvSpPr>
          <p:cNvPr id="3" name="Text 1">
            <a:extLst>
              <a:ext uri="{FF2B5EF4-FFF2-40B4-BE49-F238E27FC236}">
                <a16:creationId xmlns:a16="http://schemas.microsoft.com/office/drawing/2014/main" id="{6626F97B-8F2B-44EC-AFD1-52F7E9E3C5FF}"/>
              </a:ext>
            </a:extLst>
          </p:cNvPr>
          <p:cNvSpPr>
            <a:spLocks noGrp="1"/>
          </p:cNvSpPr>
          <p:nvPr/>
        </p:nvSpPr>
        <p:spPr>
          <a:xfrm>
            <a:off x="457200" y="1188720"/>
            <a:ext cx="4846320" cy="2377440"/>
          </a:xfrm>
          <a:prstGeom prst="rect">
            <a:avLst/>
          </a:prstGeom>
          <a:noFill/>
        </p:spPr>
        <p:txBody>
          <a:bodyPr wrap="square" lIns="0" tIns="0" rIns="0" bIns="0" anchor="t"/>
          <a:lstStyle/>
          <a:p>
            <a:pPr marL="342900" indent="-342900">
              <a:spcAft>
                <a:spcPts val="1000"/>
              </a:spcAft>
              <a:buSzPct val="100000"/>
              <a:buChar char="•"/>
            </a:pPr>
            <a:r>
              <a:rPr sz="1600">
                <a:solidFill>
                  <a:srgbClr val="222831"/>
                </a:solidFill>
              </a:rPr>
              <a:t>Driver drowsiness can go unnoticed until it affects attention and reaction time. NHTSA estimated that 91,000 police-reported crashes in the United States involved drowsy drivers in 2017.</a:t>
            </a:r>
            <a:endParaRPr sz="1600"/>
          </a:p>
          <a:p>
            <a:pPr marL="342900" indent="-342900">
              <a:spcAft>
                <a:spcPts val="1000"/>
              </a:spcAft>
              <a:buSzPct val="100000"/>
              <a:buChar char="•"/>
            </a:pPr>
            <a:endParaRPr sz="1600"/>
          </a:p>
          <a:p>
            <a:pPr marL="342900" indent="-342900">
              <a:spcAft>
                <a:spcPts val="1000"/>
              </a:spcAft>
              <a:buSzPct val="100000"/>
              <a:buChar char="•"/>
            </a:pPr>
            <a:r>
              <a:rPr sz="1600">
                <a:solidFill>
                  <a:srgbClr val="222831"/>
                </a:solidFill>
              </a:rPr>
              <a:t>This project explores webcam-based frame classification and a sustained browser alert.</a:t>
            </a:r>
            <a:endParaRPr sz="1600"/>
          </a:p>
        </p:txBody>
      </p:sp>
      <p:sp>
        <p:nvSpPr>
          <p:cNvPr id="4" name="Text 2">
            <a:extLst>
              <a:ext uri="{FF2B5EF4-FFF2-40B4-BE49-F238E27FC236}">
                <a16:creationId xmlns:a16="http://schemas.microsoft.com/office/drawing/2014/main" id="{D32B6711-1727-45AB-90F8-7F655C2C46CE}"/>
              </a:ext>
            </a:extLst>
          </p:cNvPr>
          <p:cNvSpPr>
            <a:spLocks noGrp="1"/>
          </p:cNvSpPr>
          <p:nvPr/>
        </p:nvSpPr>
        <p:spPr>
          <a:xfrm>
            <a:off x="457200" y="3749040"/>
            <a:ext cx="4846320" cy="731520"/>
          </a:xfrm>
          <a:prstGeom prst="rect">
            <a:avLst/>
          </a:prstGeom>
          <a:noFill/>
        </p:spPr>
        <p:txBody>
          <a:bodyPr wrap="square" lIns="0" tIns="0" rIns="0" bIns="0" anchor="t"/>
          <a:lstStyle/>
          <a:p>
            <a:pPr marL="0" indent="0">
              <a:buNone/>
            </a:pPr>
            <a:r>
              <a:rPr sz="1500" b="1" i="1">
                <a:solidFill>
                  <a:srgbClr val="1F2A36"/>
                </a:solidFill>
              </a:rPr>
              <a:t>Our question: can a webcam classify Alert and Drowsy frames and provide a timely warning?</a:t>
            </a:r>
            <a:endParaRPr sz="1500"/>
          </a:p>
        </p:txBody>
      </p:sp>
      <p:sp>
        <p:nvSpPr>
          <p:cNvPr id="5" name="Shape 3">
            <a:extLst>
              <a:ext uri="{FF2B5EF4-FFF2-40B4-BE49-F238E27FC236}">
                <a16:creationId xmlns:a16="http://schemas.microsoft.com/office/drawing/2014/main" id="{B2E9DC48-2BF1-41D3-9F44-F74CA10955A8}"/>
              </a:ext>
            </a:extLst>
          </p:cNvPr>
          <p:cNvSpPr>
            <a:spLocks noGrp="1"/>
          </p:cNvSpPr>
          <p:nvPr/>
        </p:nvSpPr>
        <p:spPr>
          <a:xfrm>
            <a:off x="5760720" y="1188720"/>
            <a:ext cx="2926080" cy="3108960"/>
          </a:xfrm>
          <a:prstGeom prst="roundRect">
            <a:avLst>
              <a:gd name="adj" fmla="val 3125"/>
            </a:avLst>
          </a:prstGeom>
          <a:solidFill>
            <a:srgbClr val="F1F3F5"/>
          </a:solidFill>
          <a:ln w="12700">
            <a:solidFill>
              <a:srgbClr val="F1F3F5"/>
            </a:solidFill>
            <a:prstDash val="solid"/>
          </a:ln>
        </p:spPr>
      </p:sp>
      <p:sp>
        <p:nvSpPr>
          <p:cNvPr id="6" name="Text 4">
            <a:extLst>
              <a:ext uri="{FF2B5EF4-FFF2-40B4-BE49-F238E27FC236}">
                <a16:creationId xmlns:a16="http://schemas.microsoft.com/office/drawing/2014/main" id="{9EF8A21C-332B-42D1-8181-19B484F23FBA}"/>
              </a:ext>
            </a:extLst>
          </p:cNvPr>
          <p:cNvSpPr>
            <a:spLocks noGrp="1"/>
          </p:cNvSpPr>
          <p:nvPr/>
        </p:nvSpPr>
        <p:spPr>
          <a:xfrm>
            <a:off x="5760720" y="1600200"/>
            <a:ext cx="2926080" cy="822960"/>
          </a:xfrm>
          <a:prstGeom prst="rect">
            <a:avLst/>
          </a:prstGeom>
          <a:noFill/>
        </p:spPr>
        <p:txBody>
          <a:bodyPr wrap="square" lIns="0" tIns="0" rIns="0" bIns="0" anchor="t"/>
          <a:lstStyle/>
          <a:p>
            <a:pPr marL="0" indent="0" algn="ctr">
              <a:buNone/>
            </a:pPr>
            <a:r>
              <a:rPr sz="4800" b="1">
                <a:solidFill>
                  <a:srgbClr val="C0392B"/>
                </a:solidFill>
              </a:rPr>
              <a:t>91,000</a:t>
            </a:r>
            <a:endParaRPr sz="4800"/>
          </a:p>
        </p:txBody>
      </p:sp>
      <p:sp>
        <p:nvSpPr>
          <p:cNvPr id="7" name="Text 5">
            <a:extLst>
              <a:ext uri="{FF2B5EF4-FFF2-40B4-BE49-F238E27FC236}">
                <a16:creationId xmlns:a16="http://schemas.microsoft.com/office/drawing/2014/main" id="{15104451-4ACA-4E3B-A9BF-DF18ABDA4707}"/>
              </a:ext>
            </a:extLst>
          </p:cNvPr>
          <p:cNvSpPr>
            <a:spLocks noGrp="1"/>
          </p:cNvSpPr>
          <p:nvPr/>
        </p:nvSpPr>
        <p:spPr>
          <a:xfrm>
            <a:off x="6035040" y="2514600"/>
            <a:ext cx="2377440" cy="914400"/>
          </a:xfrm>
          <a:prstGeom prst="rect">
            <a:avLst/>
          </a:prstGeom>
          <a:noFill/>
        </p:spPr>
        <p:txBody>
          <a:bodyPr wrap="square" lIns="0" tIns="0" rIns="0" bIns="0" anchor="t"/>
          <a:lstStyle/>
          <a:p>
            <a:pPr marL="0" indent="0" algn="ctr">
              <a:buNone/>
            </a:pPr>
            <a:r>
              <a:rPr sz="1400">
                <a:solidFill>
                  <a:srgbClr val="222831"/>
                </a:solidFill>
              </a:rPr>
              <a:t>police-reported crashes in the US in 2017 involved drowsy drivers</a:t>
            </a:r>
            <a:endParaRPr sz="1400"/>
          </a:p>
        </p:txBody>
      </p:sp>
      <p:sp>
        <p:nvSpPr>
          <p:cNvPr id="8" name="Text 6">
            <a:extLst>
              <a:ext uri="{FF2B5EF4-FFF2-40B4-BE49-F238E27FC236}">
                <a16:creationId xmlns:a16="http://schemas.microsoft.com/office/drawing/2014/main" id="{0CA7DAD3-9507-4EEA-9092-C2F7C77C3DC8}"/>
              </a:ext>
            </a:extLst>
          </p:cNvPr>
          <p:cNvSpPr>
            <a:spLocks noGrp="1"/>
          </p:cNvSpPr>
          <p:nvPr/>
        </p:nvSpPr>
        <p:spPr>
          <a:xfrm>
            <a:off x="6035040" y="3749040"/>
            <a:ext cx="2377440" cy="274320"/>
          </a:xfrm>
          <a:prstGeom prst="rect">
            <a:avLst/>
          </a:prstGeom>
          <a:noFill/>
        </p:spPr>
        <p:txBody>
          <a:bodyPr wrap="square" lIns="0" tIns="0" rIns="0" bIns="0" anchor="t"/>
          <a:lstStyle/>
          <a:p>
            <a:pPr marL="0" indent="0" algn="ctr">
              <a:buNone/>
            </a:pPr>
            <a:r>
              <a:rPr sz="1000">
                <a:solidFill>
                  <a:srgbClr val="5F6B7A"/>
                </a:solidFill>
              </a:rPr>
              <a:t>Source: NHTSA, 2017 estimate</a:t>
            </a:r>
            <a:endParaRPr sz="1000"/>
          </a:p>
        </p:txBody>
      </p:sp>
      <p:sp>
        <p:nvSpPr>
          <p:cNvPr id="25" name="Slide Number Placeholder 0">
            <a:extLst>
              <a:ext uri="{FF2B5EF4-FFF2-40B4-BE49-F238E27FC236}">
                <a16:creationId xmlns:a16="http://schemas.microsoft.com/office/drawing/2014/main" id="{66FB8AF6-3DB1-4E4F-AAAC-A90E9F547835}"/>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2</a:t>
            </a:fld>
            <a:endParaRPr/>
          </a:p>
        </p:txBody>
      </p:sp>
    </p:spTree>
    <p:extLst>
      <p:ext uri="{BB962C8B-B14F-4D97-AF65-F5344CB8AC3E}">
        <p14:creationId xmlns:p14="http://schemas.microsoft.com/office/powerpoint/2010/main" val="1443584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C8202F-7C4A-4844-AC2D-094A60EEBE8B}"/>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Objectives</a:t>
            </a:r>
            <a:endParaRPr sz="3000"/>
          </a:p>
        </p:txBody>
      </p:sp>
      <p:sp>
        <p:nvSpPr>
          <p:cNvPr id="3" name="Shape 1">
            <a:extLst>
              <a:ext uri="{FF2B5EF4-FFF2-40B4-BE49-F238E27FC236}">
                <a16:creationId xmlns:a16="http://schemas.microsoft.com/office/drawing/2014/main" id="{C3D1BD16-AA31-4927-B9BD-C20D45C40E0C}"/>
              </a:ext>
            </a:extLst>
          </p:cNvPr>
          <p:cNvSpPr>
            <a:spLocks noGrp="1"/>
          </p:cNvSpPr>
          <p:nvPr/>
        </p:nvSpPr>
        <p:spPr>
          <a:xfrm>
            <a:off x="457200" y="1234440"/>
            <a:ext cx="4023360" cy="1463040"/>
          </a:xfrm>
          <a:prstGeom prst="roundRect">
            <a:avLst>
              <a:gd name="adj" fmla="val 6250"/>
            </a:avLst>
          </a:prstGeom>
          <a:solidFill>
            <a:srgbClr val="F1F3F5"/>
          </a:solidFill>
          <a:ln w="12700">
            <a:solidFill>
              <a:srgbClr val="F1F3F5"/>
            </a:solidFill>
            <a:prstDash val="solid"/>
          </a:ln>
        </p:spPr>
      </p:sp>
      <p:sp>
        <p:nvSpPr>
          <p:cNvPr id="4" name="Shape 2">
            <a:extLst>
              <a:ext uri="{FF2B5EF4-FFF2-40B4-BE49-F238E27FC236}">
                <a16:creationId xmlns:a16="http://schemas.microsoft.com/office/drawing/2014/main" id="{098D1CEE-105A-4914-BEC8-0D4FDBF80A5E}"/>
              </a:ext>
            </a:extLst>
          </p:cNvPr>
          <p:cNvSpPr>
            <a:spLocks noGrp="1"/>
          </p:cNvSpPr>
          <p:nvPr/>
        </p:nvSpPr>
        <p:spPr>
          <a:xfrm>
            <a:off x="731520" y="1645920"/>
            <a:ext cx="640080" cy="640080"/>
          </a:xfrm>
          <a:prstGeom prst="ellipse">
            <a:avLst/>
          </a:prstGeom>
          <a:solidFill>
            <a:srgbClr val="F2A900"/>
          </a:solidFill>
          <a:ln w="12700">
            <a:solidFill>
              <a:srgbClr val="F2A900"/>
            </a:solidFill>
            <a:prstDash val="solid"/>
          </a:ln>
        </p:spPr>
      </p:sp>
      <p:sp>
        <p:nvSpPr>
          <p:cNvPr id="5" name="Text 3">
            <a:extLst>
              <a:ext uri="{FF2B5EF4-FFF2-40B4-BE49-F238E27FC236}">
                <a16:creationId xmlns:a16="http://schemas.microsoft.com/office/drawing/2014/main" id="{BC7636F2-AAD6-46B7-AFC8-F284A82025BC}"/>
              </a:ext>
            </a:extLst>
          </p:cNvPr>
          <p:cNvSpPr>
            <a:spLocks noGrp="1"/>
          </p:cNvSpPr>
          <p:nvPr/>
        </p:nvSpPr>
        <p:spPr>
          <a:xfrm>
            <a:off x="731520" y="1645920"/>
            <a:ext cx="640080" cy="640080"/>
          </a:xfrm>
          <a:prstGeom prst="rect">
            <a:avLst/>
          </a:prstGeom>
          <a:noFill/>
        </p:spPr>
        <p:txBody>
          <a:bodyPr wrap="square" lIns="0" tIns="0" rIns="0" bIns="0" anchor="ctr"/>
          <a:lstStyle/>
          <a:p>
            <a:pPr marL="0" indent="0" algn="ctr">
              <a:buNone/>
            </a:pPr>
            <a:r>
              <a:rPr sz="2200" b="1">
                <a:solidFill>
                  <a:srgbClr val="1F2A36"/>
                </a:solidFill>
              </a:rPr>
              <a:t>1</a:t>
            </a:r>
            <a:endParaRPr sz="2200"/>
          </a:p>
        </p:txBody>
      </p:sp>
      <p:sp>
        <p:nvSpPr>
          <p:cNvPr id="6" name="Text 4">
            <a:extLst>
              <a:ext uri="{FF2B5EF4-FFF2-40B4-BE49-F238E27FC236}">
                <a16:creationId xmlns:a16="http://schemas.microsoft.com/office/drawing/2014/main" id="{312008DC-CD28-4652-9A0E-47175A24D1CF}"/>
              </a:ext>
            </a:extLst>
          </p:cNvPr>
          <p:cNvSpPr>
            <a:spLocks noGrp="1"/>
          </p:cNvSpPr>
          <p:nvPr/>
        </p:nvSpPr>
        <p:spPr>
          <a:xfrm>
            <a:off x="1600200" y="1554480"/>
            <a:ext cx="2697480" cy="365760"/>
          </a:xfrm>
          <a:prstGeom prst="rect">
            <a:avLst/>
          </a:prstGeom>
          <a:noFill/>
        </p:spPr>
        <p:txBody>
          <a:bodyPr wrap="square" lIns="0" tIns="0" rIns="0" bIns="0" anchor="t"/>
          <a:lstStyle/>
          <a:p>
            <a:pPr marL="0" indent="0">
              <a:buNone/>
            </a:pPr>
            <a:r>
              <a:rPr sz="1800" b="1">
                <a:solidFill>
                  <a:srgbClr val="1F2A36"/>
                </a:solidFill>
              </a:rPr>
              <a:t>Train a model</a:t>
            </a:r>
            <a:endParaRPr sz="1800"/>
          </a:p>
        </p:txBody>
      </p:sp>
      <p:sp>
        <p:nvSpPr>
          <p:cNvPr id="7" name="Text 5">
            <a:extLst>
              <a:ext uri="{FF2B5EF4-FFF2-40B4-BE49-F238E27FC236}">
                <a16:creationId xmlns:a16="http://schemas.microsoft.com/office/drawing/2014/main" id="{D1F242A6-5981-401B-B17B-0EB9B003743D}"/>
              </a:ext>
            </a:extLst>
          </p:cNvPr>
          <p:cNvSpPr>
            <a:spLocks noGrp="1"/>
          </p:cNvSpPr>
          <p:nvPr/>
        </p:nvSpPr>
        <p:spPr>
          <a:xfrm>
            <a:off x="1600200" y="1947672"/>
            <a:ext cx="2697480" cy="594360"/>
          </a:xfrm>
          <a:prstGeom prst="rect">
            <a:avLst/>
          </a:prstGeom>
          <a:noFill/>
        </p:spPr>
        <p:txBody>
          <a:bodyPr wrap="square" lIns="0" tIns="0" rIns="0" bIns="0" anchor="t"/>
          <a:lstStyle/>
          <a:p>
            <a:pPr marL="0" indent="0">
              <a:buNone/>
            </a:pPr>
            <a:r>
              <a:rPr sz="1400">
                <a:solidFill>
                  <a:srgbClr val="222831"/>
                </a:solidFill>
              </a:rPr>
              <a:t>that looks at a face and says Alert or Drowsy</a:t>
            </a:r>
            <a:endParaRPr sz="1400"/>
          </a:p>
        </p:txBody>
      </p:sp>
      <p:sp>
        <p:nvSpPr>
          <p:cNvPr id="8" name="Shape 6">
            <a:extLst>
              <a:ext uri="{FF2B5EF4-FFF2-40B4-BE49-F238E27FC236}">
                <a16:creationId xmlns:a16="http://schemas.microsoft.com/office/drawing/2014/main" id="{CADB2F03-F495-4147-825E-883EBAE0BBDE}"/>
              </a:ext>
            </a:extLst>
          </p:cNvPr>
          <p:cNvSpPr>
            <a:spLocks noGrp="1"/>
          </p:cNvSpPr>
          <p:nvPr/>
        </p:nvSpPr>
        <p:spPr>
          <a:xfrm>
            <a:off x="4663440" y="1234440"/>
            <a:ext cx="4023360" cy="1463040"/>
          </a:xfrm>
          <a:prstGeom prst="roundRect">
            <a:avLst>
              <a:gd name="adj" fmla="val 6250"/>
            </a:avLst>
          </a:prstGeom>
          <a:solidFill>
            <a:srgbClr val="F1F3F5"/>
          </a:solidFill>
          <a:ln w="12700">
            <a:solidFill>
              <a:srgbClr val="F1F3F5"/>
            </a:solidFill>
            <a:prstDash val="solid"/>
          </a:ln>
        </p:spPr>
      </p:sp>
      <p:sp>
        <p:nvSpPr>
          <p:cNvPr id="9" name="Shape 7">
            <a:extLst>
              <a:ext uri="{FF2B5EF4-FFF2-40B4-BE49-F238E27FC236}">
                <a16:creationId xmlns:a16="http://schemas.microsoft.com/office/drawing/2014/main" id="{A73D8889-C4EE-437C-B42A-41684C987442}"/>
              </a:ext>
            </a:extLst>
          </p:cNvPr>
          <p:cNvSpPr>
            <a:spLocks noGrp="1"/>
          </p:cNvSpPr>
          <p:nvPr/>
        </p:nvSpPr>
        <p:spPr>
          <a:xfrm>
            <a:off x="4937760" y="1645920"/>
            <a:ext cx="640080" cy="640080"/>
          </a:xfrm>
          <a:prstGeom prst="ellipse">
            <a:avLst/>
          </a:prstGeom>
          <a:solidFill>
            <a:srgbClr val="F2A900"/>
          </a:solidFill>
          <a:ln w="12700">
            <a:solidFill>
              <a:srgbClr val="F2A900"/>
            </a:solidFill>
            <a:prstDash val="solid"/>
          </a:ln>
        </p:spPr>
      </p:sp>
      <p:sp>
        <p:nvSpPr>
          <p:cNvPr id="10" name="Text 8">
            <a:extLst>
              <a:ext uri="{FF2B5EF4-FFF2-40B4-BE49-F238E27FC236}">
                <a16:creationId xmlns:a16="http://schemas.microsoft.com/office/drawing/2014/main" id="{3DCF30E7-FFB8-4406-95EA-CB549F9AA0AE}"/>
              </a:ext>
            </a:extLst>
          </p:cNvPr>
          <p:cNvSpPr>
            <a:spLocks noGrp="1"/>
          </p:cNvSpPr>
          <p:nvPr/>
        </p:nvSpPr>
        <p:spPr>
          <a:xfrm>
            <a:off x="4937760" y="1645920"/>
            <a:ext cx="640080" cy="640080"/>
          </a:xfrm>
          <a:prstGeom prst="rect">
            <a:avLst/>
          </a:prstGeom>
          <a:noFill/>
        </p:spPr>
        <p:txBody>
          <a:bodyPr wrap="square" lIns="0" tIns="0" rIns="0" bIns="0" anchor="ctr"/>
          <a:lstStyle/>
          <a:p>
            <a:pPr marL="0" indent="0" algn="ctr">
              <a:buNone/>
            </a:pPr>
            <a:r>
              <a:rPr sz="2200" b="1">
                <a:solidFill>
                  <a:srgbClr val="1F2A36"/>
                </a:solidFill>
              </a:rPr>
              <a:t>2</a:t>
            </a:r>
            <a:endParaRPr sz="2200"/>
          </a:p>
        </p:txBody>
      </p:sp>
      <p:sp>
        <p:nvSpPr>
          <p:cNvPr id="11" name="Text 9">
            <a:extLst>
              <a:ext uri="{FF2B5EF4-FFF2-40B4-BE49-F238E27FC236}">
                <a16:creationId xmlns:a16="http://schemas.microsoft.com/office/drawing/2014/main" id="{59F8514D-5D33-4586-AF76-5212D893CCBD}"/>
              </a:ext>
            </a:extLst>
          </p:cNvPr>
          <p:cNvSpPr>
            <a:spLocks noGrp="1"/>
          </p:cNvSpPr>
          <p:nvPr/>
        </p:nvSpPr>
        <p:spPr>
          <a:xfrm>
            <a:off x="5806440" y="1554480"/>
            <a:ext cx="2697480" cy="365760"/>
          </a:xfrm>
          <a:prstGeom prst="rect">
            <a:avLst/>
          </a:prstGeom>
          <a:noFill/>
        </p:spPr>
        <p:txBody>
          <a:bodyPr wrap="square" lIns="0" tIns="0" rIns="0" bIns="0" anchor="t"/>
          <a:lstStyle/>
          <a:p>
            <a:pPr marL="0" indent="0">
              <a:buNone/>
            </a:pPr>
            <a:r>
              <a:rPr sz="1800" b="1">
                <a:solidFill>
                  <a:srgbClr val="1F2A36"/>
                </a:solidFill>
              </a:rPr>
              <a:t>Build a web app</a:t>
            </a:r>
            <a:endParaRPr sz="1800"/>
          </a:p>
        </p:txBody>
      </p:sp>
      <p:sp>
        <p:nvSpPr>
          <p:cNvPr id="12" name="Text 10">
            <a:extLst>
              <a:ext uri="{FF2B5EF4-FFF2-40B4-BE49-F238E27FC236}">
                <a16:creationId xmlns:a16="http://schemas.microsoft.com/office/drawing/2014/main" id="{4E02FD5E-F514-4628-A463-A666244466B6}"/>
              </a:ext>
            </a:extLst>
          </p:cNvPr>
          <p:cNvSpPr>
            <a:spLocks noGrp="1"/>
          </p:cNvSpPr>
          <p:nvPr/>
        </p:nvSpPr>
        <p:spPr>
          <a:xfrm>
            <a:off x="5806440" y="1947672"/>
            <a:ext cx="2697480" cy="594360"/>
          </a:xfrm>
          <a:prstGeom prst="rect">
            <a:avLst/>
          </a:prstGeom>
          <a:noFill/>
        </p:spPr>
        <p:txBody>
          <a:bodyPr wrap="square" lIns="0" tIns="0" rIns="0" bIns="0" anchor="t"/>
          <a:lstStyle/>
          <a:p>
            <a:pPr marL="0" indent="0">
              <a:buNone/>
            </a:pPr>
            <a:r>
              <a:rPr sz="1400">
                <a:solidFill>
                  <a:srgbClr val="222831"/>
                </a:solidFill>
              </a:rPr>
              <a:t>that checks the webcam feed live, in the browser</a:t>
            </a:r>
            <a:endParaRPr sz="1400"/>
          </a:p>
        </p:txBody>
      </p:sp>
      <p:sp>
        <p:nvSpPr>
          <p:cNvPr id="13" name="Shape 11">
            <a:extLst>
              <a:ext uri="{FF2B5EF4-FFF2-40B4-BE49-F238E27FC236}">
                <a16:creationId xmlns:a16="http://schemas.microsoft.com/office/drawing/2014/main" id="{F2A54FDE-4D1E-45A2-866E-3D51FC826431}"/>
              </a:ext>
            </a:extLst>
          </p:cNvPr>
          <p:cNvSpPr>
            <a:spLocks noGrp="1"/>
          </p:cNvSpPr>
          <p:nvPr/>
        </p:nvSpPr>
        <p:spPr>
          <a:xfrm>
            <a:off x="457200" y="2926080"/>
            <a:ext cx="4023360" cy="1463040"/>
          </a:xfrm>
          <a:prstGeom prst="roundRect">
            <a:avLst>
              <a:gd name="adj" fmla="val 6250"/>
            </a:avLst>
          </a:prstGeom>
          <a:solidFill>
            <a:srgbClr val="F1F3F5"/>
          </a:solidFill>
          <a:ln w="12700">
            <a:solidFill>
              <a:srgbClr val="F1F3F5"/>
            </a:solidFill>
            <a:prstDash val="solid"/>
          </a:ln>
        </p:spPr>
      </p:sp>
      <p:sp>
        <p:nvSpPr>
          <p:cNvPr id="14" name="Shape 12">
            <a:extLst>
              <a:ext uri="{FF2B5EF4-FFF2-40B4-BE49-F238E27FC236}">
                <a16:creationId xmlns:a16="http://schemas.microsoft.com/office/drawing/2014/main" id="{399E0595-6529-45D8-A4A6-8B34CE2DC752}"/>
              </a:ext>
            </a:extLst>
          </p:cNvPr>
          <p:cNvSpPr>
            <a:spLocks noGrp="1"/>
          </p:cNvSpPr>
          <p:nvPr/>
        </p:nvSpPr>
        <p:spPr>
          <a:xfrm>
            <a:off x="731520" y="3337560"/>
            <a:ext cx="640080" cy="640080"/>
          </a:xfrm>
          <a:prstGeom prst="ellipse">
            <a:avLst/>
          </a:prstGeom>
          <a:solidFill>
            <a:srgbClr val="F2A900"/>
          </a:solidFill>
          <a:ln w="12700">
            <a:solidFill>
              <a:srgbClr val="F2A900"/>
            </a:solidFill>
            <a:prstDash val="solid"/>
          </a:ln>
        </p:spPr>
      </p:sp>
      <p:sp>
        <p:nvSpPr>
          <p:cNvPr id="15" name="Text 13">
            <a:extLst>
              <a:ext uri="{FF2B5EF4-FFF2-40B4-BE49-F238E27FC236}">
                <a16:creationId xmlns:a16="http://schemas.microsoft.com/office/drawing/2014/main" id="{25DF1E94-2B79-4C1F-BB28-ADAD9A91390D}"/>
              </a:ext>
            </a:extLst>
          </p:cNvPr>
          <p:cNvSpPr>
            <a:spLocks noGrp="1"/>
          </p:cNvSpPr>
          <p:nvPr/>
        </p:nvSpPr>
        <p:spPr>
          <a:xfrm>
            <a:off x="731520" y="3337560"/>
            <a:ext cx="640080" cy="640080"/>
          </a:xfrm>
          <a:prstGeom prst="rect">
            <a:avLst/>
          </a:prstGeom>
          <a:noFill/>
        </p:spPr>
        <p:txBody>
          <a:bodyPr wrap="square" lIns="0" tIns="0" rIns="0" bIns="0" anchor="ctr"/>
          <a:lstStyle/>
          <a:p>
            <a:pPr marL="0" indent="0" algn="ctr">
              <a:buNone/>
            </a:pPr>
            <a:r>
              <a:rPr sz="2200" b="1">
                <a:solidFill>
                  <a:srgbClr val="1F2A36"/>
                </a:solidFill>
              </a:rPr>
              <a:t>3</a:t>
            </a:r>
            <a:endParaRPr sz="2200"/>
          </a:p>
        </p:txBody>
      </p:sp>
      <p:sp>
        <p:nvSpPr>
          <p:cNvPr id="16" name="Text 14">
            <a:extLst>
              <a:ext uri="{FF2B5EF4-FFF2-40B4-BE49-F238E27FC236}">
                <a16:creationId xmlns:a16="http://schemas.microsoft.com/office/drawing/2014/main" id="{16558CBE-4D4B-4C88-9D48-3DC916409CA0}"/>
              </a:ext>
            </a:extLst>
          </p:cNvPr>
          <p:cNvSpPr>
            <a:spLocks noGrp="1"/>
          </p:cNvSpPr>
          <p:nvPr/>
        </p:nvSpPr>
        <p:spPr>
          <a:xfrm>
            <a:off x="1600200" y="3246120"/>
            <a:ext cx="2697480" cy="365760"/>
          </a:xfrm>
          <a:prstGeom prst="rect">
            <a:avLst/>
          </a:prstGeom>
          <a:noFill/>
        </p:spPr>
        <p:txBody>
          <a:bodyPr wrap="square" lIns="0" tIns="0" rIns="0" bIns="0" anchor="t"/>
          <a:lstStyle/>
          <a:p>
            <a:pPr marL="0" indent="0">
              <a:buNone/>
            </a:pPr>
            <a:r>
              <a:rPr sz="1800" b="1" dirty="0">
                <a:solidFill>
                  <a:srgbClr val="1F2A36"/>
                </a:solidFill>
              </a:rPr>
              <a:t>Cut false alarms</a:t>
            </a:r>
            <a:endParaRPr sz="1800" dirty="0"/>
          </a:p>
        </p:txBody>
      </p:sp>
      <p:sp>
        <p:nvSpPr>
          <p:cNvPr id="17" name="Text 15">
            <a:extLst>
              <a:ext uri="{FF2B5EF4-FFF2-40B4-BE49-F238E27FC236}">
                <a16:creationId xmlns:a16="http://schemas.microsoft.com/office/drawing/2014/main" id="{3B268E63-E360-4AE6-B483-C0B31943BAED}"/>
              </a:ext>
            </a:extLst>
          </p:cNvPr>
          <p:cNvSpPr>
            <a:spLocks noGrp="1"/>
          </p:cNvSpPr>
          <p:nvPr/>
        </p:nvSpPr>
        <p:spPr>
          <a:xfrm>
            <a:off x="1600200" y="3639312"/>
            <a:ext cx="2697480" cy="594360"/>
          </a:xfrm>
          <a:prstGeom prst="rect">
            <a:avLst/>
          </a:prstGeom>
          <a:noFill/>
        </p:spPr>
        <p:txBody>
          <a:bodyPr wrap="square" lIns="0" tIns="0" rIns="0" bIns="0" anchor="t"/>
          <a:lstStyle/>
          <a:p>
            <a:pPr marL="0" indent="0">
              <a:buNone/>
            </a:pPr>
            <a:r>
              <a:rPr sz="1400" dirty="0">
                <a:solidFill>
                  <a:srgbClr val="222831"/>
                </a:solidFill>
              </a:rPr>
              <a:t>by looking at the last few frames, not just one</a:t>
            </a:r>
            <a:endParaRPr sz="1400" dirty="0"/>
          </a:p>
        </p:txBody>
      </p:sp>
      <p:sp>
        <p:nvSpPr>
          <p:cNvPr id="18" name="Shape 16">
            <a:extLst>
              <a:ext uri="{FF2B5EF4-FFF2-40B4-BE49-F238E27FC236}">
                <a16:creationId xmlns:a16="http://schemas.microsoft.com/office/drawing/2014/main" id="{E86E23C6-D518-463B-B57A-6D944170F3F6}"/>
              </a:ext>
            </a:extLst>
          </p:cNvPr>
          <p:cNvSpPr>
            <a:spLocks noGrp="1"/>
          </p:cNvSpPr>
          <p:nvPr/>
        </p:nvSpPr>
        <p:spPr>
          <a:xfrm>
            <a:off x="4663440" y="2926080"/>
            <a:ext cx="4023360" cy="1463040"/>
          </a:xfrm>
          <a:prstGeom prst="roundRect">
            <a:avLst>
              <a:gd name="adj" fmla="val 6250"/>
            </a:avLst>
          </a:prstGeom>
          <a:solidFill>
            <a:srgbClr val="F1F3F5"/>
          </a:solidFill>
          <a:ln w="12700">
            <a:solidFill>
              <a:srgbClr val="F1F3F5"/>
            </a:solidFill>
            <a:prstDash val="solid"/>
          </a:ln>
        </p:spPr>
      </p:sp>
      <p:sp>
        <p:nvSpPr>
          <p:cNvPr id="19" name="Shape 17">
            <a:extLst>
              <a:ext uri="{FF2B5EF4-FFF2-40B4-BE49-F238E27FC236}">
                <a16:creationId xmlns:a16="http://schemas.microsoft.com/office/drawing/2014/main" id="{23478EB5-4641-4C7C-946C-27E7302C73E5}"/>
              </a:ext>
            </a:extLst>
          </p:cNvPr>
          <p:cNvSpPr>
            <a:spLocks noGrp="1"/>
          </p:cNvSpPr>
          <p:nvPr/>
        </p:nvSpPr>
        <p:spPr>
          <a:xfrm>
            <a:off x="4937760" y="3337560"/>
            <a:ext cx="640080" cy="640080"/>
          </a:xfrm>
          <a:prstGeom prst="ellipse">
            <a:avLst/>
          </a:prstGeom>
          <a:solidFill>
            <a:srgbClr val="F2A900"/>
          </a:solidFill>
          <a:ln w="12700">
            <a:solidFill>
              <a:srgbClr val="F2A900"/>
            </a:solidFill>
            <a:prstDash val="solid"/>
          </a:ln>
        </p:spPr>
      </p:sp>
      <p:sp>
        <p:nvSpPr>
          <p:cNvPr id="20" name="Text 18">
            <a:extLst>
              <a:ext uri="{FF2B5EF4-FFF2-40B4-BE49-F238E27FC236}">
                <a16:creationId xmlns:a16="http://schemas.microsoft.com/office/drawing/2014/main" id="{B7402816-7792-49FC-ADD1-E04B69BCBED0}"/>
              </a:ext>
            </a:extLst>
          </p:cNvPr>
          <p:cNvSpPr>
            <a:spLocks noGrp="1"/>
          </p:cNvSpPr>
          <p:nvPr/>
        </p:nvSpPr>
        <p:spPr>
          <a:xfrm>
            <a:off x="4937760" y="3337560"/>
            <a:ext cx="640080" cy="640080"/>
          </a:xfrm>
          <a:prstGeom prst="rect">
            <a:avLst/>
          </a:prstGeom>
          <a:noFill/>
        </p:spPr>
        <p:txBody>
          <a:bodyPr wrap="square" lIns="0" tIns="0" rIns="0" bIns="0" anchor="ctr"/>
          <a:lstStyle/>
          <a:p>
            <a:pPr marL="0" indent="0" algn="ctr">
              <a:buNone/>
            </a:pPr>
            <a:r>
              <a:rPr sz="2200" b="1">
                <a:solidFill>
                  <a:srgbClr val="1F2A36"/>
                </a:solidFill>
              </a:rPr>
              <a:t>4</a:t>
            </a:r>
            <a:endParaRPr sz="2200"/>
          </a:p>
        </p:txBody>
      </p:sp>
      <p:sp>
        <p:nvSpPr>
          <p:cNvPr id="21" name="Text 19">
            <a:extLst>
              <a:ext uri="{FF2B5EF4-FFF2-40B4-BE49-F238E27FC236}">
                <a16:creationId xmlns:a16="http://schemas.microsoft.com/office/drawing/2014/main" id="{766E7EEB-BB4F-4F44-8BF7-19F5B2DF2103}"/>
              </a:ext>
            </a:extLst>
          </p:cNvPr>
          <p:cNvSpPr>
            <a:spLocks noGrp="1"/>
          </p:cNvSpPr>
          <p:nvPr/>
        </p:nvSpPr>
        <p:spPr>
          <a:xfrm>
            <a:off x="5806440" y="3246120"/>
            <a:ext cx="2697480" cy="365760"/>
          </a:xfrm>
          <a:prstGeom prst="rect">
            <a:avLst/>
          </a:prstGeom>
          <a:noFill/>
        </p:spPr>
        <p:txBody>
          <a:bodyPr wrap="square" lIns="0" tIns="0" rIns="0" bIns="0" anchor="t"/>
          <a:lstStyle/>
          <a:p>
            <a:pPr marL="0" indent="0">
              <a:buNone/>
            </a:pPr>
            <a:r>
              <a:rPr sz="1800" b="1">
                <a:solidFill>
                  <a:srgbClr val="1F2A36"/>
                </a:solidFill>
              </a:rPr>
              <a:t>Warn the driver</a:t>
            </a:r>
            <a:endParaRPr sz="1800"/>
          </a:p>
        </p:txBody>
      </p:sp>
      <p:sp>
        <p:nvSpPr>
          <p:cNvPr id="22" name="Text 20">
            <a:extLst>
              <a:ext uri="{FF2B5EF4-FFF2-40B4-BE49-F238E27FC236}">
                <a16:creationId xmlns:a16="http://schemas.microsoft.com/office/drawing/2014/main" id="{A820BC82-FF18-425E-AF37-BC96FABD0929}"/>
              </a:ext>
            </a:extLst>
          </p:cNvPr>
          <p:cNvSpPr>
            <a:spLocks noGrp="1"/>
          </p:cNvSpPr>
          <p:nvPr/>
        </p:nvSpPr>
        <p:spPr>
          <a:xfrm>
            <a:off x="5806440" y="3639312"/>
            <a:ext cx="2697480" cy="594360"/>
          </a:xfrm>
          <a:prstGeom prst="rect">
            <a:avLst/>
          </a:prstGeom>
          <a:noFill/>
        </p:spPr>
        <p:txBody>
          <a:bodyPr wrap="square" lIns="0" tIns="0" rIns="0" bIns="0" anchor="t"/>
          <a:lstStyle/>
          <a:p>
            <a:pPr marL="0" indent="0">
              <a:buNone/>
            </a:pPr>
            <a:r>
              <a:rPr sz="1400" dirty="0">
                <a:solidFill>
                  <a:srgbClr val="222831"/>
                </a:solidFill>
              </a:rPr>
              <a:t>with a beeping alarm if drowsiness lasts 5 seconds</a:t>
            </a:r>
            <a:endParaRPr sz="1400" dirty="0"/>
          </a:p>
        </p:txBody>
      </p:sp>
      <p:sp>
        <p:nvSpPr>
          <p:cNvPr id="25" name="Slide Number Placeholder 0">
            <a:extLst>
              <a:ext uri="{FF2B5EF4-FFF2-40B4-BE49-F238E27FC236}">
                <a16:creationId xmlns:a16="http://schemas.microsoft.com/office/drawing/2014/main" id="{AAFEF5B3-F89D-4C7D-A94D-2FC739146986}"/>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3</a:t>
            </a:fld>
            <a:endParaRPr/>
          </a:p>
        </p:txBody>
      </p:sp>
    </p:spTree>
    <p:extLst>
      <p:ext uri="{BB962C8B-B14F-4D97-AF65-F5344CB8AC3E}">
        <p14:creationId xmlns:p14="http://schemas.microsoft.com/office/powerpoint/2010/main" val="2137758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A6D2FB5-1715-45FA-9567-15C3638A61B5}"/>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Dataset: UTA-RLDD</a:t>
            </a:r>
            <a:endParaRPr sz="3000"/>
          </a:p>
        </p:txBody>
      </p:sp>
      <p:sp>
        <p:nvSpPr>
          <p:cNvPr id="3" name="Shape 1">
            <a:extLst>
              <a:ext uri="{FF2B5EF4-FFF2-40B4-BE49-F238E27FC236}">
                <a16:creationId xmlns:a16="http://schemas.microsoft.com/office/drawing/2014/main" id="{92CB24EF-C0E4-4ECA-B231-B81EF13012D1}"/>
              </a:ext>
            </a:extLst>
          </p:cNvPr>
          <p:cNvSpPr>
            <a:spLocks noGrp="1"/>
          </p:cNvSpPr>
          <p:nvPr/>
        </p:nvSpPr>
        <p:spPr>
          <a:xfrm>
            <a:off x="457200" y="1188720"/>
            <a:ext cx="2606040" cy="1325880"/>
          </a:xfrm>
          <a:prstGeom prst="roundRect">
            <a:avLst>
              <a:gd name="adj" fmla="val 6897"/>
            </a:avLst>
          </a:prstGeom>
          <a:solidFill>
            <a:srgbClr val="F1F3F5"/>
          </a:solidFill>
          <a:ln w="12700">
            <a:solidFill>
              <a:srgbClr val="F1F3F5"/>
            </a:solidFill>
            <a:prstDash val="solid"/>
          </a:ln>
        </p:spPr>
      </p:sp>
      <p:sp>
        <p:nvSpPr>
          <p:cNvPr id="4" name="Text 2">
            <a:extLst>
              <a:ext uri="{FF2B5EF4-FFF2-40B4-BE49-F238E27FC236}">
                <a16:creationId xmlns:a16="http://schemas.microsoft.com/office/drawing/2014/main" id="{836F77D7-A688-497E-B848-90B3B3D8B78E}"/>
              </a:ext>
            </a:extLst>
          </p:cNvPr>
          <p:cNvSpPr>
            <a:spLocks noGrp="1"/>
          </p:cNvSpPr>
          <p:nvPr/>
        </p:nvSpPr>
        <p:spPr>
          <a:xfrm>
            <a:off x="457200" y="1298448"/>
            <a:ext cx="2606040" cy="685800"/>
          </a:xfrm>
          <a:prstGeom prst="rect">
            <a:avLst/>
          </a:prstGeom>
          <a:noFill/>
        </p:spPr>
        <p:txBody>
          <a:bodyPr wrap="square" lIns="0" tIns="0" rIns="0" bIns="0" anchor="t"/>
          <a:lstStyle/>
          <a:p>
            <a:pPr marL="0" indent="0" algn="ctr">
              <a:buNone/>
            </a:pPr>
            <a:r>
              <a:rPr sz="3600" b="1">
                <a:solidFill>
                  <a:srgbClr val="1F2A36"/>
                </a:solidFill>
              </a:rPr>
              <a:t>60</a:t>
            </a:r>
            <a:endParaRPr sz="3600"/>
          </a:p>
        </p:txBody>
      </p:sp>
      <p:sp>
        <p:nvSpPr>
          <p:cNvPr id="5" name="Text 3">
            <a:extLst>
              <a:ext uri="{FF2B5EF4-FFF2-40B4-BE49-F238E27FC236}">
                <a16:creationId xmlns:a16="http://schemas.microsoft.com/office/drawing/2014/main" id="{CA3F554F-3AD3-458A-BB09-2EFE5F02B864}"/>
              </a:ext>
            </a:extLst>
          </p:cNvPr>
          <p:cNvSpPr>
            <a:spLocks noGrp="1"/>
          </p:cNvSpPr>
          <p:nvPr/>
        </p:nvSpPr>
        <p:spPr>
          <a:xfrm>
            <a:off x="457200" y="2011680"/>
            <a:ext cx="2606040" cy="365760"/>
          </a:xfrm>
          <a:prstGeom prst="rect">
            <a:avLst/>
          </a:prstGeom>
          <a:noFill/>
        </p:spPr>
        <p:txBody>
          <a:bodyPr wrap="square" lIns="0" tIns="0" rIns="0" bIns="0" anchor="t"/>
          <a:lstStyle/>
          <a:p>
            <a:pPr marL="0" indent="0" algn="ctr">
              <a:buNone/>
            </a:pPr>
            <a:r>
              <a:rPr sz="1400">
                <a:solidFill>
                  <a:srgbClr val="5F6B7A"/>
                </a:solidFill>
              </a:rPr>
              <a:t>people recorded</a:t>
            </a:r>
            <a:endParaRPr sz="1400"/>
          </a:p>
        </p:txBody>
      </p:sp>
      <p:sp>
        <p:nvSpPr>
          <p:cNvPr id="6" name="Shape 4">
            <a:extLst>
              <a:ext uri="{FF2B5EF4-FFF2-40B4-BE49-F238E27FC236}">
                <a16:creationId xmlns:a16="http://schemas.microsoft.com/office/drawing/2014/main" id="{86D84B5F-E525-483C-866B-DFFC557A0167}"/>
              </a:ext>
            </a:extLst>
          </p:cNvPr>
          <p:cNvSpPr>
            <a:spLocks noGrp="1"/>
          </p:cNvSpPr>
          <p:nvPr/>
        </p:nvSpPr>
        <p:spPr>
          <a:xfrm>
            <a:off x="3246120" y="1188720"/>
            <a:ext cx="2606040" cy="1325880"/>
          </a:xfrm>
          <a:prstGeom prst="roundRect">
            <a:avLst>
              <a:gd name="adj" fmla="val 6897"/>
            </a:avLst>
          </a:prstGeom>
          <a:solidFill>
            <a:srgbClr val="F1F3F5"/>
          </a:solidFill>
          <a:ln w="12700">
            <a:solidFill>
              <a:srgbClr val="F1F3F5"/>
            </a:solidFill>
            <a:prstDash val="solid"/>
          </a:ln>
        </p:spPr>
      </p:sp>
      <p:sp>
        <p:nvSpPr>
          <p:cNvPr id="7" name="Text 5">
            <a:extLst>
              <a:ext uri="{FF2B5EF4-FFF2-40B4-BE49-F238E27FC236}">
                <a16:creationId xmlns:a16="http://schemas.microsoft.com/office/drawing/2014/main" id="{2DBA44D5-4944-415D-8BF0-B2E5242480DD}"/>
              </a:ext>
            </a:extLst>
          </p:cNvPr>
          <p:cNvSpPr>
            <a:spLocks noGrp="1"/>
          </p:cNvSpPr>
          <p:nvPr/>
        </p:nvSpPr>
        <p:spPr>
          <a:xfrm>
            <a:off x="3246120" y="1298448"/>
            <a:ext cx="2606040" cy="685800"/>
          </a:xfrm>
          <a:prstGeom prst="rect">
            <a:avLst/>
          </a:prstGeom>
          <a:noFill/>
        </p:spPr>
        <p:txBody>
          <a:bodyPr wrap="square" lIns="0" tIns="0" rIns="0" bIns="0" anchor="t"/>
          <a:lstStyle/>
          <a:p>
            <a:pPr marL="0" indent="0" algn="ctr">
              <a:buNone/>
            </a:pPr>
            <a:r>
              <a:rPr sz="3600" b="1">
                <a:solidFill>
                  <a:srgbClr val="1F2A36"/>
                </a:solidFill>
              </a:rPr>
              <a:t>~30 hrs</a:t>
            </a:r>
            <a:endParaRPr sz="3600"/>
          </a:p>
        </p:txBody>
      </p:sp>
      <p:sp>
        <p:nvSpPr>
          <p:cNvPr id="8" name="Text 6">
            <a:extLst>
              <a:ext uri="{FF2B5EF4-FFF2-40B4-BE49-F238E27FC236}">
                <a16:creationId xmlns:a16="http://schemas.microsoft.com/office/drawing/2014/main" id="{91BC097A-0BDD-48DD-B49E-097BA0C88CF2}"/>
              </a:ext>
            </a:extLst>
          </p:cNvPr>
          <p:cNvSpPr>
            <a:spLocks noGrp="1"/>
          </p:cNvSpPr>
          <p:nvPr/>
        </p:nvSpPr>
        <p:spPr>
          <a:xfrm>
            <a:off x="3246120" y="2011680"/>
            <a:ext cx="2606040" cy="365760"/>
          </a:xfrm>
          <a:prstGeom prst="rect">
            <a:avLst/>
          </a:prstGeom>
          <a:noFill/>
        </p:spPr>
        <p:txBody>
          <a:bodyPr wrap="square" lIns="0" tIns="0" rIns="0" bIns="0" anchor="t"/>
          <a:lstStyle/>
          <a:p>
            <a:pPr marL="0" indent="0" algn="ctr">
              <a:buNone/>
            </a:pPr>
            <a:r>
              <a:rPr sz="1400">
                <a:solidFill>
                  <a:srgbClr val="5F6B7A"/>
                </a:solidFill>
              </a:rPr>
              <a:t>of real video</a:t>
            </a:r>
            <a:endParaRPr sz="1400"/>
          </a:p>
        </p:txBody>
      </p:sp>
      <p:sp>
        <p:nvSpPr>
          <p:cNvPr id="9" name="Shape 7">
            <a:extLst>
              <a:ext uri="{FF2B5EF4-FFF2-40B4-BE49-F238E27FC236}">
                <a16:creationId xmlns:a16="http://schemas.microsoft.com/office/drawing/2014/main" id="{A07AB882-82B9-47AA-A3B8-9360C3F4CCB9}"/>
              </a:ext>
            </a:extLst>
          </p:cNvPr>
          <p:cNvSpPr>
            <a:spLocks noGrp="1"/>
          </p:cNvSpPr>
          <p:nvPr/>
        </p:nvSpPr>
        <p:spPr>
          <a:xfrm>
            <a:off x="6035040" y="1188720"/>
            <a:ext cx="2606040" cy="1325880"/>
          </a:xfrm>
          <a:prstGeom prst="roundRect">
            <a:avLst>
              <a:gd name="adj" fmla="val 6897"/>
            </a:avLst>
          </a:prstGeom>
          <a:solidFill>
            <a:srgbClr val="F1F3F5"/>
          </a:solidFill>
          <a:ln w="12700">
            <a:solidFill>
              <a:srgbClr val="F1F3F5"/>
            </a:solidFill>
            <a:prstDash val="solid"/>
          </a:ln>
        </p:spPr>
      </p:sp>
      <p:sp>
        <p:nvSpPr>
          <p:cNvPr id="10" name="Text 8">
            <a:extLst>
              <a:ext uri="{FF2B5EF4-FFF2-40B4-BE49-F238E27FC236}">
                <a16:creationId xmlns:a16="http://schemas.microsoft.com/office/drawing/2014/main" id="{7A544803-6DF3-4CD1-9B2B-98957AB9CC98}"/>
              </a:ext>
            </a:extLst>
          </p:cNvPr>
          <p:cNvSpPr>
            <a:spLocks noGrp="1"/>
          </p:cNvSpPr>
          <p:nvPr/>
        </p:nvSpPr>
        <p:spPr>
          <a:xfrm>
            <a:off x="6035040" y="1298448"/>
            <a:ext cx="2606040" cy="685800"/>
          </a:xfrm>
          <a:prstGeom prst="rect">
            <a:avLst/>
          </a:prstGeom>
          <a:noFill/>
        </p:spPr>
        <p:txBody>
          <a:bodyPr wrap="square" lIns="0" tIns="0" rIns="0" bIns="0" anchor="t"/>
          <a:lstStyle/>
          <a:p>
            <a:pPr marL="0" indent="0" algn="ctr">
              <a:buNone/>
            </a:pPr>
            <a:r>
              <a:rPr sz="3600" b="1">
                <a:solidFill>
                  <a:srgbClr val="1F2A36"/>
                </a:solidFill>
              </a:rPr>
              <a:t>2</a:t>
            </a:r>
            <a:endParaRPr sz="3600"/>
          </a:p>
        </p:txBody>
      </p:sp>
      <p:sp>
        <p:nvSpPr>
          <p:cNvPr id="11" name="Text 9">
            <a:extLst>
              <a:ext uri="{FF2B5EF4-FFF2-40B4-BE49-F238E27FC236}">
                <a16:creationId xmlns:a16="http://schemas.microsoft.com/office/drawing/2014/main" id="{6E3806A3-9574-47C2-AF1C-30F46F37F530}"/>
              </a:ext>
            </a:extLst>
          </p:cNvPr>
          <p:cNvSpPr>
            <a:spLocks noGrp="1"/>
          </p:cNvSpPr>
          <p:nvPr/>
        </p:nvSpPr>
        <p:spPr>
          <a:xfrm>
            <a:off x="6035040" y="2011680"/>
            <a:ext cx="2606040" cy="365760"/>
          </a:xfrm>
          <a:prstGeom prst="rect">
            <a:avLst/>
          </a:prstGeom>
          <a:noFill/>
        </p:spPr>
        <p:txBody>
          <a:bodyPr wrap="square" lIns="0" tIns="0" rIns="0" bIns="0" anchor="t"/>
          <a:lstStyle/>
          <a:p>
            <a:pPr marL="0" indent="0" algn="ctr">
              <a:buNone/>
            </a:pPr>
            <a:r>
              <a:rPr sz="1400">
                <a:solidFill>
                  <a:srgbClr val="5F6B7A"/>
                </a:solidFill>
              </a:rPr>
              <a:t>classes we used</a:t>
            </a:r>
            <a:endParaRPr sz="1400"/>
          </a:p>
        </p:txBody>
      </p:sp>
      <p:sp>
        <p:nvSpPr>
          <p:cNvPr id="12" name="Text 10">
            <a:extLst>
              <a:ext uri="{FF2B5EF4-FFF2-40B4-BE49-F238E27FC236}">
                <a16:creationId xmlns:a16="http://schemas.microsoft.com/office/drawing/2014/main" id="{1EFBE7E6-4C30-4493-96C4-1BEBEC5640AB}"/>
              </a:ext>
            </a:extLst>
          </p:cNvPr>
          <p:cNvSpPr>
            <a:spLocks noGrp="1"/>
          </p:cNvSpPr>
          <p:nvPr/>
        </p:nvSpPr>
        <p:spPr>
          <a:xfrm>
            <a:off x="457200" y="2743200"/>
            <a:ext cx="8229600" cy="1417320"/>
          </a:xfrm>
          <a:prstGeom prst="rect">
            <a:avLst/>
          </a:prstGeom>
          <a:noFill/>
        </p:spPr>
        <p:txBody>
          <a:bodyPr wrap="square" lIns="0" tIns="0" rIns="0" bIns="0" anchor="t"/>
          <a:lstStyle/>
          <a:p>
            <a:pPr marL="342900" indent="-342900">
              <a:spcAft>
                <a:spcPts val="600"/>
              </a:spcAft>
              <a:buSzPct val="100000"/>
              <a:buChar char="•"/>
            </a:pPr>
            <a:r>
              <a:rPr sz="1500">
                <a:solidFill>
                  <a:srgbClr val="222831"/>
                </a:solidFill>
              </a:rPr>
              <a:t>UTA-RLDD includes about 30 hours from 60 participants. Recordings were made at home or university, with cameras positioned to approximate a dashboard view.</a:t>
            </a:r>
            <a:endParaRPr sz="1500"/>
          </a:p>
          <a:p>
            <a:pPr marL="342900" indent="-342900">
              <a:spcAft>
                <a:spcPts val="600"/>
              </a:spcAft>
              <a:buSzPct val="100000"/>
              <a:buChar char="•"/>
            </a:pPr>
            <a:endParaRPr sz="1500"/>
          </a:p>
          <a:p>
            <a:pPr marL="342900" indent="-342900">
              <a:spcAft>
                <a:spcPts val="600"/>
              </a:spcAft>
              <a:buSzPct val="100000"/>
              <a:buChar char="•"/>
            </a:pPr>
            <a:r>
              <a:rPr sz="1500">
                <a:solidFill>
                  <a:srgbClr val="222831"/>
                </a:solidFill>
              </a:rPr>
              <a:t>This project maps Active → Alert and Fatigue → Drowsy; Low Vigilant is excluded. Training split: 64.7% Alert / 35.3% Drowsy; validation and test are separate.</a:t>
            </a:r>
            <a:endParaRPr sz="1500"/>
          </a:p>
        </p:txBody>
      </p:sp>
      <p:sp>
        <p:nvSpPr>
          <p:cNvPr id="13" name="Text 11">
            <a:extLst>
              <a:ext uri="{FF2B5EF4-FFF2-40B4-BE49-F238E27FC236}">
                <a16:creationId xmlns:a16="http://schemas.microsoft.com/office/drawing/2014/main" id="{6C8B18AB-4E67-442D-9446-9E87084521D7}"/>
              </a:ext>
            </a:extLst>
          </p:cNvPr>
          <p:cNvSpPr>
            <a:spLocks noGrp="1"/>
          </p:cNvSpPr>
          <p:nvPr/>
        </p:nvSpPr>
        <p:spPr>
          <a:xfrm>
            <a:off x="457200" y="4297680"/>
            <a:ext cx="8229600" cy="320040"/>
          </a:xfrm>
          <a:prstGeom prst="rect">
            <a:avLst/>
          </a:prstGeom>
          <a:noFill/>
        </p:spPr>
        <p:txBody>
          <a:bodyPr wrap="square" lIns="0" tIns="0" rIns="0" bIns="0" anchor="t"/>
          <a:lstStyle/>
          <a:p>
            <a:pPr marL="0" indent="0">
              <a:buNone/>
            </a:pPr>
            <a:r>
              <a:rPr sz="1400" b="1">
                <a:solidFill>
                  <a:srgbClr val="1F2A36"/>
                </a:solidFill>
              </a:rPr>
              <a:t>Dataset: UTA-RLDD project page and Kaggle</a:t>
            </a:r>
            <a:endParaRPr sz="1400"/>
          </a:p>
        </p:txBody>
      </p:sp>
      <p:sp>
        <p:nvSpPr>
          <p:cNvPr id="25" name="Slide Number Placeholder 0">
            <a:extLst>
              <a:ext uri="{FF2B5EF4-FFF2-40B4-BE49-F238E27FC236}">
                <a16:creationId xmlns:a16="http://schemas.microsoft.com/office/drawing/2014/main" id="{B92A45D8-2108-404A-9DF8-B905AD7596A7}"/>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4</a:t>
            </a:fld>
            <a:endParaRPr/>
          </a:p>
        </p:txBody>
      </p:sp>
    </p:spTree>
    <p:extLst>
      <p:ext uri="{BB962C8B-B14F-4D97-AF65-F5344CB8AC3E}">
        <p14:creationId xmlns:p14="http://schemas.microsoft.com/office/powerpoint/2010/main" val="1452285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A18997B-FCA6-4BE5-832C-9B297ABC7147}"/>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Methodology: How It Works</a:t>
            </a:r>
            <a:endParaRPr sz="3000"/>
          </a:p>
        </p:txBody>
      </p:sp>
      <p:sp>
        <p:nvSpPr>
          <p:cNvPr id="3" name="Shape 1">
            <a:extLst>
              <a:ext uri="{FF2B5EF4-FFF2-40B4-BE49-F238E27FC236}">
                <a16:creationId xmlns:a16="http://schemas.microsoft.com/office/drawing/2014/main" id="{D6150779-0CB5-4DB6-A923-3F935767FBA2}"/>
              </a:ext>
            </a:extLst>
          </p:cNvPr>
          <p:cNvSpPr>
            <a:spLocks noGrp="1"/>
          </p:cNvSpPr>
          <p:nvPr/>
        </p:nvSpPr>
        <p:spPr>
          <a:xfrm>
            <a:off x="457200" y="1508759"/>
            <a:ext cx="1463040" cy="2268369"/>
          </a:xfrm>
          <a:prstGeom prst="roundRect">
            <a:avLst>
              <a:gd name="adj" fmla="val 6250"/>
            </a:avLst>
          </a:prstGeom>
          <a:solidFill>
            <a:srgbClr val="F1F3F5"/>
          </a:solidFill>
          <a:ln w="12700">
            <a:solidFill>
              <a:srgbClr val="F1F3F5"/>
            </a:solidFill>
            <a:prstDash val="solid"/>
          </a:ln>
        </p:spPr>
      </p:sp>
      <p:sp>
        <p:nvSpPr>
          <p:cNvPr id="4" name="Text 2">
            <a:extLst>
              <a:ext uri="{FF2B5EF4-FFF2-40B4-BE49-F238E27FC236}">
                <a16:creationId xmlns:a16="http://schemas.microsoft.com/office/drawing/2014/main" id="{324D9008-370D-425F-94E5-A9345946F405}"/>
              </a:ext>
            </a:extLst>
          </p:cNvPr>
          <p:cNvSpPr>
            <a:spLocks noGrp="1"/>
          </p:cNvSpPr>
          <p:nvPr/>
        </p:nvSpPr>
        <p:spPr>
          <a:xfrm>
            <a:off x="594360" y="1691640"/>
            <a:ext cx="1188720" cy="274320"/>
          </a:xfrm>
          <a:prstGeom prst="rect">
            <a:avLst/>
          </a:prstGeom>
          <a:noFill/>
        </p:spPr>
        <p:txBody>
          <a:bodyPr wrap="square" lIns="0" tIns="0" rIns="0" bIns="0" anchor="t"/>
          <a:lstStyle/>
          <a:p>
            <a:pPr marL="0" indent="0">
              <a:buNone/>
            </a:pPr>
            <a:r>
              <a:rPr sz="1100" b="1">
                <a:solidFill>
                  <a:srgbClr val="5F6B7A"/>
                </a:solidFill>
              </a:rPr>
              <a:t>Step 1</a:t>
            </a:r>
            <a:endParaRPr sz="1100"/>
          </a:p>
        </p:txBody>
      </p:sp>
      <p:sp>
        <p:nvSpPr>
          <p:cNvPr id="5" name="Text 3">
            <a:extLst>
              <a:ext uri="{FF2B5EF4-FFF2-40B4-BE49-F238E27FC236}">
                <a16:creationId xmlns:a16="http://schemas.microsoft.com/office/drawing/2014/main" id="{D01A7EED-842D-4DCD-A0CC-13BDB852B3FB}"/>
              </a:ext>
            </a:extLst>
          </p:cNvPr>
          <p:cNvSpPr>
            <a:spLocks noGrp="1"/>
          </p:cNvSpPr>
          <p:nvPr/>
        </p:nvSpPr>
        <p:spPr>
          <a:xfrm>
            <a:off x="594360" y="1965960"/>
            <a:ext cx="1188720" cy="594360"/>
          </a:xfrm>
          <a:prstGeom prst="rect">
            <a:avLst/>
          </a:prstGeom>
          <a:noFill/>
        </p:spPr>
        <p:txBody>
          <a:bodyPr wrap="square" lIns="0" tIns="0" rIns="0" bIns="0" anchor="t"/>
          <a:lstStyle/>
          <a:p>
            <a:pPr marL="0" indent="0">
              <a:buNone/>
            </a:pPr>
            <a:r>
              <a:rPr sz="1500" b="1">
                <a:solidFill>
                  <a:srgbClr val="1F2A36"/>
                </a:solidFill>
              </a:rPr>
              <a:t>Webcam frame</a:t>
            </a:r>
            <a:endParaRPr sz="1500"/>
          </a:p>
        </p:txBody>
      </p:sp>
      <p:sp>
        <p:nvSpPr>
          <p:cNvPr id="6" name="Text 4">
            <a:extLst>
              <a:ext uri="{FF2B5EF4-FFF2-40B4-BE49-F238E27FC236}">
                <a16:creationId xmlns:a16="http://schemas.microsoft.com/office/drawing/2014/main" id="{CA49AD43-2858-4282-85CF-211BB2513220}"/>
              </a:ext>
            </a:extLst>
          </p:cNvPr>
          <p:cNvSpPr>
            <a:spLocks noGrp="1"/>
          </p:cNvSpPr>
          <p:nvPr/>
        </p:nvSpPr>
        <p:spPr>
          <a:xfrm>
            <a:off x="594360" y="2560320"/>
            <a:ext cx="1188720" cy="868680"/>
          </a:xfrm>
          <a:prstGeom prst="rect">
            <a:avLst/>
          </a:prstGeom>
          <a:noFill/>
        </p:spPr>
        <p:txBody>
          <a:bodyPr wrap="square" lIns="0" tIns="0" rIns="0" bIns="0" anchor="t"/>
          <a:lstStyle/>
          <a:p>
            <a:pPr marL="0" indent="0">
              <a:buNone/>
            </a:pPr>
            <a:r>
              <a:rPr sz="1200">
                <a:solidFill>
                  <a:srgbClr val="222831"/>
                </a:solidFill>
              </a:rPr>
              <a:t>Browser grabs a picture from the camera</a:t>
            </a:r>
            <a:endParaRPr sz="1200"/>
          </a:p>
        </p:txBody>
      </p:sp>
      <p:sp>
        <p:nvSpPr>
          <p:cNvPr id="7" name="Shape 5">
            <a:extLst>
              <a:ext uri="{FF2B5EF4-FFF2-40B4-BE49-F238E27FC236}">
                <a16:creationId xmlns:a16="http://schemas.microsoft.com/office/drawing/2014/main" id="{70F9B1BD-22CD-402D-9B77-0E5E8B76AF3F}"/>
              </a:ext>
            </a:extLst>
          </p:cNvPr>
          <p:cNvSpPr>
            <a:spLocks noGrp="1"/>
          </p:cNvSpPr>
          <p:nvPr/>
        </p:nvSpPr>
        <p:spPr>
          <a:xfrm>
            <a:off x="1947672" y="2377440"/>
            <a:ext cx="173736" cy="274320"/>
          </a:xfrm>
          <a:prstGeom prst="rightArrow">
            <a:avLst/>
          </a:prstGeom>
          <a:solidFill>
            <a:srgbClr val="F2A900"/>
          </a:solidFill>
          <a:ln w="12700">
            <a:solidFill>
              <a:srgbClr val="F2A900"/>
            </a:solidFill>
            <a:prstDash val="solid"/>
          </a:ln>
        </p:spPr>
      </p:sp>
      <p:sp>
        <p:nvSpPr>
          <p:cNvPr id="8" name="Shape 6">
            <a:extLst>
              <a:ext uri="{FF2B5EF4-FFF2-40B4-BE49-F238E27FC236}">
                <a16:creationId xmlns:a16="http://schemas.microsoft.com/office/drawing/2014/main" id="{EED895F0-77E7-4613-843E-DBDDA4AF45AF}"/>
              </a:ext>
            </a:extLst>
          </p:cNvPr>
          <p:cNvSpPr>
            <a:spLocks noGrp="1"/>
          </p:cNvSpPr>
          <p:nvPr/>
        </p:nvSpPr>
        <p:spPr>
          <a:xfrm>
            <a:off x="2148840" y="1508760"/>
            <a:ext cx="1463040" cy="2268368"/>
          </a:xfrm>
          <a:prstGeom prst="roundRect">
            <a:avLst>
              <a:gd name="adj" fmla="val 6250"/>
            </a:avLst>
          </a:prstGeom>
          <a:solidFill>
            <a:srgbClr val="F1F3F5"/>
          </a:solidFill>
          <a:ln w="12700">
            <a:solidFill>
              <a:srgbClr val="F1F3F5"/>
            </a:solidFill>
            <a:prstDash val="solid"/>
          </a:ln>
        </p:spPr>
      </p:sp>
      <p:sp>
        <p:nvSpPr>
          <p:cNvPr id="9" name="Text 7">
            <a:extLst>
              <a:ext uri="{FF2B5EF4-FFF2-40B4-BE49-F238E27FC236}">
                <a16:creationId xmlns:a16="http://schemas.microsoft.com/office/drawing/2014/main" id="{1E164DF5-CEE0-424C-B3CD-BCC08479985D}"/>
              </a:ext>
            </a:extLst>
          </p:cNvPr>
          <p:cNvSpPr>
            <a:spLocks noGrp="1"/>
          </p:cNvSpPr>
          <p:nvPr/>
        </p:nvSpPr>
        <p:spPr>
          <a:xfrm>
            <a:off x="2286000" y="1691640"/>
            <a:ext cx="1188720" cy="274320"/>
          </a:xfrm>
          <a:prstGeom prst="rect">
            <a:avLst/>
          </a:prstGeom>
          <a:noFill/>
        </p:spPr>
        <p:txBody>
          <a:bodyPr wrap="square" lIns="0" tIns="0" rIns="0" bIns="0" anchor="t"/>
          <a:lstStyle/>
          <a:p>
            <a:pPr marL="0" indent="0">
              <a:buNone/>
            </a:pPr>
            <a:r>
              <a:rPr sz="1100" b="1">
                <a:solidFill>
                  <a:srgbClr val="5F6B7A"/>
                </a:solidFill>
              </a:rPr>
              <a:t>Step 2</a:t>
            </a:r>
            <a:endParaRPr sz="1100"/>
          </a:p>
        </p:txBody>
      </p:sp>
      <p:sp>
        <p:nvSpPr>
          <p:cNvPr id="10" name="Text 8">
            <a:extLst>
              <a:ext uri="{FF2B5EF4-FFF2-40B4-BE49-F238E27FC236}">
                <a16:creationId xmlns:a16="http://schemas.microsoft.com/office/drawing/2014/main" id="{8186E4ED-881A-4FA5-95E2-0D1DEBEF6E59}"/>
              </a:ext>
            </a:extLst>
          </p:cNvPr>
          <p:cNvSpPr>
            <a:spLocks noGrp="1"/>
          </p:cNvSpPr>
          <p:nvPr/>
        </p:nvSpPr>
        <p:spPr>
          <a:xfrm>
            <a:off x="2286000" y="1965960"/>
            <a:ext cx="1188720" cy="594360"/>
          </a:xfrm>
          <a:prstGeom prst="rect">
            <a:avLst/>
          </a:prstGeom>
          <a:noFill/>
        </p:spPr>
        <p:txBody>
          <a:bodyPr wrap="square" lIns="0" tIns="0" rIns="0" bIns="0" anchor="t"/>
          <a:lstStyle/>
          <a:p>
            <a:pPr marL="0" indent="0">
              <a:buNone/>
            </a:pPr>
            <a:r>
              <a:rPr sz="1500" b="1">
                <a:solidFill>
                  <a:srgbClr val="1F2A36"/>
                </a:solidFill>
              </a:rPr>
              <a:t>Preprocess + CV</a:t>
            </a:r>
            <a:endParaRPr sz="1500"/>
          </a:p>
        </p:txBody>
      </p:sp>
      <p:sp>
        <p:nvSpPr>
          <p:cNvPr id="11" name="Text 9">
            <a:extLst>
              <a:ext uri="{FF2B5EF4-FFF2-40B4-BE49-F238E27FC236}">
                <a16:creationId xmlns:a16="http://schemas.microsoft.com/office/drawing/2014/main" id="{A8220801-86AD-4D12-9E91-3C6CC878CFFD}"/>
              </a:ext>
            </a:extLst>
          </p:cNvPr>
          <p:cNvSpPr>
            <a:spLocks noGrp="1"/>
          </p:cNvSpPr>
          <p:nvPr/>
        </p:nvSpPr>
        <p:spPr>
          <a:xfrm>
            <a:off x="2286000" y="2560320"/>
            <a:ext cx="1188720" cy="868680"/>
          </a:xfrm>
          <a:prstGeom prst="rect">
            <a:avLst/>
          </a:prstGeom>
          <a:noFill/>
        </p:spPr>
        <p:txBody>
          <a:bodyPr wrap="square" lIns="0" tIns="0" rIns="0" bIns="0" anchor="t"/>
          <a:lstStyle/>
          <a:p>
            <a:pPr marL="0" indent="0">
              <a:buNone/>
            </a:pPr>
            <a:r>
              <a:rPr sz="1200" dirty="0">
                <a:solidFill>
                  <a:srgbClr val="222831"/>
                </a:solidFill>
              </a:rPr>
              <a:t>OpenCV decodes BGR to RGB; HOG resizes to 128×128. YOLO handles its own input sizing.</a:t>
            </a:r>
            <a:endParaRPr sz="1200" dirty="0"/>
          </a:p>
        </p:txBody>
      </p:sp>
      <p:sp>
        <p:nvSpPr>
          <p:cNvPr id="12" name="Shape 10">
            <a:extLst>
              <a:ext uri="{FF2B5EF4-FFF2-40B4-BE49-F238E27FC236}">
                <a16:creationId xmlns:a16="http://schemas.microsoft.com/office/drawing/2014/main" id="{30C7A437-CB7C-4E1D-851B-FAB12FCC3EA2}"/>
              </a:ext>
            </a:extLst>
          </p:cNvPr>
          <p:cNvSpPr>
            <a:spLocks noGrp="1"/>
          </p:cNvSpPr>
          <p:nvPr/>
        </p:nvSpPr>
        <p:spPr>
          <a:xfrm>
            <a:off x="3639312" y="2377440"/>
            <a:ext cx="173736" cy="274320"/>
          </a:xfrm>
          <a:prstGeom prst="rightArrow">
            <a:avLst/>
          </a:prstGeom>
          <a:solidFill>
            <a:srgbClr val="F2A900"/>
          </a:solidFill>
          <a:ln w="12700">
            <a:solidFill>
              <a:srgbClr val="F2A900"/>
            </a:solidFill>
            <a:prstDash val="solid"/>
          </a:ln>
        </p:spPr>
      </p:sp>
      <p:sp>
        <p:nvSpPr>
          <p:cNvPr id="13" name="Shape 11">
            <a:extLst>
              <a:ext uri="{FF2B5EF4-FFF2-40B4-BE49-F238E27FC236}">
                <a16:creationId xmlns:a16="http://schemas.microsoft.com/office/drawing/2014/main" id="{9F32B286-3A0F-4326-A048-A95D99AD14FB}"/>
              </a:ext>
            </a:extLst>
          </p:cNvPr>
          <p:cNvSpPr>
            <a:spLocks noGrp="1"/>
          </p:cNvSpPr>
          <p:nvPr/>
        </p:nvSpPr>
        <p:spPr>
          <a:xfrm>
            <a:off x="3840480" y="1508760"/>
            <a:ext cx="1463040" cy="2268368"/>
          </a:xfrm>
          <a:prstGeom prst="roundRect">
            <a:avLst>
              <a:gd name="adj" fmla="val 6250"/>
            </a:avLst>
          </a:prstGeom>
          <a:solidFill>
            <a:srgbClr val="F1F3F5"/>
          </a:solidFill>
          <a:ln w="12700">
            <a:solidFill>
              <a:srgbClr val="F1F3F5"/>
            </a:solidFill>
            <a:prstDash val="solid"/>
          </a:ln>
        </p:spPr>
      </p:sp>
      <p:sp>
        <p:nvSpPr>
          <p:cNvPr id="14" name="Text 12">
            <a:extLst>
              <a:ext uri="{FF2B5EF4-FFF2-40B4-BE49-F238E27FC236}">
                <a16:creationId xmlns:a16="http://schemas.microsoft.com/office/drawing/2014/main" id="{0C009E5E-3348-4589-ACC4-5FB27A881734}"/>
              </a:ext>
            </a:extLst>
          </p:cNvPr>
          <p:cNvSpPr>
            <a:spLocks noGrp="1"/>
          </p:cNvSpPr>
          <p:nvPr/>
        </p:nvSpPr>
        <p:spPr>
          <a:xfrm>
            <a:off x="3977640" y="1691640"/>
            <a:ext cx="1188720" cy="274320"/>
          </a:xfrm>
          <a:prstGeom prst="rect">
            <a:avLst/>
          </a:prstGeom>
          <a:noFill/>
        </p:spPr>
        <p:txBody>
          <a:bodyPr wrap="square" lIns="0" tIns="0" rIns="0" bIns="0" anchor="t"/>
          <a:lstStyle/>
          <a:p>
            <a:pPr marL="0" indent="0">
              <a:buNone/>
            </a:pPr>
            <a:r>
              <a:rPr sz="1100" b="1">
                <a:solidFill>
                  <a:srgbClr val="5F6B7A"/>
                </a:solidFill>
              </a:rPr>
              <a:t>Step 3</a:t>
            </a:r>
            <a:endParaRPr sz="1100"/>
          </a:p>
        </p:txBody>
      </p:sp>
      <p:sp>
        <p:nvSpPr>
          <p:cNvPr id="15" name="Text 13">
            <a:extLst>
              <a:ext uri="{FF2B5EF4-FFF2-40B4-BE49-F238E27FC236}">
                <a16:creationId xmlns:a16="http://schemas.microsoft.com/office/drawing/2014/main" id="{188830AF-CF6A-42A9-9E06-0D209F0FD089}"/>
              </a:ext>
            </a:extLst>
          </p:cNvPr>
          <p:cNvSpPr>
            <a:spLocks noGrp="1"/>
          </p:cNvSpPr>
          <p:nvPr/>
        </p:nvSpPr>
        <p:spPr>
          <a:xfrm>
            <a:off x="3977640" y="1965960"/>
            <a:ext cx="1188720" cy="594360"/>
          </a:xfrm>
          <a:prstGeom prst="rect">
            <a:avLst/>
          </a:prstGeom>
          <a:noFill/>
        </p:spPr>
        <p:txBody>
          <a:bodyPr wrap="square" lIns="0" tIns="0" rIns="0" bIns="0" anchor="t"/>
          <a:lstStyle/>
          <a:p>
            <a:pPr marL="0" indent="0">
              <a:buNone/>
            </a:pPr>
            <a:r>
              <a:rPr sz="1500" b="1">
                <a:solidFill>
                  <a:srgbClr val="1F2A36"/>
                </a:solidFill>
              </a:rPr>
              <a:t>YOLOv8 classifier</a:t>
            </a:r>
            <a:endParaRPr sz="1500"/>
          </a:p>
        </p:txBody>
      </p:sp>
      <p:sp>
        <p:nvSpPr>
          <p:cNvPr id="16" name="Text 14">
            <a:extLst>
              <a:ext uri="{FF2B5EF4-FFF2-40B4-BE49-F238E27FC236}">
                <a16:creationId xmlns:a16="http://schemas.microsoft.com/office/drawing/2014/main" id="{AC2B8664-298D-4A99-BE03-0637A1A3489B}"/>
              </a:ext>
            </a:extLst>
          </p:cNvPr>
          <p:cNvSpPr>
            <a:spLocks noGrp="1"/>
          </p:cNvSpPr>
          <p:nvPr/>
        </p:nvSpPr>
        <p:spPr>
          <a:xfrm>
            <a:off x="3977640" y="2560320"/>
            <a:ext cx="1188720" cy="868680"/>
          </a:xfrm>
          <a:prstGeom prst="rect">
            <a:avLst/>
          </a:prstGeom>
          <a:noFill/>
        </p:spPr>
        <p:txBody>
          <a:bodyPr wrap="square" lIns="0" tIns="0" rIns="0" bIns="0" anchor="t"/>
          <a:lstStyle/>
          <a:p>
            <a:pPr marL="0" indent="0">
              <a:buNone/>
            </a:pPr>
            <a:r>
              <a:rPr sz="1200">
                <a:solidFill>
                  <a:srgbClr val="222831"/>
                </a:solidFill>
              </a:rPr>
              <a:t>Gives a probability of Alert vs Drowsy</a:t>
            </a:r>
            <a:endParaRPr sz="1200"/>
          </a:p>
        </p:txBody>
      </p:sp>
      <p:sp>
        <p:nvSpPr>
          <p:cNvPr id="17" name="Shape 15">
            <a:extLst>
              <a:ext uri="{FF2B5EF4-FFF2-40B4-BE49-F238E27FC236}">
                <a16:creationId xmlns:a16="http://schemas.microsoft.com/office/drawing/2014/main" id="{7F68AE3D-1A9E-4F58-A967-DA1AEF59E960}"/>
              </a:ext>
            </a:extLst>
          </p:cNvPr>
          <p:cNvSpPr>
            <a:spLocks noGrp="1"/>
          </p:cNvSpPr>
          <p:nvPr/>
        </p:nvSpPr>
        <p:spPr>
          <a:xfrm>
            <a:off x="5330952" y="2377440"/>
            <a:ext cx="173736" cy="274320"/>
          </a:xfrm>
          <a:prstGeom prst="rightArrow">
            <a:avLst/>
          </a:prstGeom>
          <a:solidFill>
            <a:srgbClr val="F2A900"/>
          </a:solidFill>
          <a:ln w="12700">
            <a:solidFill>
              <a:srgbClr val="F2A900"/>
            </a:solidFill>
            <a:prstDash val="solid"/>
          </a:ln>
        </p:spPr>
      </p:sp>
      <p:sp>
        <p:nvSpPr>
          <p:cNvPr id="18" name="Shape 16">
            <a:extLst>
              <a:ext uri="{FF2B5EF4-FFF2-40B4-BE49-F238E27FC236}">
                <a16:creationId xmlns:a16="http://schemas.microsoft.com/office/drawing/2014/main" id="{C05C48E7-E6D5-4EDB-BCB6-E7B74E06E636}"/>
              </a:ext>
            </a:extLst>
          </p:cNvPr>
          <p:cNvSpPr>
            <a:spLocks noGrp="1"/>
          </p:cNvSpPr>
          <p:nvPr/>
        </p:nvSpPr>
        <p:spPr>
          <a:xfrm>
            <a:off x="5532120" y="1508759"/>
            <a:ext cx="1463040" cy="2268367"/>
          </a:xfrm>
          <a:prstGeom prst="roundRect">
            <a:avLst>
              <a:gd name="adj" fmla="val 6250"/>
            </a:avLst>
          </a:prstGeom>
          <a:solidFill>
            <a:srgbClr val="F1F3F5"/>
          </a:solidFill>
          <a:ln w="12700">
            <a:solidFill>
              <a:srgbClr val="F1F3F5"/>
            </a:solidFill>
            <a:prstDash val="solid"/>
          </a:ln>
        </p:spPr>
      </p:sp>
      <p:sp>
        <p:nvSpPr>
          <p:cNvPr id="19" name="Text 17">
            <a:extLst>
              <a:ext uri="{FF2B5EF4-FFF2-40B4-BE49-F238E27FC236}">
                <a16:creationId xmlns:a16="http://schemas.microsoft.com/office/drawing/2014/main" id="{CE4A9620-678E-4DA4-910B-AE8F58F91221}"/>
              </a:ext>
            </a:extLst>
          </p:cNvPr>
          <p:cNvSpPr>
            <a:spLocks noGrp="1"/>
          </p:cNvSpPr>
          <p:nvPr/>
        </p:nvSpPr>
        <p:spPr>
          <a:xfrm>
            <a:off x="5669280" y="1691640"/>
            <a:ext cx="1188720" cy="274320"/>
          </a:xfrm>
          <a:prstGeom prst="rect">
            <a:avLst/>
          </a:prstGeom>
          <a:noFill/>
        </p:spPr>
        <p:txBody>
          <a:bodyPr wrap="square" lIns="0" tIns="0" rIns="0" bIns="0" anchor="t"/>
          <a:lstStyle/>
          <a:p>
            <a:pPr marL="0" indent="0">
              <a:buNone/>
            </a:pPr>
            <a:r>
              <a:rPr sz="1100" b="1">
                <a:solidFill>
                  <a:srgbClr val="5F6B7A"/>
                </a:solidFill>
              </a:rPr>
              <a:t>Step 4</a:t>
            </a:r>
            <a:endParaRPr sz="1100"/>
          </a:p>
        </p:txBody>
      </p:sp>
      <p:sp>
        <p:nvSpPr>
          <p:cNvPr id="20" name="Text 18">
            <a:extLst>
              <a:ext uri="{FF2B5EF4-FFF2-40B4-BE49-F238E27FC236}">
                <a16:creationId xmlns:a16="http://schemas.microsoft.com/office/drawing/2014/main" id="{D4F13C36-2F52-4F1D-A93F-525547A2D779}"/>
              </a:ext>
            </a:extLst>
          </p:cNvPr>
          <p:cNvSpPr>
            <a:spLocks noGrp="1"/>
          </p:cNvSpPr>
          <p:nvPr/>
        </p:nvSpPr>
        <p:spPr>
          <a:xfrm>
            <a:off x="5669280" y="1965960"/>
            <a:ext cx="1188720" cy="594360"/>
          </a:xfrm>
          <a:prstGeom prst="rect">
            <a:avLst/>
          </a:prstGeom>
          <a:noFill/>
        </p:spPr>
        <p:txBody>
          <a:bodyPr wrap="square" lIns="0" tIns="0" rIns="0" bIns="0" anchor="t"/>
          <a:lstStyle/>
          <a:p>
            <a:pPr marL="0" indent="0">
              <a:buNone/>
            </a:pPr>
            <a:r>
              <a:rPr sz="1500" b="1">
                <a:solidFill>
                  <a:srgbClr val="1F2A36"/>
                </a:solidFill>
              </a:rPr>
              <a:t>Check recent frames</a:t>
            </a:r>
            <a:endParaRPr sz="1500"/>
          </a:p>
        </p:txBody>
      </p:sp>
      <p:sp>
        <p:nvSpPr>
          <p:cNvPr id="21" name="Text 19">
            <a:extLst>
              <a:ext uri="{FF2B5EF4-FFF2-40B4-BE49-F238E27FC236}">
                <a16:creationId xmlns:a16="http://schemas.microsoft.com/office/drawing/2014/main" id="{43D47A2F-755A-460B-8A57-57087FBD31D9}"/>
              </a:ext>
            </a:extLst>
          </p:cNvPr>
          <p:cNvSpPr>
            <a:spLocks noGrp="1"/>
          </p:cNvSpPr>
          <p:nvPr/>
        </p:nvSpPr>
        <p:spPr>
          <a:xfrm>
            <a:off x="5669280" y="2560320"/>
            <a:ext cx="1188720" cy="868680"/>
          </a:xfrm>
          <a:prstGeom prst="rect">
            <a:avLst/>
          </a:prstGeom>
          <a:noFill/>
        </p:spPr>
        <p:txBody>
          <a:bodyPr wrap="square" lIns="0" tIns="0" rIns="0" bIns="0" anchor="t"/>
          <a:lstStyle/>
          <a:p>
            <a:pPr marL="0" indent="0">
              <a:buNone/>
            </a:pPr>
            <a:r>
              <a:rPr sz="1200">
                <a:solidFill>
                  <a:srgbClr val="222831"/>
                </a:solidFill>
              </a:rPr>
              <a:t>Look at the last 10 results, not just one</a:t>
            </a:r>
            <a:endParaRPr sz="1200"/>
          </a:p>
        </p:txBody>
      </p:sp>
      <p:sp>
        <p:nvSpPr>
          <p:cNvPr id="22" name="Shape 20">
            <a:extLst>
              <a:ext uri="{FF2B5EF4-FFF2-40B4-BE49-F238E27FC236}">
                <a16:creationId xmlns:a16="http://schemas.microsoft.com/office/drawing/2014/main" id="{B5153317-E052-4F8D-AFB5-5F2F0F870BE6}"/>
              </a:ext>
            </a:extLst>
          </p:cNvPr>
          <p:cNvSpPr>
            <a:spLocks noGrp="1"/>
          </p:cNvSpPr>
          <p:nvPr/>
        </p:nvSpPr>
        <p:spPr>
          <a:xfrm>
            <a:off x="7022592" y="2377440"/>
            <a:ext cx="173736" cy="274320"/>
          </a:xfrm>
          <a:prstGeom prst="rightArrow">
            <a:avLst/>
          </a:prstGeom>
          <a:solidFill>
            <a:srgbClr val="F2A900"/>
          </a:solidFill>
          <a:ln w="12700">
            <a:solidFill>
              <a:srgbClr val="F2A900"/>
            </a:solidFill>
            <a:prstDash val="solid"/>
          </a:ln>
        </p:spPr>
      </p:sp>
      <p:sp>
        <p:nvSpPr>
          <p:cNvPr id="23" name="Shape 21">
            <a:extLst>
              <a:ext uri="{FF2B5EF4-FFF2-40B4-BE49-F238E27FC236}">
                <a16:creationId xmlns:a16="http://schemas.microsoft.com/office/drawing/2014/main" id="{901F0C10-14CD-42CF-8AED-393B2436CA6C}"/>
              </a:ext>
            </a:extLst>
          </p:cNvPr>
          <p:cNvSpPr>
            <a:spLocks noGrp="1"/>
          </p:cNvSpPr>
          <p:nvPr/>
        </p:nvSpPr>
        <p:spPr>
          <a:xfrm>
            <a:off x="7223760" y="1508760"/>
            <a:ext cx="1463040" cy="2268366"/>
          </a:xfrm>
          <a:prstGeom prst="roundRect">
            <a:avLst>
              <a:gd name="adj" fmla="val 6250"/>
            </a:avLst>
          </a:prstGeom>
          <a:solidFill>
            <a:srgbClr val="1F2A36"/>
          </a:solidFill>
          <a:ln w="12700">
            <a:solidFill>
              <a:srgbClr val="1F2A36"/>
            </a:solidFill>
            <a:prstDash val="solid"/>
          </a:ln>
        </p:spPr>
      </p:sp>
      <p:sp>
        <p:nvSpPr>
          <p:cNvPr id="24" name="Text 22">
            <a:extLst>
              <a:ext uri="{FF2B5EF4-FFF2-40B4-BE49-F238E27FC236}">
                <a16:creationId xmlns:a16="http://schemas.microsoft.com/office/drawing/2014/main" id="{322F3E6D-FABC-442A-A850-7536322C5CC4}"/>
              </a:ext>
            </a:extLst>
          </p:cNvPr>
          <p:cNvSpPr>
            <a:spLocks noGrp="1"/>
          </p:cNvSpPr>
          <p:nvPr/>
        </p:nvSpPr>
        <p:spPr>
          <a:xfrm>
            <a:off x="7360920" y="1691640"/>
            <a:ext cx="1188720" cy="274320"/>
          </a:xfrm>
          <a:prstGeom prst="rect">
            <a:avLst/>
          </a:prstGeom>
          <a:noFill/>
        </p:spPr>
        <p:txBody>
          <a:bodyPr wrap="square" lIns="0" tIns="0" rIns="0" bIns="0" anchor="t"/>
          <a:lstStyle/>
          <a:p>
            <a:pPr marL="0" indent="0">
              <a:buNone/>
            </a:pPr>
            <a:r>
              <a:rPr sz="1100" b="1">
                <a:solidFill>
                  <a:srgbClr val="F2A900"/>
                </a:solidFill>
              </a:rPr>
              <a:t>Step 5</a:t>
            </a:r>
            <a:endParaRPr sz="1100"/>
          </a:p>
        </p:txBody>
      </p:sp>
      <p:sp>
        <p:nvSpPr>
          <p:cNvPr id="25" name="Text 23">
            <a:extLst>
              <a:ext uri="{FF2B5EF4-FFF2-40B4-BE49-F238E27FC236}">
                <a16:creationId xmlns:a16="http://schemas.microsoft.com/office/drawing/2014/main" id="{DF60C6B6-165D-481C-979E-A2B82D15774D}"/>
              </a:ext>
            </a:extLst>
          </p:cNvPr>
          <p:cNvSpPr>
            <a:spLocks noGrp="1"/>
          </p:cNvSpPr>
          <p:nvPr/>
        </p:nvSpPr>
        <p:spPr>
          <a:xfrm>
            <a:off x="7360920" y="1965960"/>
            <a:ext cx="1188720" cy="594360"/>
          </a:xfrm>
          <a:prstGeom prst="rect">
            <a:avLst/>
          </a:prstGeom>
          <a:noFill/>
        </p:spPr>
        <p:txBody>
          <a:bodyPr wrap="square" lIns="0" tIns="0" rIns="0" bIns="0" anchor="t"/>
          <a:lstStyle/>
          <a:p>
            <a:pPr marL="0" indent="0">
              <a:buNone/>
            </a:pPr>
            <a:r>
              <a:rPr sz="1500" b="1">
                <a:solidFill>
                  <a:srgbClr val="FFFFFF"/>
                </a:solidFill>
              </a:rPr>
              <a:t>Alert driver</a:t>
            </a:r>
            <a:endParaRPr sz="1500"/>
          </a:p>
        </p:txBody>
      </p:sp>
      <p:sp>
        <p:nvSpPr>
          <p:cNvPr id="26" name="Text 24">
            <a:extLst>
              <a:ext uri="{FF2B5EF4-FFF2-40B4-BE49-F238E27FC236}">
                <a16:creationId xmlns:a16="http://schemas.microsoft.com/office/drawing/2014/main" id="{02096081-4430-43AD-BB37-DDE8F01C9C9F}"/>
              </a:ext>
            </a:extLst>
          </p:cNvPr>
          <p:cNvSpPr>
            <a:spLocks noGrp="1"/>
          </p:cNvSpPr>
          <p:nvPr/>
        </p:nvSpPr>
        <p:spPr>
          <a:xfrm>
            <a:off x="7360920" y="2560320"/>
            <a:ext cx="1188720" cy="868680"/>
          </a:xfrm>
          <a:prstGeom prst="rect">
            <a:avLst/>
          </a:prstGeom>
          <a:noFill/>
        </p:spPr>
        <p:txBody>
          <a:bodyPr wrap="square" lIns="0" tIns="0" rIns="0" bIns="0" anchor="t"/>
          <a:lstStyle/>
          <a:p>
            <a:pPr marL="0" indent="0">
              <a:buNone/>
            </a:pPr>
            <a:r>
              <a:rPr sz="1200">
                <a:solidFill>
                  <a:srgbClr val="D5DBE1"/>
                </a:solidFill>
              </a:rPr>
              <a:t>Show status and beep if drowsy for 5 s</a:t>
            </a:r>
            <a:endParaRPr sz="1200"/>
          </a:p>
        </p:txBody>
      </p:sp>
      <p:sp>
        <p:nvSpPr>
          <p:cNvPr id="27" name="Text 25">
            <a:extLst>
              <a:ext uri="{FF2B5EF4-FFF2-40B4-BE49-F238E27FC236}">
                <a16:creationId xmlns:a16="http://schemas.microsoft.com/office/drawing/2014/main" id="{D81263F2-C964-4059-9B1B-C46894A3C171}"/>
              </a:ext>
            </a:extLst>
          </p:cNvPr>
          <p:cNvSpPr>
            <a:spLocks noGrp="1"/>
          </p:cNvSpPr>
          <p:nvPr/>
        </p:nvSpPr>
        <p:spPr>
          <a:xfrm>
            <a:off x="457200" y="4023360"/>
            <a:ext cx="8229600" cy="548640"/>
          </a:xfrm>
          <a:prstGeom prst="rect">
            <a:avLst/>
          </a:prstGeom>
          <a:noFill/>
        </p:spPr>
        <p:txBody>
          <a:bodyPr wrap="square" lIns="0" tIns="0" rIns="0" bIns="0" anchor="t"/>
          <a:lstStyle/>
          <a:p>
            <a:pPr marL="0" indent="0">
              <a:buNone/>
            </a:pPr>
            <a:r>
              <a:rPr sz="1300" i="1" dirty="0">
                <a:solidFill>
                  <a:srgbClr val="5F6B7A"/>
                </a:solidFill>
              </a:rPr>
              <a:t>HOG, Sobel and morphology use the current frame; optical flow also needs the previous frame. These CV values are returned as metadata and do not change the YOLO class decision.</a:t>
            </a:r>
            <a:endParaRPr sz="1300" dirty="0"/>
          </a:p>
        </p:txBody>
      </p:sp>
      <p:sp>
        <p:nvSpPr>
          <p:cNvPr id="28" name="Slide Number Placeholder 0">
            <a:extLst>
              <a:ext uri="{FF2B5EF4-FFF2-40B4-BE49-F238E27FC236}">
                <a16:creationId xmlns:a16="http://schemas.microsoft.com/office/drawing/2014/main" id="{295F1DD7-FD71-421F-A5F6-81F5F906B727}"/>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5</a:t>
            </a:fld>
            <a:endParaRPr/>
          </a:p>
        </p:txBody>
      </p:sp>
    </p:spTree>
    <p:extLst>
      <p:ext uri="{BB962C8B-B14F-4D97-AF65-F5344CB8AC3E}">
        <p14:creationId xmlns:p14="http://schemas.microsoft.com/office/powerpoint/2010/main" val="1577207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F858408-09C3-43D5-B060-E0E5CC3566D6}"/>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Computer Vision Features (OpenCV)</a:t>
            </a:r>
            <a:endParaRPr sz="3000"/>
          </a:p>
        </p:txBody>
      </p:sp>
      <p:sp>
        <p:nvSpPr>
          <p:cNvPr id="3" name="Shape 1">
            <a:extLst>
              <a:ext uri="{FF2B5EF4-FFF2-40B4-BE49-F238E27FC236}">
                <a16:creationId xmlns:a16="http://schemas.microsoft.com/office/drawing/2014/main" id="{D5639BAF-7FB3-48F9-9DC3-743F35BF5A75}"/>
              </a:ext>
            </a:extLst>
          </p:cNvPr>
          <p:cNvSpPr>
            <a:spLocks noGrp="1"/>
          </p:cNvSpPr>
          <p:nvPr/>
        </p:nvSpPr>
        <p:spPr>
          <a:xfrm>
            <a:off x="457200" y="1143000"/>
            <a:ext cx="1920240" cy="3063240"/>
          </a:xfrm>
          <a:prstGeom prst="roundRect">
            <a:avLst>
              <a:gd name="adj" fmla="val 4762"/>
            </a:avLst>
          </a:prstGeom>
          <a:solidFill>
            <a:srgbClr val="F1F3F5"/>
          </a:solidFill>
          <a:ln w="12700">
            <a:solidFill>
              <a:srgbClr val="F1F3F5"/>
            </a:solidFill>
            <a:prstDash val="solid"/>
          </a:ln>
        </p:spPr>
      </p:sp>
      <p:sp>
        <p:nvSpPr>
          <p:cNvPr id="4" name="Text 2">
            <a:extLst>
              <a:ext uri="{FF2B5EF4-FFF2-40B4-BE49-F238E27FC236}">
                <a16:creationId xmlns:a16="http://schemas.microsoft.com/office/drawing/2014/main" id="{CB34F0A7-9E14-423C-9089-6B8294A3FC8C}"/>
              </a:ext>
            </a:extLst>
          </p:cNvPr>
          <p:cNvSpPr>
            <a:spLocks noGrp="1"/>
          </p:cNvSpPr>
          <p:nvPr/>
        </p:nvSpPr>
        <p:spPr>
          <a:xfrm>
            <a:off x="594360" y="1280160"/>
            <a:ext cx="1645920" cy="365760"/>
          </a:xfrm>
          <a:prstGeom prst="rect">
            <a:avLst/>
          </a:prstGeom>
          <a:noFill/>
        </p:spPr>
        <p:txBody>
          <a:bodyPr wrap="square" lIns="0" tIns="0" rIns="0" bIns="0" anchor="t"/>
          <a:lstStyle/>
          <a:p>
            <a:pPr marL="0" indent="0">
              <a:buNone/>
            </a:pPr>
            <a:r>
              <a:rPr sz="1800" b="1">
                <a:solidFill>
                  <a:srgbClr val="1F2A36"/>
                </a:solidFill>
              </a:rPr>
              <a:t>HOG</a:t>
            </a:r>
            <a:endParaRPr sz="1800"/>
          </a:p>
        </p:txBody>
      </p:sp>
      <p:sp>
        <p:nvSpPr>
          <p:cNvPr id="5" name="Text 3">
            <a:extLst>
              <a:ext uri="{FF2B5EF4-FFF2-40B4-BE49-F238E27FC236}">
                <a16:creationId xmlns:a16="http://schemas.microsoft.com/office/drawing/2014/main" id="{5BA46F10-32D8-4214-90F9-CB9CCD6902A2}"/>
              </a:ext>
            </a:extLst>
          </p:cNvPr>
          <p:cNvSpPr>
            <a:spLocks noGrp="1"/>
          </p:cNvSpPr>
          <p:nvPr/>
        </p:nvSpPr>
        <p:spPr>
          <a:xfrm>
            <a:off x="594360" y="1645920"/>
            <a:ext cx="1645920" cy="274320"/>
          </a:xfrm>
          <a:prstGeom prst="rect">
            <a:avLst/>
          </a:prstGeom>
          <a:noFill/>
        </p:spPr>
        <p:txBody>
          <a:bodyPr wrap="square" lIns="0" tIns="0" rIns="0" bIns="0" anchor="t"/>
          <a:lstStyle/>
          <a:p>
            <a:pPr marL="0" indent="0">
              <a:buNone/>
            </a:pPr>
            <a:r>
              <a:rPr sz="1100" b="1">
                <a:solidFill>
                  <a:srgbClr val="E67E22"/>
                </a:solidFill>
              </a:rPr>
              <a:t>Oriented gradients</a:t>
            </a:r>
            <a:endParaRPr sz="1100"/>
          </a:p>
        </p:txBody>
      </p:sp>
      <p:sp>
        <p:nvSpPr>
          <p:cNvPr id="6" name="Text 4">
            <a:extLst>
              <a:ext uri="{FF2B5EF4-FFF2-40B4-BE49-F238E27FC236}">
                <a16:creationId xmlns:a16="http://schemas.microsoft.com/office/drawing/2014/main" id="{1D559414-C8A1-46CA-AE8C-15E2E0DA5043}"/>
              </a:ext>
            </a:extLst>
          </p:cNvPr>
          <p:cNvSpPr>
            <a:spLocks noGrp="1"/>
          </p:cNvSpPr>
          <p:nvPr/>
        </p:nvSpPr>
        <p:spPr>
          <a:xfrm>
            <a:off x="594360" y="2011680"/>
            <a:ext cx="1645920" cy="1417320"/>
          </a:xfrm>
          <a:prstGeom prst="rect">
            <a:avLst/>
          </a:prstGeom>
          <a:noFill/>
        </p:spPr>
        <p:txBody>
          <a:bodyPr wrap="square" lIns="0" tIns="0" rIns="0" bIns="0" anchor="t"/>
          <a:lstStyle/>
          <a:p>
            <a:pPr marL="0" indent="0">
              <a:buNone/>
            </a:pPr>
            <a:r>
              <a:rPr sz="1200">
                <a:solidFill>
                  <a:srgbClr val="222831"/>
                </a:solidFill>
              </a:rPr>
              <a:t>Computes edge-orientation patterns over the full input frame (no face crop).</a:t>
            </a:r>
            <a:endParaRPr sz="1200"/>
          </a:p>
        </p:txBody>
      </p:sp>
      <p:sp>
        <p:nvSpPr>
          <p:cNvPr id="7" name="Shape 5">
            <a:extLst>
              <a:ext uri="{FF2B5EF4-FFF2-40B4-BE49-F238E27FC236}">
                <a16:creationId xmlns:a16="http://schemas.microsoft.com/office/drawing/2014/main" id="{ED05A542-860F-4C4C-A2DD-0C19BE28F5F4}"/>
              </a:ext>
            </a:extLst>
          </p:cNvPr>
          <p:cNvSpPr>
            <a:spLocks noGrp="1"/>
          </p:cNvSpPr>
          <p:nvPr/>
        </p:nvSpPr>
        <p:spPr>
          <a:xfrm>
            <a:off x="566928" y="3520440"/>
            <a:ext cx="1700784" cy="548640"/>
          </a:xfrm>
          <a:prstGeom prst="roundRect">
            <a:avLst>
              <a:gd name="adj" fmla="val 10000"/>
            </a:avLst>
          </a:prstGeom>
          <a:solidFill>
            <a:srgbClr val="FFFFFF"/>
          </a:solidFill>
          <a:ln w="9525">
            <a:solidFill>
              <a:srgbClr val="D5DBE1"/>
            </a:solidFill>
            <a:prstDash val="solid"/>
          </a:ln>
        </p:spPr>
      </p:sp>
      <p:sp>
        <p:nvSpPr>
          <p:cNvPr id="8" name="Text 6">
            <a:extLst>
              <a:ext uri="{FF2B5EF4-FFF2-40B4-BE49-F238E27FC236}">
                <a16:creationId xmlns:a16="http://schemas.microsoft.com/office/drawing/2014/main" id="{8B376914-04D1-48BB-9FB4-544E16A3D88C}"/>
              </a:ext>
            </a:extLst>
          </p:cNvPr>
          <p:cNvSpPr>
            <a:spLocks noGrp="1"/>
          </p:cNvSpPr>
          <p:nvPr/>
        </p:nvSpPr>
        <p:spPr>
          <a:xfrm>
            <a:off x="658368" y="3520440"/>
            <a:ext cx="1517904" cy="548640"/>
          </a:xfrm>
          <a:prstGeom prst="rect">
            <a:avLst/>
          </a:prstGeom>
          <a:noFill/>
        </p:spPr>
        <p:txBody>
          <a:bodyPr wrap="square" lIns="0" tIns="0" rIns="0" bIns="0" anchor="ctr"/>
          <a:lstStyle/>
          <a:p>
            <a:pPr marL="0" indent="0">
              <a:buNone/>
            </a:pPr>
            <a:r>
              <a:rPr sz="1100" b="1">
                <a:solidFill>
                  <a:srgbClr val="1F2A36"/>
                </a:solidFill>
              </a:rPr>
              <a:t>Output: </a:t>
            </a:r>
            <a:r>
              <a:rPr sz="1100">
                <a:solidFill>
                  <a:srgbClr val="222831"/>
                </a:solidFill>
              </a:rPr>
              <a:t>8,100-value feature vector</a:t>
            </a:r>
            <a:endParaRPr sz="1100"/>
          </a:p>
        </p:txBody>
      </p:sp>
      <p:sp>
        <p:nvSpPr>
          <p:cNvPr id="9" name="Shape 7">
            <a:extLst>
              <a:ext uri="{FF2B5EF4-FFF2-40B4-BE49-F238E27FC236}">
                <a16:creationId xmlns:a16="http://schemas.microsoft.com/office/drawing/2014/main" id="{778B6D6F-4732-4175-90E9-564FE47146A0}"/>
              </a:ext>
            </a:extLst>
          </p:cNvPr>
          <p:cNvSpPr>
            <a:spLocks noGrp="1"/>
          </p:cNvSpPr>
          <p:nvPr/>
        </p:nvSpPr>
        <p:spPr>
          <a:xfrm>
            <a:off x="2560320" y="1143000"/>
            <a:ext cx="1920240" cy="3063240"/>
          </a:xfrm>
          <a:prstGeom prst="roundRect">
            <a:avLst>
              <a:gd name="adj" fmla="val 4762"/>
            </a:avLst>
          </a:prstGeom>
          <a:solidFill>
            <a:srgbClr val="F1F3F5"/>
          </a:solidFill>
          <a:ln w="12700">
            <a:solidFill>
              <a:srgbClr val="F1F3F5"/>
            </a:solidFill>
            <a:prstDash val="solid"/>
          </a:ln>
        </p:spPr>
      </p:sp>
      <p:sp>
        <p:nvSpPr>
          <p:cNvPr id="10" name="Text 8">
            <a:extLst>
              <a:ext uri="{FF2B5EF4-FFF2-40B4-BE49-F238E27FC236}">
                <a16:creationId xmlns:a16="http://schemas.microsoft.com/office/drawing/2014/main" id="{C93134FE-77FA-4D8F-AE49-65A6F3313FA9}"/>
              </a:ext>
            </a:extLst>
          </p:cNvPr>
          <p:cNvSpPr>
            <a:spLocks noGrp="1"/>
          </p:cNvSpPr>
          <p:nvPr/>
        </p:nvSpPr>
        <p:spPr>
          <a:xfrm>
            <a:off x="2697480" y="1280160"/>
            <a:ext cx="1645920" cy="365760"/>
          </a:xfrm>
          <a:prstGeom prst="rect">
            <a:avLst/>
          </a:prstGeom>
          <a:noFill/>
        </p:spPr>
        <p:txBody>
          <a:bodyPr wrap="square" lIns="0" tIns="0" rIns="0" bIns="0" anchor="t"/>
          <a:lstStyle/>
          <a:p>
            <a:pPr marL="0" indent="0">
              <a:buNone/>
            </a:pPr>
            <a:r>
              <a:rPr sz="1800" b="1">
                <a:solidFill>
                  <a:srgbClr val="1F2A36"/>
                </a:solidFill>
              </a:rPr>
              <a:t>Sobel + Otsu</a:t>
            </a:r>
            <a:endParaRPr sz="1800"/>
          </a:p>
        </p:txBody>
      </p:sp>
      <p:sp>
        <p:nvSpPr>
          <p:cNvPr id="11" name="Text 9">
            <a:extLst>
              <a:ext uri="{FF2B5EF4-FFF2-40B4-BE49-F238E27FC236}">
                <a16:creationId xmlns:a16="http://schemas.microsoft.com/office/drawing/2014/main" id="{775FDD20-8742-4AD4-878D-2D6AA8C7C120}"/>
              </a:ext>
            </a:extLst>
          </p:cNvPr>
          <p:cNvSpPr>
            <a:spLocks noGrp="1"/>
          </p:cNvSpPr>
          <p:nvPr/>
        </p:nvSpPr>
        <p:spPr>
          <a:xfrm>
            <a:off x="2697480" y="1645920"/>
            <a:ext cx="1645920" cy="274320"/>
          </a:xfrm>
          <a:prstGeom prst="rect">
            <a:avLst/>
          </a:prstGeom>
          <a:noFill/>
        </p:spPr>
        <p:txBody>
          <a:bodyPr wrap="square" lIns="0" tIns="0" rIns="0" bIns="0" anchor="t"/>
          <a:lstStyle/>
          <a:p>
            <a:pPr marL="0" indent="0">
              <a:buNone/>
            </a:pPr>
            <a:r>
              <a:rPr sz="1100" b="1">
                <a:solidFill>
                  <a:srgbClr val="E67E22"/>
                </a:solidFill>
              </a:rPr>
              <a:t>Edge detection</a:t>
            </a:r>
            <a:endParaRPr sz="1100"/>
          </a:p>
        </p:txBody>
      </p:sp>
      <p:sp>
        <p:nvSpPr>
          <p:cNvPr id="12" name="Text 10">
            <a:extLst>
              <a:ext uri="{FF2B5EF4-FFF2-40B4-BE49-F238E27FC236}">
                <a16:creationId xmlns:a16="http://schemas.microsoft.com/office/drawing/2014/main" id="{CC9F870A-B0AB-4208-914C-62EC358E6F3B}"/>
              </a:ext>
            </a:extLst>
          </p:cNvPr>
          <p:cNvSpPr>
            <a:spLocks noGrp="1"/>
          </p:cNvSpPr>
          <p:nvPr/>
        </p:nvSpPr>
        <p:spPr>
          <a:xfrm>
            <a:off x="2697480" y="2011680"/>
            <a:ext cx="1645920" cy="1417320"/>
          </a:xfrm>
          <a:prstGeom prst="rect">
            <a:avLst/>
          </a:prstGeom>
          <a:noFill/>
        </p:spPr>
        <p:txBody>
          <a:bodyPr wrap="square" lIns="0" tIns="0" rIns="0" bIns="0" anchor="t"/>
          <a:lstStyle/>
          <a:p>
            <a:pPr marL="0" indent="0">
              <a:buNone/>
            </a:pPr>
            <a:r>
              <a:rPr sz="1200">
                <a:solidFill>
                  <a:srgbClr val="222831"/>
                </a:solidFill>
              </a:rPr>
              <a:t>Gaussian blur, then Sobel in x and y to find edges. Otsu picks the threshold automatically to make a black/white edge map.</a:t>
            </a:r>
            <a:endParaRPr sz="1200"/>
          </a:p>
        </p:txBody>
      </p:sp>
      <p:sp>
        <p:nvSpPr>
          <p:cNvPr id="13" name="Shape 11">
            <a:extLst>
              <a:ext uri="{FF2B5EF4-FFF2-40B4-BE49-F238E27FC236}">
                <a16:creationId xmlns:a16="http://schemas.microsoft.com/office/drawing/2014/main" id="{9B410292-7B7B-4DC3-9509-24E194B389AD}"/>
              </a:ext>
            </a:extLst>
          </p:cNvPr>
          <p:cNvSpPr>
            <a:spLocks noGrp="1"/>
          </p:cNvSpPr>
          <p:nvPr/>
        </p:nvSpPr>
        <p:spPr>
          <a:xfrm>
            <a:off x="2670048" y="3520440"/>
            <a:ext cx="1700784" cy="548640"/>
          </a:xfrm>
          <a:prstGeom prst="roundRect">
            <a:avLst>
              <a:gd name="adj" fmla="val 10000"/>
            </a:avLst>
          </a:prstGeom>
          <a:solidFill>
            <a:srgbClr val="FFFFFF"/>
          </a:solidFill>
          <a:ln w="9525">
            <a:solidFill>
              <a:srgbClr val="D5DBE1"/>
            </a:solidFill>
            <a:prstDash val="solid"/>
          </a:ln>
        </p:spPr>
      </p:sp>
      <p:sp>
        <p:nvSpPr>
          <p:cNvPr id="14" name="Text 12">
            <a:extLst>
              <a:ext uri="{FF2B5EF4-FFF2-40B4-BE49-F238E27FC236}">
                <a16:creationId xmlns:a16="http://schemas.microsoft.com/office/drawing/2014/main" id="{A952B6E5-BAA2-4388-90BD-67A3624158AF}"/>
              </a:ext>
            </a:extLst>
          </p:cNvPr>
          <p:cNvSpPr>
            <a:spLocks noGrp="1"/>
          </p:cNvSpPr>
          <p:nvPr/>
        </p:nvSpPr>
        <p:spPr>
          <a:xfrm>
            <a:off x="2761488" y="3520440"/>
            <a:ext cx="1517904" cy="548640"/>
          </a:xfrm>
          <a:prstGeom prst="rect">
            <a:avLst/>
          </a:prstGeom>
          <a:noFill/>
        </p:spPr>
        <p:txBody>
          <a:bodyPr wrap="square" lIns="0" tIns="0" rIns="0" bIns="0" anchor="ctr"/>
          <a:lstStyle/>
          <a:p>
            <a:pPr marL="0" indent="0">
              <a:buNone/>
            </a:pPr>
            <a:r>
              <a:rPr sz="1100" b="1">
                <a:solidFill>
                  <a:srgbClr val="1F2A36"/>
                </a:solidFill>
              </a:rPr>
              <a:t>Output: </a:t>
            </a:r>
            <a:r>
              <a:rPr sz="1100">
                <a:solidFill>
                  <a:srgbClr val="222831"/>
                </a:solidFill>
              </a:rPr>
              <a:t>Edge density (% of edge pixels)</a:t>
            </a:r>
            <a:endParaRPr sz="1100"/>
          </a:p>
        </p:txBody>
      </p:sp>
      <p:sp>
        <p:nvSpPr>
          <p:cNvPr id="15" name="Shape 13">
            <a:extLst>
              <a:ext uri="{FF2B5EF4-FFF2-40B4-BE49-F238E27FC236}">
                <a16:creationId xmlns:a16="http://schemas.microsoft.com/office/drawing/2014/main" id="{8E86E37C-F677-4667-AD46-03E0889804A6}"/>
              </a:ext>
            </a:extLst>
          </p:cNvPr>
          <p:cNvSpPr>
            <a:spLocks noGrp="1"/>
          </p:cNvSpPr>
          <p:nvPr/>
        </p:nvSpPr>
        <p:spPr>
          <a:xfrm>
            <a:off x="4663440" y="1143000"/>
            <a:ext cx="1920240" cy="3063240"/>
          </a:xfrm>
          <a:prstGeom prst="roundRect">
            <a:avLst>
              <a:gd name="adj" fmla="val 4762"/>
            </a:avLst>
          </a:prstGeom>
          <a:solidFill>
            <a:srgbClr val="F1F3F5"/>
          </a:solidFill>
          <a:ln w="12700">
            <a:solidFill>
              <a:srgbClr val="F1F3F5"/>
            </a:solidFill>
            <a:prstDash val="solid"/>
          </a:ln>
        </p:spPr>
      </p:sp>
      <p:sp>
        <p:nvSpPr>
          <p:cNvPr id="16" name="Text 14">
            <a:extLst>
              <a:ext uri="{FF2B5EF4-FFF2-40B4-BE49-F238E27FC236}">
                <a16:creationId xmlns:a16="http://schemas.microsoft.com/office/drawing/2014/main" id="{A4EA0D62-49BD-4769-9097-5938AF0D6481}"/>
              </a:ext>
            </a:extLst>
          </p:cNvPr>
          <p:cNvSpPr>
            <a:spLocks noGrp="1"/>
          </p:cNvSpPr>
          <p:nvPr/>
        </p:nvSpPr>
        <p:spPr>
          <a:xfrm>
            <a:off x="4800600" y="1280160"/>
            <a:ext cx="1645920" cy="365760"/>
          </a:xfrm>
          <a:prstGeom prst="rect">
            <a:avLst/>
          </a:prstGeom>
          <a:noFill/>
        </p:spPr>
        <p:txBody>
          <a:bodyPr wrap="square" lIns="0" tIns="0" rIns="0" bIns="0" anchor="t"/>
          <a:lstStyle/>
          <a:p>
            <a:pPr marL="0" indent="0">
              <a:buNone/>
            </a:pPr>
            <a:r>
              <a:rPr sz="1800" b="1">
                <a:solidFill>
                  <a:srgbClr val="1F2A36"/>
                </a:solidFill>
              </a:rPr>
              <a:t>Morphology</a:t>
            </a:r>
            <a:endParaRPr sz="1800"/>
          </a:p>
        </p:txBody>
      </p:sp>
      <p:sp>
        <p:nvSpPr>
          <p:cNvPr id="17" name="Text 15">
            <a:extLst>
              <a:ext uri="{FF2B5EF4-FFF2-40B4-BE49-F238E27FC236}">
                <a16:creationId xmlns:a16="http://schemas.microsoft.com/office/drawing/2014/main" id="{4D18793C-6513-4968-81BA-538934B5432F}"/>
              </a:ext>
            </a:extLst>
          </p:cNvPr>
          <p:cNvSpPr>
            <a:spLocks noGrp="1"/>
          </p:cNvSpPr>
          <p:nvPr/>
        </p:nvSpPr>
        <p:spPr>
          <a:xfrm>
            <a:off x="4800600" y="1645920"/>
            <a:ext cx="1645920" cy="274320"/>
          </a:xfrm>
          <a:prstGeom prst="rect">
            <a:avLst/>
          </a:prstGeom>
          <a:noFill/>
        </p:spPr>
        <p:txBody>
          <a:bodyPr wrap="square" lIns="0" tIns="0" rIns="0" bIns="0" anchor="t"/>
          <a:lstStyle/>
          <a:p>
            <a:pPr marL="0" indent="0">
              <a:buNone/>
            </a:pPr>
            <a:r>
              <a:rPr sz="1100" b="1">
                <a:solidFill>
                  <a:srgbClr val="E67E22"/>
                </a:solidFill>
              </a:rPr>
              <a:t>Cleaning the edge map</a:t>
            </a:r>
            <a:endParaRPr sz="1100"/>
          </a:p>
        </p:txBody>
      </p:sp>
      <p:sp>
        <p:nvSpPr>
          <p:cNvPr id="18" name="Text 16">
            <a:extLst>
              <a:ext uri="{FF2B5EF4-FFF2-40B4-BE49-F238E27FC236}">
                <a16:creationId xmlns:a16="http://schemas.microsoft.com/office/drawing/2014/main" id="{B9A4366B-41CB-4FC0-A850-B21A7A189164}"/>
              </a:ext>
            </a:extLst>
          </p:cNvPr>
          <p:cNvSpPr>
            <a:spLocks noGrp="1"/>
          </p:cNvSpPr>
          <p:nvPr/>
        </p:nvSpPr>
        <p:spPr>
          <a:xfrm>
            <a:off x="4800600" y="2011680"/>
            <a:ext cx="1645920" cy="1417320"/>
          </a:xfrm>
          <a:prstGeom prst="rect">
            <a:avLst/>
          </a:prstGeom>
          <a:noFill/>
        </p:spPr>
        <p:txBody>
          <a:bodyPr wrap="square" lIns="0" tIns="0" rIns="0" bIns="0" anchor="t"/>
          <a:lstStyle/>
          <a:p>
            <a:pPr marL="0" indent="0">
              <a:buNone/>
            </a:pPr>
            <a:r>
              <a:rPr sz="1200">
                <a:solidFill>
                  <a:srgbClr val="222831"/>
                </a:solidFill>
              </a:rPr>
              <a:t>Opening removes small noise dots, closing fills small gaps. Uses a 5×5 kernel on the Sobel output.</a:t>
            </a:r>
            <a:endParaRPr sz="1200"/>
          </a:p>
        </p:txBody>
      </p:sp>
      <p:sp>
        <p:nvSpPr>
          <p:cNvPr id="19" name="Shape 17">
            <a:extLst>
              <a:ext uri="{FF2B5EF4-FFF2-40B4-BE49-F238E27FC236}">
                <a16:creationId xmlns:a16="http://schemas.microsoft.com/office/drawing/2014/main" id="{82CA8413-7EC7-4648-98BD-0C97F4A93109}"/>
              </a:ext>
            </a:extLst>
          </p:cNvPr>
          <p:cNvSpPr>
            <a:spLocks noGrp="1"/>
          </p:cNvSpPr>
          <p:nvPr/>
        </p:nvSpPr>
        <p:spPr>
          <a:xfrm>
            <a:off x="4773168" y="3520440"/>
            <a:ext cx="1700784" cy="548640"/>
          </a:xfrm>
          <a:prstGeom prst="roundRect">
            <a:avLst>
              <a:gd name="adj" fmla="val 10000"/>
            </a:avLst>
          </a:prstGeom>
          <a:solidFill>
            <a:srgbClr val="FFFFFF"/>
          </a:solidFill>
          <a:ln w="9525">
            <a:solidFill>
              <a:srgbClr val="D5DBE1"/>
            </a:solidFill>
            <a:prstDash val="solid"/>
          </a:ln>
        </p:spPr>
      </p:sp>
      <p:sp>
        <p:nvSpPr>
          <p:cNvPr id="20" name="Text 18">
            <a:extLst>
              <a:ext uri="{FF2B5EF4-FFF2-40B4-BE49-F238E27FC236}">
                <a16:creationId xmlns:a16="http://schemas.microsoft.com/office/drawing/2014/main" id="{9AA46E57-B704-4ECE-AE36-91E85748AF02}"/>
              </a:ext>
            </a:extLst>
          </p:cNvPr>
          <p:cNvSpPr>
            <a:spLocks noGrp="1"/>
          </p:cNvSpPr>
          <p:nvPr/>
        </p:nvSpPr>
        <p:spPr>
          <a:xfrm>
            <a:off x="4864608" y="3520440"/>
            <a:ext cx="1517904" cy="548640"/>
          </a:xfrm>
          <a:prstGeom prst="rect">
            <a:avLst/>
          </a:prstGeom>
          <a:noFill/>
        </p:spPr>
        <p:txBody>
          <a:bodyPr wrap="square" lIns="0" tIns="0" rIns="0" bIns="0" anchor="ctr"/>
          <a:lstStyle/>
          <a:p>
            <a:pPr marL="0" indent="0">
              <a:buNone/>
            </a:pPr>
            <a:r>
              <a:rPr sz="1100" b="1">
                <a:solidFill>
                  <a:srgbClr val="1F2A36"/>
                </a:solidFill>
              </a:rPr>
              <a:t>Output: </a:t>
            </a:r>
            <a:r>
              <a:rPr sz="1100">
                <a:solidFill>
                  <a:srgbClr val="222831"/>
                </a:solidFill>
              </a:rPr>
              <a:t>Cleaned edge density</a:t>
            </a:r>
            <a:endParaRPr sz="1100"/>
          </a:p>
        </p:txBody>
      </p:sp>
      <p:sp>
        <p:nvSpPr>
          <p:cNvPr id="21" name="Shape 19">
            <a:extLst>
              <a:ext uri="{FF2B5EF4-FFF2-40B4-BE49-F238E27FC236}">
                <a16:creationId xmlns:a16="http://schemas.microsoft.com/office/drawing/2014/main" id="{56649054-984F-4EE7-9860-B703808E554D}"/>
              </a:ext>
            </a:extLst>
          </p:cNvPr>
          <p:cNvSpPr>
            <a:spLocks noGrp="1"/>
          </p:cNvSpPr>
          <p:nvPr/>
        </p:nvSpPr>
        <p:spPr>
          <a:xfrm>
            <a:off x="6766560" y="1143000"/>
            <a:ext cx="1920240" cy="3063240"/>
          </a:xfrm>
          <a:prstGeom prst="roundRect">
            <a:avLst>
              <a:gd name="adj" fmla="val 4762"/>
            </a:avLst>
          </a:prstGeom>
          <a:solidFill>
            <a:srgbClr val="F1F3F5"/>
          </a:solidFill>
          <a:ln w="12700">
            <a:solidFill>
              <a:srgbClr val="F1F3F5"/>
            </a:solidFill>
            <a:prstDash val="solid"/>
          </a:ln>
        </p:spPr>
      </p:sp>
      <p:sp>
        <p:nvSpPr>
          <p:cNvPr id="22" name="Text 20">
            <a:extLst>
              <a:ext uri="{FF2B5EF4-FFF2-40B4-BE49-F238E27FC236}">
                <a16:creationId xmlns:a16="http://schemas.microsoft.com/office/drawing/2014/main" id="{FE5BA307-3401-49F1-8841-86F4ACA22113}"/>
              </a:ext>
            </a:extLst>
          </p:cNvPr>
          <p:cNvSpPr>
            <a:spLocks noGrp="1"/>
          </p:cNvSpPr>
          <p:nvPr/>
        </p:nvSpPr>
        <p:spPr>
          <a:xfrm>
            <a:off x="6903720" y="1280160"/>
            <a:ext cx="1645920" cy="365760"/>
          </a:xfrm>
          <a:prstGeom prst="rect">
            <a:avLst/>
          </a:prstGeom>
          <a:noFill/>
        </p:spPr>
        <p:txBody>
          <a:bodyPr wrap="square" lIns="0" tIns="0" rIns="0" bIns="0" anchor="t"/>
          <a:lstStyle/>
          <a:p>
            <a:pPr marL="0" indent="0">
              <a:buNone/>
            </a:pPr>
            <a:r>
              <a:rPr sz="1800" b="1">
                <a:solidFill>
                  <a:srgbClr val="1F2A36"/>
                </a:solidFill>
              </a:rPr>
              <a:t>Optical Flow</a:t>
            </a:r>
            <a:endParaRPr sz="1800"/>
          </a:p>
        </p:txBody>
      </p:sp>
      <p:sp>
        <p:nvSpPr>
          <p:cNvPr id="23" name="Text 21">
            <a:extLst>
              <a:ext uri="{FF2B5EF4-FFF2-40B4-BE49-F238E27FC236}">
                <a16:creationId xmlns:a16="http://schemas.microsoft.com/office/drawing/2014/main" id="{78E59EAA-3BA5-49A9-94D4-BCD5D38802DC}"/>
              </a:ext>
            </a:extLst>
          </p:cNvPr>
          <p:cNvSpPr>
            <a:spLocks noGrp="1"/>
          </p:cNvSpPr>
          <p:nvPr/>
        </p:nvSpPr>
        <p:spPr>
          <a:xfrm>
            <a:off x="6903720" y="1645920"/>
            <a:ext cx="1645920" cy="274320"/>
          </a:xfrm>
          <a:prstGeom prst="rect">
            <a:avLst/>
          </a:prstGeom>
          <a:noFill/>
        </p:spPr>
        <p:txBody>
          <a:bodyPr wrap="square" lIns="0" tIns="0" rIns="0" bIns="0" anchor="t"/>
          <a:lstStyle/>
          <a:p>
            <a:pPr marL="0" indent="0">
              <a:buNone/>
            </a:pPr>
            <a:r>
              <a:rPr sz="1100" b="1">
                <a:solidFill>
                  <a:srgbClr val="E67E22"/>
                </a:solidFill>
              </a:rPr>
              <a:t>Farneback method</a:t>
            </a:r>
            <a:endParaRPr sz="1100"/>
          </a:p>
        </p:txBody>
      </p:sp>
      <p:sp>
        <p:nvSpPr>
          <p:cNvPr id="24" name="Text 22">
            <a:extLst>
              <a:ext uri="{FF2B5EF4-FFF2-40B4-BE49-F238E27FC236}">
                <a16:creationId xmlns:a16="http://schemas.microsoft.com/office/drawing/2014/main" id="{EBF145EE-2ACB-4E04-86E9-B4AB4B9F7D9D}"/>
              </a:ext>
            </a:extLst>
          </p:cNvPr>
          <p:cNvSpPr>
            <a:spLocks noGrp="1"/>
          </p:cNvSpPr>
          <p:nvPr/>
        </p:nvSpPr>
        <p:spPr>
          <a:xfrm>
            <a:off x="6903720" y="2011680"/>
            <a:ext cx="1645920" cy="1417320"/>
          </a:xfrm>
          <a:prstGeom prst="rect">
            <a:avLst/>
          </a:prstGeom>
          <a:noFill/>
        </p:spPr>
        <p:txBody>
          <a:bodyPr wrap="square" lIns="0" tIns="0" rIns="0" bIns="0" anchor="t"/>
          <a:lstStyle/>
          <a:p>
            <a:pPr marL="0" indent="0">
              <a:buNone/>
            </a:pPr>
            <a:r>
              <a:rPr sz="1200">
                <a:solidFill>
                  <a:srgbClr val="222831"/>
                </a:solidFill>
              </a:rPr>
              <a:t>Farneback compares current and previous full-frame pixels to estimate motion; it does not isolate head or face movement.</a:t>
            </a:r>
            <a:endParaRPr sz="1200"/>
          </a:p>
        </p:txBody>
      </p:sp>
      <p:sp>
        <p:nvSpPr>
          <p:cNvPr id="25" name="Shape 23">
            <a:extLst>
              <a:ext uri="{FF2B5EF4-FFF2-40B4-BE49-F238E27FC236}">
                <a16:creationId xmlns:a16="http://schemas.microsoft.com/office/drawing/2014/main" id="{C2351B23-33BE-40C4-945E-C5140F94A63E}"/>
              </a:ext>
            </a:extLst>
          </p:cNvPr>
          <p:cNvSpPr>
            <a:spLocks noGrp="1"/>
          </p:cNvSpPr>
          <p:nvPr/>
        </p:nvSpPr>
        <p:spPr>
          <a:xfrm>
            <a:off x="6876288" y="3520440"/>
            <a:ext cx="1700784" cy="548640"/>
          </a:xfrm>
          <a:prstGeom prst="roundRect">
            <a:avLst>
              <a:gd name="adj" fmla="val 10000"/>
            </a:avLst>
          </a:prstGeom>
          <a:solidFill>
            <a:srgbClr val="FFFFFF"/>
          </a:solidFill>
          <a:ln w="9525">
            <a:solidFill>
              <a:srgbClr val="D5DBE1"/>
            </a:solidFill>
            <a:prstDash val="solid"/>
          </a:ln>
        </p:spPr>
      </p:sp>
      <p:sp>
        <p:nvSpPr>
          <p:cNvPr id="26" name="Text 24">
            <a:extLst>
              <a:ext uri="{FF2B5EF4-FFF2-40B4-BE49-F238E27FC236}">
                <a16:creationId xmlns:a16="http://schemas.microsoft.com/office/drawing/2014/main" id="{AB359E9C-63AE-4EEE-B777-C9EA68B334F9}"/>
              </a:ext>
            </a:extLst>
          </p:cNvPr>
          <p:cNvSpPr>
            <a:spLocks noGrp="1"/>
          </p:cNvSpPr>
          <p:nvPr/>
        </p:nvSpPr>
        <p:spPr>
          <a:xfrm>
            <a:off x="6967728" y="3520440"/>
            <a:ext cx="1517904" cy="548640"/>
          </a:xfrm>
          <a:prstGeom prst="rect">
            <a:avLst/>
          </a:prstGeom>
          <a:noFill/>
        </p:spPr>
        <p:txBody>
          <a:bodyPr wrap="square" lIns="0" tIns="0" rIns="0" bIns="0" anchor="ctr"/>
          <a:lstStyle/>
          <a:p>
            <a:pPr marL="0" indent="0">
              <a:buNone/>
            </a:pPr>
            <a:r>
              <a:rPr sz="1100" b="1">
                <a:solidFill>
                  <a:srgbClr val="1F2A36"/>
                </a:solidFill>
              </a:rPr>
              <a:t>Output: </a:t>
            </a:r>
            <a:r>
              <a:rPr sz="1100">
                <a:solidFill>
                  <a:srgbClr val="222831"/>
                </a:solidFill>
              </a:rPr>
              <a:t>Mean and max motion</a:t>
            </a:r>
            <a:endParaRPr sz="1100"/>
          </a:p>
        </p:txBody>
      </p:sp>
      <p:sp>
        <p:nvSpPr>
          <p:cNvPr id="27" name="Text 25">
            <a:extLst>
              <a:ext uri="{FF2B5EF4-FFF2-40B4-BE49-F238E27FC236}">
                <a16:creationId xmlns:a16="http://schemas.microsoft.com/office/drawing/2014/main" id="{9DF32F1F-5E04-4939-A556-5CFF52629F50}"/>
              </a:ext>
            </a:extLst>
          </p:cNvPr>
          <p:cNvSpPr>
            <a:spLocks noGrp="1"/>
          </p:cNvSpPr>
          <p:nvPr/>
        </p:nvSpPr>
        <p:spPr>
          <a:xfrm>
            <a:off x="457200" y="4343400"/>
            <a:ext cx="8229600" cy="365760"/>
          </a:xfrm>
          <a:prstGeom prst="rect">
            <a:avLst/>
          </a:prstGeom>
          <a:noFill/>
        </p:spPr>
        <p:txBody>
          <a:bodyPr wrap="square" lIns="0" tIns="0" rIns="0" bIns="0" anchor="t"/>
          <a:lstStyle/>
          <a:p>
            <a:pPr marL="0" indent="0">
              <a:buNone/>
            </a:pPr>
            <a:r>
              <a:rPr sz="1300" i="1">
                <a:solidFill>
                  <a:srgbClr val="5F6B7A"/>
                </a:solidFill>
              </a:rPr>
              <a:t>CV values are returned with each prediction for display. Optical flow is available after a previous frame exists; the features are not fused into YOLO classification.</a:t>
            </a:r>
            <a:endParaRPr sz="1300"/>
          </a:p>
        </p:txBody>
      </p:sp>
      <p:sp>
        <p:nvSpPr>
          <p:cNvPr id="28" name="Slide Number Placeholder 0">
            <a:extLst>
              <a:ext uri="{FF2B5EF4-FFF2-40B4-BE49-F238E27FC236}">
                <a16:creationId xmlns:a16="http://schemas.microsoft.com/office/drawing/2014/main" id="{941641D6-A60D-473C-A090-1CE4A5802367}"/>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6</a:t>
            </a:fld>
            <a:endParaRPr/>
          </a:p>
        </p:txBody>
      </p:sp>
    </p:spTree>
    <p:extLst>
      <p:ext uri="{BB962C8B-B14F-4D97-AF65-F5344CB8AC3E}">
        <p14:creationId xmlns:p14="http://schemas.microsoft.com/office/powerpoint/2010/main" val="1841863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A36A66B-A482-4FF7-9D0C-5A8F5DA0361D}"/>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Model and Training</a:t>
            </a:r>
            <a:endParaRPr sz="3000"/>
          </a:p>
        </p:txBody>
      </p:sp>
      <p:sp>
        <p:nvSpPr>
          <p:cNvPr id="3" name="Text 1">
            <a:extLst>
              <a:ext uri="{FF2B5EF4-FFF2-40B4-BE49-F238E27FC236}">
                <a16:creationId xmlns:a16="http://schemas.microsoft.com/office/drawing/2014/main" id="{72BCA7A3-097B-4CA2-AE67-7343D811DBFA}"/>
              </a:ext>
            </a:extLst>
          </p:cNvPr>
          <p:cNvSpPr>
            <a:spLocks noGrp="1"/>
          </p:cNvSpPr>
          <p:nvPr/>
        </p:nvSpPr>
        <p:spPr>
          <a:xfrm>
            <a:off x="457200" y="1188720"/>
            <a:ext cx="3931920" cy="365760"/>
          </a:xfrm>
          <a:prstGeom prst="rect">
            <a:avLst/>
          </a:prstGeom>
          <a:noFill/>
        </p:spPr>
        <p:txBody>
          <a:bodyPr wrap="square" lIns="0" tIns="0" rIns="0" bIns="0" anchor="t"/>
          <a:lstStyle/>
          <a:p>
            <a:pPr marL="0" indent="0">
              <a:buNone/>
            </a:pPr>
            <a:r>
              <a:rPr sz="1800" b="1">
                <a:solidFill>
                  <a:srgbClr val="1F2A36"/>
                </a:solidFill>
              </a:rPr>
              <a:t>Why YOLOv8n-cls?</a:t>
            </a:r>
            <a:endParaRPr sz="1800"/>
          </a:p>
        </p:txBody>
      </p:sp>
      <p:sp>
        <p:nvSpPr>
          <p:cNvPr id="4" name="Text 2">
            <a:extLst>
              <a:ext uri="{FF2B5EF4-FFF2-40B4-BE49-F238E27FC236}">
                <a16:creationId xmlns:a16="http://schemas.microsoft.com/office/drawing/2014/main" id="{E53C8CEB-0831-4D12-B5F1-E5E19E1CF44C}"/>
              </a:ext>
            </a:extLst>
          </p:cNvPr>
          <p:cNvSpPr>
            <a:spLocks noGrp="1"/>
          </p:cNvSpPr>
          <p:nvPr/>
        </p:nvSpPr>
        <p:spPr>
          <a:xfrm>
            <a:off x="457200" y="1645920"/>
            <a:ext cx="3931920" cy="2560320"/>
          </a:xfrm>
          <a:prstGeom prst="rect">
            <a:avLst/>
          </a:prstGeom>
          <a:noFill/>
        </p:spPr>
        <p:txBody>
          <a:bodyPr wrap="square" lIns="0" tIns="0" rIns="0" bIns="0" anchor="t"/>
          <a:lstStyle/>
          <a:p>
            <a:pPr marL="342900" indent="-342900">
              <a:spcAft>
                <a:spcPts val="800"/>
              </a:spcAft>
              <a:buSzPct val="100000"/>
              <a:buChar char="•"/>
            </a:pPr>
            <a:r>
              <a:rPr sz="1500">
                <a:solidFill>
                  <a:srgbClr val="222831"/>
                </a:solidFill>
              </a:rPr>
              <a:t>YOLOv8n-cls, pretrained | Input: 224 px | Batch: 16 | Up to 50 epochs; early stopped at 25 | Best validation top-1: 85.36% at epoch 15 | Held-out test top-1: 85.37% (909 images) | CPU model inference: about 3.4 ms/image</a:t>
            </a:r>
            <a:endParaRPr sz="1500"/>
          </a:p>
        </p:txBody>
      </p:sp>
      <p:graphicFrame>
        <p:nvGraphicFramePr>
          <p:cNvPr id="8" name="Table 0">
            <a:extLst>
              <a:ext uri="{FF2B5EF4-FFF2-40B4-BE49-F238E27FC236}">
                <a16:creationId xmlns:a16="http://schemas.microsoft.com/office/drawing/2014/main" id="{5FF76A61-1F0E-4958-9C9C-AB2E4EBE0BD2}"/>
              </a:ext>
            </a:extLst>
          </p:cNvPr>
          <p:cNvGraphicFramePr/>
          <p:nvPr/>
        </p:nvGraphicFramePr>
        <p:xfrm>
          <a:off x="4846320" y="1234440"/>
          <a:ext cx="3840480" cy="2688336"/>
        </p:xfrm>
        <a:graphic>
          <a:graphicData uri="http://schemas.openxmlformats.org/drawingml/2006/table">
            <a:tbl>
              <a:tblPr/>
              <a:tblGrid>
                <a:gridCol w="15544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pPr marL="0" indent="0">
                        <a:buNone/>
                      </a:pPr>
                      <a:r>
                        <a:rPr sz="1300" b="1">
                          <a:solidFill>
                            <a:srgbClr val="FFFFFF"/>
                          </a:solidFill>
                          <a:latin typeface="Calibri"/>
                          <a:ea typeface="Calibri"/>
                          <a:cs typeface="Calibri"/>
                        </a:rPr>
                        <a:t>Setting</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1F2A36"/>
                    </a:solidFill>
                  </a:tcPr>
                </a:tc>
                <a:tc>
                  <a:txBody>
                    <a:bodyPr/>
                    <a:lstStyle/>
                    <a:p>
                      <a:pPr marL="0" indent="0">
                        <a:buNone/>
                      </a:pPr>
                      <a:r>
                        <a:rPr sz="1300" b="1">
                          <a:solidFill>
                            <a:srgbClr val="FFFFFF"/>
                          </a:solidFill>
                          <a:latin typeface="Calibri"/>
                          <a:ea typeface="Calibri"/>
                          <a:cs typeface="Calibri"/>
                        </a:rPr>
                        <a:t>Value</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1F2A36"/>
                    </a:solidFill>
                  </a:tcPr>
                </a:tc>
                <a:extLst>
                  <a:ext uri="{0D108BD9-81ED-4DB2-BD59-A6C34878D82A}">
                    <a16:rowId xmlns:a16="http://schemas.microsoft.com/office/drawing/2014/main" val="10000"/>
                  </a:ext>
                </a:extLst>
              </a:tr>
              <a:tr h="384048">
                <a:tc>
                  <a:txBody>
                    <a:bodyPr/>
                    <a:lstStyle/>
                    <a:p>
                      <a:pPr marL="0" indent="0">
                        <a:buNone/>
                      </a:pPr>
                      <a:r>
                        <a:rPr sz="1300">
                          <a:solidFill>
                            <a:srgbClr val="222831"/>
                          </a:solidFill>
                          <a:latin typeface="Calibri"/>
                          <a:ea typeface="Calibri"/>
                          <a:cs typeface="Calibri"/>
                        </a:rPr>
                        <a:t>Base model</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FFFFF"/>
                    </a:solidFill>
                  </a:tcPr>
                </a:tc>
                <a:tc>
                  <a:txBody>
                    <a:bodyPr/>
                    <a:lstStyle/>
                    <a:p>
                      <a:pPr marL="0" indent="0">
                        <a:buNone/>
                      </a:pPr>
                      <a:r>
                        <a:rPr sz="1300">
                          <a:solidFill>
                            <a:srgbClr val="222831"/>
                          </a:solidFill>
                          <a:latin typeface="Calibri"/>
                          <a:ea typeface="Calibri"/>
                          <a:cs typeface="Calibri"/>
                        </a:rPr>
                        <a:t>yolov8n-cls.pt</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sz="1300">
                          <a:solidFill>
                            <a:srgbClr val="222831"/>
                          </a:solidFill>
                          <a:latin typeface="Calibri"/>
                          <a:ea typeface="Calibri"/>
                          <a:cs typeface="Calibri"/>
                        </a:rPr>
                        <a:t>Image size</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1F3F5"/>
                    </a:solidFill>
                  </a:tcPr>
                </a:tc>
                <a:tc>
                  <a:txBody>
                    <a:bodyPr/>
                    <a:lstStyle/>
                    <a:p>
                      <a:pPr marL="0" indent="0">
                        <a:buNone/>
                      </a:pPr>
                      <a:r>
                        <a:rPr sz="1300">
                          <a:solidFill>
                            <a:srgbClr val="222831"/>
                          </a:solidFill>
                          <a:latin typeface="Calibri"/>
                          <a:ea typeface="Calibri"/>
                          <a:cs typeface="Calibri"/>
                        </a:rPr>
                        <a:t>224 × 224</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1F3F5"/>
                    </a:solidFill>
                  </a:tcPr>
                </a:tc>
                <a:extLst>
                  <a:ext uri="{0D108BD9-81ED-4DB2-BD59-A6C34878D82A}">
                    <a16:rowId xmlns:a16="http://schemas.microsoft.com/office/drawing/2014/main" val="10002"/>
                  </a:ext>
                </a:extLst>
              </a:tr>
              <a:tr h="384048">
                <a:tc>
                  <a:txBody>
                    <a:bodyPr/>
                    <a:lstStyle/>
                    <a:p>
                      <a:pPr marL="0" indent="0">
                        <a:buNone/>
                      </a:pPr>
                      <a:r>
                        <a:rPr sz="1300">
                          <a:solidFill>
                            <a:srgbClr val="222831"/>
                          </a:solidFill>
                          <a:latin typeface="Calibri"/>
                          <a:ea typeface="Calibri"/>
                          <a:cs typeface="Calibri"/>
                        </a:rPr>
                        <a:t>Batch size</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FFFFF"/>
                    </a:solidFill>
                  </a:tcPr>
                </a:tc>
                <a:tc>
                  <a:txBody>
                    <a:bodyPr/>
                    <a:lstStyle/>
                    <a:p>
                      <a:pPr marL="0" indent="0">
                        <a:buNone/>
                      </a:pPr>
                      <a:r>
                        <a:rPr sz="1300">
                          <a:solidFill>
                            <a:srgbClr val="222831"/>
                          </a:solidFill>
                          <a:latin typeface="Calibri"/>
                          <a:ea typeface="Calibri"/>
                          <a:cs typeface="Calibri"/>
                        </a:rPr>
                        <a:t>16</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sz="1300">
                          <a:solidFill>
                            <a:srgbClr val="222831"/>
                          </a:solidFill>
                          <a:latin typeface="Calibri"/>
                          <a:ea typeface="Calibri"/>
                          <a:cs typeface="Calibri"/>
                        </a:rPr>
                        <a:t>Epochs run</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1F3F5"/>
                    </a:solidFill>
                  </a:tcPr>
                </a:tc>
                <a:tc>
                  <a:txBody>
                    <a:bodyPr/>
                    <a:lstStyle/>
                    <a:p>
                      <a:pPr marL="0" indent="0">
                        <a:buNone/>
                      </a:pPr>
                      <a:r>
                        <a:rPr sz="1300">
                          <a:solidFill>
                            <a:srgbClr val="222831"/>
                          </a:solidFill>
                          <a:latin typeface="Calibri"/>
                          <a:ea typeface="Calibri"/>
                          <a:cs typeface="Calibri"/>
                        </a:rPr>
                        <a:t>25</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1F3F5"/>
                    </a:solidFill>
                  </a:tcPr>
                </a:tc>
                <a:extLst>
                  <a:ext uri="{0D108BD9-81ED-4DB2-BD59-A6C34878D82A}">
                    <a16:rowId xmlns:a16="http://schemas.microsoft.com/office/drawing/2014/main" val="10004"/>
                  </a:ext>
                </a:extLst>
              </a:tr>
              <a:tr h="384048">
                <a:tc>
                  <a:txBody>
                    <a:bodyPr/>
                    <a:lstStyle/>
                    <a:p>
                      <a:pPr marL="0" indent="0">
                        <a:buNone/>
                      </a:pPr>
                      <a:r>
                        <a:rPr sz="1300">
                          <a:solidFill>
                            <a:srgbClr val="222831"/>
                          </a:solidFill>
                          <a:latin typeface="Calibri"/>
                          <a:ea typeface="Calibri"/>
                          <a:cs typeface="Calibri"/>
                        </a:rPr>
                        <a:t>Classes</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FFFFF"/>
                    </a:solidFill>
                  </a:tcPr>
                </a:tc>
                <a:tc>
                  <a:txBody>
                    <a:bodyPr/>
                    <a:lstStyle/>
                    <a:p>
                      <a:pPr marL="0" indent="0">
                        <a:buNone/>
                      </a:pPr>
                      <a:r>
                        <a:rPr sz="1300">
                          <a:solidFill>
                            <a:srgbClr val="222831"/>
                          </a:solidFill>
                          <a:latin typeface="Calibri"/>
                          <a:ea typeface="Calibri"/>
                          <a:cs typeface="Calibri"/>
                        </a:rPr>
                        <a:t>Alert, Drowsy</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sz="1300">
                          <a:solidFill>
                            <a:srgbClr val="222831"/>
                          </a:solidFill>
                          <a:latin typeface="Calibri"/>
                          <a:ea typeface="Calibri"/>
                          <a:cs typeface="Calibri"/>
                        </a:rPr>
                        <a:t>Output</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1F3F5"/>
                    </a:solidFill>
                  </a:tcPr>
                </a:tc>
                <a:tc>
                  <a:txBody>
                    <a:bodyPr/>
                    <a:lstStyle/>
                    <a:p>
                      <a:pPr marL="0" indent="0">
                        <a:buNone/>
                      </a:pPr>
                      <a:r>
                        <a:rPr sz="1300">
                          <a:solidFill>
                            <a:srgbClr val="222831"/>
                          </a:solidFill>
                          <a:latin typeface="Calibri"/>
                          <a:ea typeface="Calibri"/>
                          <a:cs typeface="Calibri"/>
                        </a:rPr>
                        <a:t>best.pt (used in backend)</a:t>
                      </a:r>
                      <a:endParaRPr sz="1300">
                        <a:latin typeface="Calibri"/>
                        <a:ea typeface="Calibri"/>
                        <a:cs typeface="Calibri"/>
                      </a:endParaRPr>
                    </a:p>
                  </a:txBody>
                  <a:tcPr marL="73152" marR="73152" marT="73152" marB="73152">
                    <a:lnL w="6350" cmpd="sng">
                      <a:solidFill>
                        <a:srgbClr val="D5DBE1"/>
                      </a:solidFill>
                      <a:prstDash val="solid"/>
                    </a:lnL>
                    <a:lnR w="6350" cmpd="sng">
                      <a:solidFill>
                        <a:srgbClr val="D5DBE1"/>
                      </a:solidFill>
                      <a:prstDash val="solid"/>
                    </a:lnR>
                    <a:lnT w="6350" cmpd="sng">
                      <a:solidFill>
                        <a:srgbClr val="D5DBE1"/>
                      </a:solidFill>
                      <a:prstDash val="solid"/>
                    </a:lnT>
                    <a:lnB w="6350" cmpd="sng">
                      <a:solidFill>
                        <a:srgbClr val="D5DBE1"/>
                      </a:solidFill>
                      <a:prstDash val="solid"/>
                    </a:lnB>
                    <a:solidFill>
                      <a:srgbClr val="F1F3F5"/>
                    </a:solidFill>
                  </a:tcPr>
                </a:tc>
                <a:extLst>
                  <a:ext uri="{0D108BD9-81ED-4DB2-BD59-A6C34878D82A}">
                    <a16:rowId xmlns:a16="http://schemas.microsoft.com/office/drawing/2014/main" val="10006"/>
                  </a:ext>
                </a:extLst>
              </a:tr>
            </a:tbl>
          </a:graphicData>
        </a:graphic>
      </p:graphicFrame>
      <p:sp>
        <p:nvSpPr>
          <p:cNvPr id="25" name="Slide Number Placeholder 0">
            <a:extLst>
              <a:ext uri="{FF2B5EF4-FFF2-40B4-BE49-F238E27FC236}">
                <a16:creationId xmlns:a16="http://schemas.microsoft.com/office/drawing/2014/main" id="{0B1809D1-929D-4588-BF5A-800CA91C101A}"/>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7</a:t>
            </a:fld>
            <a:endParaRPr/>
          </a:p>
        </p:txBody>
      </p:sp>
    </p:spTree>
    <p:extLst>
      <p:ext uri="{BB962C8B-B14F-4D97-AF65-F5344CB8AC3E}">
        <p14:creationId xmlns:p14="http://schemas.microsoft.com/office/powerpoint/2010/main" val="2028212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A3B1634-A775-4D52-B3C6-7342A816DBF0}"/>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Implementation: System Setup</a:t>
            </a:r>
            <a:endParaRPr sz="3000"/>
          </a:p>
        </p:txBody>
      </p:sp>
      <p:sp>
        <p:nvSpPr>
          <p:cNvPr id="3" name="Shape 1">
            <a:extLst>
              <a:ext uri="{FF2B5EF4-FFF2-40B4-BE49-F238E27FC236}">
                <a16:creationId xmlns:a16="http://schemas.microsoft.com/office/drawing/2014/main" id="{276DE78C-C2BC-4452-88FB-A0DD421793A0}"/>
              </a:ext>
            </a:extLst>
          </p:cNvPr>
          <p:cNvSpPr>
            <a:spLocks noGrp="1"/>
          </p:cNvSpPr>
          <p:nvPr/>
        </p:nvSpPr>
        <p:spPr>
          <a:xfrm>
            <a:off x="457200" y="1234440"/>
            <a:ext cx="2514600" cy="3017520"/>
          </a:xfrm>
          <a:prstGeom prst="roundRect">
            <a:avLst>
              <a:gd name="adj" fmla="val 3636"/>
            </a:avLst>
          </a:prstGeom>
          <a:solidFill>
            <a:srgbClr val="F1F3F5"/>
          </a:solidFill>
          <a:ln w="12700">
            <a:solidFill>
              <a:srgbClr val="F1F3F5"/>
            </a:solidFill>
            <a:prstDash val="solid"/>
          </a:ln>
        </p:spPr>
      </p:sp>
      <p:sp>
        <p:nvSpPr>
          <p:cNvPr id="4" name="Text 2">
            <a:extLst>
              <a:ext uri="{FF2B5EF4-FFF2-40B4-BE49-F238E27FC236}">
                <a16:creationId xmlns:a16="http://schemas.microsoft.com/office/drawing/2014/main" id="{A2FDC3D4-0951-4CF4-A660-B07117937CFE}"/>
              </a:ext>
            </a:extLst>
          </p:cNvPr>
          <p:cNvSpPr>
            <a:spLocks noGrp="1"/>
          </p:cNvSpPr>
          <p:nvPr/>
        </p:nvSpPr>
        <p:spPr>
          <a:xfrm>
            <a:off x="640080" y="1417320"/>
            <a:ext cx="2148840" cy="411480"/>
          </a:xfrm>
          <a:prstGeom prst="rect">
            <a:avLst/>
          </a:prstGeom>
          <a:noFill/>
        </p:spPr>
        <p:txBody>
          <a:bodyPr wrap="square" lIns="0" tIns="0" rIns="0" bIns="0" anchor="t"/>
          <a:lstStyle/>
          <a:p>
            <a:pPr marL="0" indent="0">
              <a:buNone/>
            </a:pPr>
            <a:r>
              <a:rPr sz="2000" b="1">
                <a:solidFill>
                  <a:srgbClr val="1F2A36"/>
                </a:solidFill>
              </a:rPr>
              <a:t>Frontend</a:t>
            </a:r>
            <a:endParaRPr sz="2000"/>
          </a:p>
        </p:txBody>
      </p:sp>
      <p:sp>
        <p:nvSpPr>
          <p:cNvPr id="5" name="Text 3">
            <a:extLst>
              <a:ext uri="{FF2B5EF4-FFF2-40B4-BE49-F238E27FC236}">
                <a16:creationId xmlns:a16="http://schemas.microsoft.com/office/drawing/2014/main" id="{B7D89DE4-C9D7-4A34-8B36-40629B5F3B24}"/>
              </a:ext>
            </a:extLst>
          </p:cNvPr>
          <p:cNvSpPr>
            <a:spLocks noGrp="1"/>
          </p:cNvSpPr>
          <p:nvPr/>
        </p:nvSpPr>
        <p:spPr>
          <a:xfrm>
            <a:off x="640080" y="1828800"/>
            <a:ext cx="2148840" cy="320040"/>
          </a:xfrm>
          <a:prstGeom prst="rect">
            <a:avLst/>
          </a:prstGeom>
          <a:noFill/>
        </p:spPr>
        <p:txBody>
          <a:bodyPr wrap="square" lIns="0" tIns="0" rIns="0" bIns="0" anchor="t"/>
          <a:lstStyle/>
          <a:p>
            <a:pPr marL="0" indent="0">
              <a:buNone/>
            </a:pPr>
            <a:r>
              <a:rPr sz="1300" b="1">
                <a:solidFill>
                  <a:srgbClr val="E67E22"/>
                </a:solidFill>
              </a:rPr>
              <a:t>Next.js 14 + React</a:t>
            </a:r>
            <a:endParaRPr sz="1300"/>
          </a:p>
        </p:txBody>
      </p:sp>
      <p:sp>
        <p:nvSpPr>
          <p:cNvPr id="6" name="Text 4">
            <a:extLst>
              <a:ext uri="{FF2B5EF4-FFF2-40B4-BE49-F238E27FC236}">
                <a16:creationId xmlns:a16="http://schemas.microsoft.com/office/drawing/2014/main" id="{F73E8F4B-586C-4186-9D62-D3D4A77AF158}"/>
              </a:ext>
            </a:extLst>
          </p:cNvPr>
          <p:cNvSpPr>
            <a:spLocks noGrp="1"/>
          </p:cNvSpPr>
          <p:nvPr/>
        </p:nvSpPr>
        <p:spPr>
          <a:xfrm>
            <a:off x="640080" y="2286000"/>
            <a:ext cx="2148840" cy="1828800"/>
          </a:xfrm>
          <a:prstGeom prst="rect">
            <a:avLst/>
          </a:prstGeom>
          <a:noFill/>
        </p:spPr>
        <p:txBody>
          <a:bodyPr wrap="square" lIns="0" tIns="0" rIns="0" bIns="0" anchor="t"/>
          <a:lstStyle/>
          <a:p>
            <a:pPr marL="342900" indent="-342900">
              <a:spcAft>
                <a:spcPts val="500"/>
              </a:spcAft>
              <a:buSzPct val="100000"/>
              <a:buChar char="•"/>
            </a:pPr>
            <a:r>
              <a:rPr sz="1300">
                <a:solidFill>
                  <a:srgbClr val="222831"/>
                </a:solidFill>
              </a:rPr>
              <a:t>Opens the webcam</a:t>
            </a:r>
            <a:endParaRPr sz="1300"/>
          </a:p>
          <a:p>
            <a:pPr marL="342900" indent="-342900">
              <a:spcAft>
                <a:spcPts val="500"/>
              </a:spcAft>
              <a:buSzPct val="100000"/>
              <a:buChar char="•"/>
            </a:pPr>
            <a:r>
              <a:rPr sz="1300">
                <a:solidFill>
                  <a:srgbClr val="222831"/>
                </a:solidFill>
              </a:rPr>
              <a:t>Sends frames to the backend</a:t>
            </a:r>
            <a:endParaRPr sz="1300"/>
          </a:p>
          <a:p>
            <a:pPr marL="342900" indent="-342900">
              <a:spcAft>
                <a:spcPts val="500"/>
              </a:spcAft>
              <a:buSzPct val="100000"/>
              <a:buChar char="•"/>
            </a:pPr>
            <a:r>
              <a:rPr sz="1300">
                <a:solidFill>
                  <a:srgbClr val="222831"/>
                </a:solidFill>
              </a:rPr>
              <a:t>Shows status, confidence, alert level</a:t>
            </a:r>
            <a:endParaRPr sz="1300"/>
          </a:p>
          <a:p>
            <a:pPr marL="342900" indent="-342900">
              <a:spcAft>
                <a:spcPts val="500"/>
              </a:spcAft>
              <a:buSzPct val="100000"/>
              <a:buChar char="•"/>
            </a:pPr>
            <a:r>
              <a:rPr sz="1300">
                <a:solidFill>
                  <a:srgbClr val="222831"/>
                </a:solidFill>
              </a:rPr>
              <a:t>Plays the alarm sound</a:t>
            </a:r>
            <a:endParaRPr sz="1300"/>
          </a:p>
        </p:txBody>
      </p:sp>
      <p:sp>
        <p:nvSpPr>
          <p:cNvPr id="7" name="Shape 5">
            <a:extLst>
              <a:ext uri="{FF2B5EF4-FFF2-40B4-BE49-F238E27FC236}">
                <a16:creationId xmlns:a16="http://schemas.microsoft.com/office/drawing/2014/main" id="{981F0E31-AE84-4B6A-A1B5-F441279F7492}"/>
              </a:ext>
            </a:extLst>
          </p:cNvPr>
          <p:cNvSpPr>
            <a:spLocks noGrp="1"/>
          </p:cNvSpPr>
          <p:nvPr/>
        </p:nvSpPr>
        <p:spPr>
          <a:xfrm>
            <a:off x="2999232" y="2606040"/>
            <a:ext cx="288036" cy="274320"/>
          </a:xfrm>
          <a:prstGeom prst="leftRightArrow">
            <a:avLst/>
          </a:prstGeom>
          <a:solidFill>
            <a:srgbClr val="F2A900"/>
          </a:solidFill>
          <a:ln w="12700">
            <a:solidFill>
              <a:srgbClr val="F2A900"/>
            </a:solidFill>
            <a:prstDash val="solid"/>
          </a:ln>
        </p:spPr>
      </p:sp>
      <p:sp>
        <p:nvSpPr>
          <p:cNvPr id="8" name="Shape 6">
            <a:extLst>
              <a:ext uri="{FF2B5EF4-FFF2-40B4-BE49-F238E27FC236}">
                <a16:creationId xmlns:a16="http://schemas.microsoft.com/office/drawing/2014/main" id="{5F4BC838-7A40-443A-A0D5-C660E69A211F}"/>
              </a:ext>
            </a:extLst>
          </p:cNvPr>
          <p:cNvSpPr>
            <a:spLocks noGrp="1"/>
          </p:cNvSpPr>
          <p:nvPr/>
        </p:nvSpPr>
        <p:spPr>
          <a:xfrm>
            <a:off x="3314700" y="1234440"/>
            <a:ext cx="2514600" cy="3017520"/>
          </a:xfrm>
          <a:prstGeom prst="roundRect">
            <a:avLst>
              <a:gd name="adj" fmla="val 3636"/>
            </a:avLst>
          </a:prstGeom>
          <a:solidFill>
            <a:srgbClr val="F1F3F5"/>
          </a:solidFill>
          <a:ln w="12700">
            <a:solidFill>
              <a:srgbClr val="F1F3F5"/>
            </a:solidFill>
            <a:prstDash val="solid"/>
          </a:ln>
        </p:spPr>
      </p:sp>
      <p:sp>
        <p:nvSpPr>
          <p:cNvPr id="9" name="Text 7">
            <a:extLst>
              <a:ext uri="{FF2B5EF4-FFF2-40B4-BE49-F238E27FC236}">
                <a16:creationId xmlns:a16="http://schemas.microsoft.com/office/drawing/2014/main" id="{BFCE9E34-64BB-4F57-B94C-15115DD44CEC}"/>
              </a:ext>
            </a:extLst>
          </p:cNvPr>
          <p:cNvSpPr>
            <a:spLocks noGrp="1"/>
          </p:cNvSpPr>
          <p:nvPr/>
        </p:nvSpPr>
        <p:spPr>
          <a:xfrm>
            <a:off x="3497580" y="1417320"/>
            <a:ext cx="2148840" cy="411480"/>
          </a:xfrm>
          <a:prstGeom prst="rect">
            <a:avLst/>
          </a:prstGeom>
          <a:noFill/>
        </p:spPr>
        <p:txBody>
          <a:bodyPr wrap="square" lIns="0" tIns="0" rIns="0" bIns="0" anchor="t"/>
          <a:lstStyle/>
          <a:p>
            <a:pPr marL="0" indent="0">
              <a:buNone/>
            </a:pPr>
            <a:r>
              <a:rPr sz="2000" b="1">
                <a:solidFill>
                  <a:srgbClr val="1F2A36"/>
                </a:solidFill>
              </a:rPr>
              <a:t>Backend</a:t>
            </a:r>
            <a:endParaRPr sz="2000"/>
          </a:p>
        </p:txBody>
      </p:sp>
      <p:sp>
        <p:nvSpPr>
          <p:cNvPr id="10" name="Text 8">
            <a:extLst>
              <a:ext uri="{FF2B5EF4-FFF2-40B4-BE49-F238E27FC236}">
                <a16:creationId xmlns:a16="http://schemas.microsoft.com/office/drawing/2014/main" id="{9CF2B899-9175-4C93-9A44-9F5EDAE9CD1A}"/>
              </a:ext>
            </a:extLst>
          </p:cNvPr>
          <p:cNvSpPr>
            <a:spLocks noGrp="1"/>
          </p:cNvSpPr>
          <p:nvPr/>
        </p:nvSpPr>
        <p:spPr>
          <a:xfrm>
            <a:off x="3497580" y="1828800"/>
            <a:ext cx="2148840" cy="320040"/>
          </a:xfrm>
          <a:prstGeom prst="rect">
            <a:avLst/>
          </a:prstGeom>
          <a:noFill/>
        </p:spPr>
        <p:txBody>
          <a:bodyPr wrap="square" lIns="0" tIns="0" rIns="0" bIns="0" anchor="t"/>
          <a:lstStyle/>
          <a:p>
            <a:pPr marL="0" indent="0">
              <a:buNone/>
            </a:pPr>
            <a:r>
              <a:rPr sz="1300" b="1">
                <a:solidFill>
                  <a:srgbClr val="E67E22"/>
                </a:solidFill>
              </a:rPr>
              <a:t>FastAPI (Python)</a:t>
            </a:r>
            <a:endParaRPr sz="1300"/>
          </a:p>
        </p:txBody>
      </p:sp>
      <p:sp>
        <p:nvSpPr>
          <p:cNvPr id="11" name="Text 9">
            <a:extLst>
              <a:ext uri="{FF2B5EF4-FFF2-40B4-BE49-F238E27FC236}">
                <a16:creationId xmlns:a16="http://schemas.microsoft.com/office/drawing/2014/main" id="{B8C4FC20-1DB2-4221-ACF3-1AA3E2266957}"/>
              </a:ext>
            </a:extLst>
          </p:cNvPr>
          <p:cNvSpPr>
            <a:spLocks noGrp="1"/>
          </p:cNvSpPr>
          <p:nvPr/>
        </p:nvSpPr>
        <p:spPr>
          <a:xfrm>
            <a:off x="3497580" y="2286000"/>
            <a:ext cx="2148840" cy="1828800"/>
          </a:xfrm>
          <a:prstGeom prst="rect">
            <a:avLst/>
          </a:prstGeom>
          <a:noFill/>
        </p:spPr>
        <p:txBody>
          <a:bodyPr wrap="square" lIns="0" tIns="0" rIns="0" bIns="0" anchor="t"/>
          <a:lstStyle/>
          <a:p>
            <a:pPr marL="342900" indent="-342900">
              <a:spcAft>
                <a:spcPts val="500"/>
              </a:spcAft>
              <a:buSzPct val="100000"/>
              <a:buChar char="•"/>
            </a:pPr>
            <a:r>
              <a:rPr sz="1300">
                <a:solidFill>
                  <a:srgbClr val="222831"/>
                </a:solidFill>
              </a:rPr>
              <a:t>/predict and /health APIs</a:t>
            </a:r>
            <a:endParaRPr sz="1300"/>
          </a:p>
          <a:p>
            <a:pPr marL="342900" indent="-342900">
              <a:spcAft>
                <a:spcPts val="500"/>
              </a:spcAft>
              <a:buSzPct val="100000"/>
              <a:buChar char="•"/>
            </a:pPr>
            <a:r>
              <a:rPr sz="1300">
                <a:solidFill>
                  <a:srgbClr val="222831"/>
                </a:solidFill>
              </a:rPr>
              <a:t>Image handling with OpenCV</a:t>
            </a:r>
            <a:endParaRPr sz="1300"/>
          </a:p>
          <a:p>
            <a:pPr marL="342900" indent="-342900">
              <a:spcAft>
                <a:spcPts val="500"/>
              </a:spcAft>
              <a:buSzPct val="100000"/>
              <a:buChar char="•"/>
            </a:pPr>
            <a:r>
              <a:rPr sz="1300">
                <a:solidFill>
                  <a:srgbClr val="222831"/>
                </a:solidFill>
              </a:rPr>
              <a:t>Keeps recent history per session</a:t>
            </a:r>
            <a:endParaRPr sz="1300"/>
          </a:p>
          <a:p>
            <a:pPr marL="342900" indent="-342900">
              <a:spcAft>
                <a:spcPts val="500"/>
              </a:spcAft>
              <a:buSzPct val="100000"/>
              <a:buChar char="•"/>
            </a:pPr>
            <a:r>
              <a:rPr sz="1300">
                <a:solidFill>
                  <a:srgbClr val="222831"/>
                </a:solidFill>
              </a:rPr>
              <a:t>Packaged with Docker</a:t>
            </a:r>
            <a:endParaRPr sz="1300"/>
          </a:p>
        </p:txBody>
      </p:sp>
      <p:sp>
        <p:nvSpPr>
          <p:cNvPr id="12" name="Shape 10">
            <a:extLst>
              <a:ext uri="{FF2B5EF4-FFF2-40B4-BE49-F238E27FC236}">
                <a16:creationId xmlns:a16="http://schemas.microsoft.com/office/drawing/2014/main" id="{33EC3BDA-8D79-4F6F-967F-97FC9B25FADA}"/>
              </a:ext>
            </a:extLst>
          </p:cNvPr>
          <p:cNvSpPr>
            <a:spLocks noGrp="1"/>
          </p:cNvSpPr>
          <p:nvPr/>
        </p:nvSpPr>
        <p:spPr>
          <a:xfrm>
            <a:off x="5856732" y="2606040"/>
            <a:ext cx="288036" cy="274320"/>
          </a:xfrm>
          <a:prstGeom prst="leftRightArrow">
            <a:avLst/>
          </a:prstGeom>
          <a:solidFill>
            <a:srgbClr val="F2A900"/>
          </a:solidFill>
          <a:ln w="12700">
            <a:solidFill>
              <a:srgbClr val="F2A900"/>
            </a:solidFill>
            <a:prstDash val="solid"/>
          </a:ln>
        </p:spPr>
      </p:sp>
      <p:sp>
        <p:nvSpPr>
          <p:cNvPr id="13" name="Shape 11">
            <a:extLst>
              <a:ext uri="{FF2B5EF4-FFF2-40B4-BE49-F238E27FC236}">
                <a16:creationId xmlns:a16="http://schemas.microsoft.com/office/drawing/2014/main" id="{2C42D4AD-82FA-43AC-B2BA-292347DF31F5}"/>
              </a:ext>
            </a:extLst>
          </p:cNvPr>
          <p:cNvSpPr>
            <a:spLocks noGrp="1"/>
          </p:cNvSpPr>
          <p:nvPr/>
        </p:nvSpPr>
        <p:spPr>
          <a:xfrm>
            <a:off x="6172200" y="1234440"/>
            <a:ext cx="2514600" cy="3017520"/>
          </a:xfrm>
          <a:prstGeom prst="roundRect">
            <a:avLst>
              <a:gd name="adj" fmla="val 3636"/>
            </a:avLst>
          </a:prstGeom>
          <a:solidFill>
            <a:srgbClr val="F1F3F5"/>
          </a:solidFill>
          <a:ln w="12700">
            <a:solidFill>
              <a:srgbClr val="F1F3F5"/>
            </a:solidFill>
            <a:prstDash val="solid"/>
          </a:ln>
        </p:spPr>
      </p:sp>
      <p:sp>
        <p:nvSpPr>
          <p:cNvPr id="14" name="Text 12">
            <a:extLst>
              <a:ext uri="{FF2B5EF4-FFF2-40B4-BE49-F238E27FC236}">
                <a16:creationId xmlns:a16="http://schemas.microsoft.com/office/drawing/2014/main" id="{00B4EE95-2B0C-417A-B81B-516F3DF8CD47}"/>
              </a:ext>
            </a:extLst>
          </p:cNvPr>
          <p:cNvSpPr>
            <a:spLocks noGrp="1"/>
          </p:cNvSpPr>
          <p:nvPr/>
        </p:nvSpPr>
        <p:spPr>
          <a:xfrm>
            <a:off x="6355080" y="1417320"/>
            <a:ext cx="2148840" cy="411480"/>
          </a:xfrm>
          <a:prstGeom prst="rect">
            <a:avLst/>
          </a:prstGeom>
          <a:noFill/>
        </p:spPr>
        <p:txBody>
          <a:bodyPr wrap="square" lIns="0" tIns="0" rIns="0" bIns="0" anchor="t"/>
          <a:lstStyle/>
          <a:p>
            <a:pPr marL="0" indent="0">
              <a:buNone/>
            </a:pPr>
            <a:r>
              <a:rPr sz="2000" b="1">
                <a:solidFill>
                  <a:srgbClr val="1F2A36"/>
                </a:solidFill>
              </a:rPr>
              <a:t>Model</a:t>
            </a:r>
            <a:endParaRPr sz="2000"/>
          </a:p>
        </p:txBody>
      </p:sp>
      <p:sp>
        <p:nvSpPr>
          <p:cNvPr id="15" name="Text 13">
            <a:extLst>
              <a:ext uri="{FF2B5EF4-FFF2-40B4-BE49-F238E27FC236}">
                <a16:creationId xmlns:a16="http://schemas.microsoft.com/office/drawing/2014/main" id="{E6C5FFEC-A4CF-40A9-BC00-2486A2A6F0C6}"/>
              </a:ext>
            </a:extLst>
          </p:cNvPr>
          <p:cNvSpPr>
            <a:spLocks noGrp="1"/>
          </p:cNvSpPr>
          <p:nvPr/>
        </p:nvSpPr>
        <p:spPr>
          <a:xfrm>
            <a:off x="6355080" y="1828800"/>
            <a:ext cx="2148840" cy="320040"/>
          </a:xfrm>
          <a:prstGeom prst="rect">
            <a:avLst/>
          </a:prstGeom>
          <a:noFill/>
        </p:spPr>
        <p:txBody>
          <a:bodyPr wrap="square" lIns="0" tIns="0" rIns="0" bIns="0" anchor="t"/>
          <a:lstStyle/>
          <a:p>
            <a:pPr marL="0" indent="0">
              <a:buNone/>
            </a:pPr>
            <a:r>
              <a:rPr sz="1300" b="1">
                <a:solidFill>
                  <a:srgbClr val="E67E22"/>
                </a:solidFill>
              </a:rPr>
              <a:t>YOLOv8n-cls (PyTorch)</a:t>
            </a:r>
            <a:endParaRPr sz="1300"/>
          </a:p>
        </p:txBody>
      </p:sp>
      <p:sp>
        <p:nvSpPr>
          <p:cNvPr id="16" name="Text 14">
            <a:extLst>
              <a:ext uri="{FF2B5EF4-FFF2-40B4-BE49-F238E27FC236}">
                <a16:creationId xmlns:a16="http://schemas.microsoft.com/office/drawing/2014/main" id="{FA6425CC-C23F-45EF-9F00-9D89D14EF500}"/>
              </a:ext>
            </a:extLst>
          </p:cNvPr>
          <p:cNvSpPr>
            <a:spLocks noGrp="1"/>
          </p:cNvSpPr>
          <p:nvPr/>
        </p:nvSpPr>
        <p:spPr>
          <a:xfrm>
            <a:off x="6355080" y="2286000"/>
            <a:ext cx="2148840" cy="1828800"/>
          </a:xfrm>
          <a:prstGeom prst="rect">
            <a:avLst/>
          </a:prstGeom>
          <a:noFill/>
        </p:spPr>
        <p:txBody>
          <a:bodyPr wrap="square" lIns="0" tIns="0" rIns="0" bIns="0" anchor="t"/>
          <a:lstStyle/>
          <a:p>
            <a:pPr marL="342900" indent="-342900">
              <a:spcAft>
                <a:spcPts val="500"/>
              </a:spcAft>
              <a:buSzPct val="100000"/>
              <a:buChar char="•"/>
            </a:pPr>
            <a:r>
              <a:rPr sz="1300">
                <a:solidFill>
                  <a:srgbClr val="222831"/>
                </a:solidFill>
              </a:rPr>
              <a:t>Model loads once at startup | Returns Alert / Drowsy probability | Uses the trained best.pt weights | Dockerfile is included for deployment</a:t>
            </a:r>
            <a:endParaRPr sz="1300"/>
          </a:p>
        </p:txBody>
      </p:sp>
      <p:sp>
        <p:nvSpPr>
          <p:cNvPr id="17" name="Text 15">
            <a:extLst>
              <a:ext uri="{FF2B5EF4-FFF2-40B4-BE49-F238E27FC236}">
                <a16:creationId xmlns:a16="http://schemas.microsoft.com/office/drawing/2014/main" id="{7C130AC8-A619-4909-BC2E-B6C5858AC239}"/>
              </a:ext>
            </a:extLst>
          </p:cNvPr>
          <p:cNvSpPr>
            <a:spLocks noGrp="1"/>
          </p:cNvSpPr>
          <p:nvPr/>
        </p:nvSpPr>
        <p:spPr>
          <a:xfrm>
            <a:off x="457200" y="4389120"/>
            <a:ext cx="7772400" cy="274320"/>
          </a:xfrm>
          <a:prstGeom prst="rect">
            <a:avLst/>
          </a:prstGeom>
          <a:noFill/>
        </p:spPr>
        <p:txBody>
          <a:bodyPr wrap="square" lIns="0" tIns="0" rIns="0" bIns="0" anchor="t"/>
          <a:lstStyle/>
          <a:p>
            <a:pPr marL="0" indent="0">
              <a:buNone/>
            </a:pPr>
            <a:r>
              <a:rPr sz="1200" i="1">
                <a:solidFill>
                  <a:srgbClr val="5F6B7A"/>
                </a:solidFill>
              </a:rPr>
              <a:t>Image goes as a POST request → JSON result comes back</a:t>
            </a:r>
            <a:endParaRPr sz="1200"/>
          </a:p>
        </p:txBody>
      </p:sp>
      <p:sp>
        <p:nvSpPr>
          <p:cNvPr id="25" name="Slide Number Placeholder 0">
            <a:extLst>
              <a:ext uri="{FF2B5EF4-FFF2-40B4-BE49-F238E27FC236}">
                <a16:creationId xmlns:a16="http://schemas.microsoft.com/office/drawing/2014/main" id="{C9EB7BA4-21AF-42BB-BEE9-A9222E235775}"/>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8</a:t>
            </a:fld>
            <a:endParaRPr/>
          </a:p>
        </p:txBody>
      </p:sp>
    </p:spTree>
    <p:extLst>
      <p:ext uri="{BB962C8B-B14F-4D97-AF65-F5344CB8AC3E}">
        <p14:creationId xmlns:p14="http://schemas.microsoft.com/office/powerpoint/2010/main" val="277472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81BBB43-9DDC-4965-8115-D6FCB5A383E5}"/>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Implementation: Deciding When to Alert</a:t>
            </a:r>
            <a:endParaRPr sz="3000"/>
          </a:p>
        </p:txBody>
      </p:sp>
      <p:sp>
        <p:nvSpPr>
          <p:cNvPr id="3" name="Text 1">
            <a:extLst>
              <a:ext uri="{FF2B5EF4-FFF2-40B4-BE49-F238E27FC236}">
                <a16:creationId xmlns:a16="http://schemas.microsoft.com/office/drawing/2014/main" id="{75A69CC5-8212-46A6-91BB-FB50F9B4ED46}"/>
              </a:ext>
            </a:extLst>
          </p:cNvPr>
          <p:cNvSpPr>
            <a:spLocks noGrp="1"/>
          </p:cNvSpPr>
          <p:nvPr/>
        </p:nvSpPr>
        <p:spPr>
          <a:xfrm>
            <a:off x="457200" y="1188720"/>
            <a:ext cx="3931920" cy="365760"/>
          </a:xfrm>
          <a:prstGeom prst="rect">
            <a:avLst/>
          </a:prstGeom>
          <a:noFill/>
        </p:spPr>
        <p:txBody>
          <a:bodyPr wrap="square" lIns="0" tIns="0" rIns="0" bIns="0" anchor="t"/>
          <a:lstStyle/>
          <a:p>
            <a:pPr marL="0" indent="0">
              <a:buNone/>
            </a:pPr>
            <a:r>
              <a:rPr sz="1700" b="1">
                <a:solidFill>
                  <a:srgbClr val="1F2A36"/>
                </a:solidFill>
              </a:rPr>
              <a:t>1.  Lower threshold</a:t>
            </a:r>
            <a:endParaRPr sz="1700"/>
          </a:p>
        </p:txBody>
      </p:sp>
      <p:sp>
        <p:nvSpPr>
          <p:cNvPr id="4" name="Text 2">
            <a:extLst>
              <a:ext uri="{FF2B5EF4-FFF2-40B4-BE49-F238E27FC236}">
                <a16:creationId xmlns:a16="http://schemas.microsoft.com/office/drawing/2014/main" id="{1B9A3B8B-E9EC-4BAA-9289-902FA4F9AB36}"/>
              </a:ext>
            </a:extLst>
          </p:cNvPr>
          <p:cNvSpPr>
            <a:spLocks noGrp="1"/>
          </p:cNvSpPr>
          <p:nvPr/>
        </p:nvSpPr>
        <p:spPr>
          <a:xfrm>
            <a:off x="457200" y="1600200"/>
            <a:ext cx="3931920" cy="1188720"/>
          </a:xfrm>
          <a:prstGeom prst="rect">
            <a:avLst/>
          </a:prstGeom>
          <a:noFill/>
        </p:spPr>
        <p:txBody>
          <a:bodyPr wrap="square" lIns="0" tIns="0" rIns="0" bIns="0" anchor="t"/>
          <a:lstStyle/>
          <a:p>
            <a:pPr marL="0" indent="0">
              <a:buNone/>
            </a:pPr>
            <a:r>
              <a:rPr sz="1400" dirty="0">
                <a:solidFill>
                  <a:srgbClr val="222831"/>
                </a:solidFill>
              </a:rPr>
              <a:t>Validation tuning selected 0.20: a frame is Drowsy when its Drowsy probability is at least 0.20.</a:t>
            </a:r>
            <a:endParaRPr sz="1400" dirty="0"/>
          </a:p>
        </p:txBody>
      </p:sp>
      <p:sp>
        <p:nvSpPr>
          <p:cNvPr id="5" name="Text 3">
            <a:extLst>
              <a:ext uri="{FF2B5EF4-FFF2-40B4-BE49-F238E27FC236}">
                <a16:creationId xmlns:a16="http://schemas.microsoft.com/office/drawing/2014/main" id="{61BC49F8-D179-4560-90F1-9F12B8B8A760}"/>
              </a:ext>
            </a:extLst>
          </p:cNvPr>
          <p:cNvSpPr>
            <a:spLocks noGrp="1"/>
          </p:cNvSpPr>
          <p:nvPr/>
        </p:nvSpPr>
        <p:spPr>
          <a:xfrm>
            <a:off x="457200" y="2880360"/>
            <a:ext cx="3931920" cy="365760"/>
          </a:xfrm>
          <a:prstGeom prst="rect">
            <a:avLst/>
          </a:prstGeom>
          <a:noFill/>
        </p:spPr>
        <p:txBody>
          <a:bodyPr wrap="square" lIns="0" tIns="0" rIns="0" bIns="0" anchor="t"/>
          <a:lstStyle/>
          <a:p>
            <a:pPr marL="0" indent="0">
              <a:buNone/>
            </a:pPr>
            <a:r>
              <a:rPr sz="1700" b="1" dirty="0">
                <a:solidFill>
                  <a:srgbClr val="1F2A36"/>
                </a:solidFill>
              </a:rPr>
              <a:t>2.  Look at the last 10 frames</a:t>
            </a:r>
            <a:endParaRPr sz="1700" dirty="0"/>
          </a:p>
        </p:txBody>
      </p:sp>
      <p:sp>
        <p:nvSpPr>
          <p:cNvPr id="6" name="Text 4">
            <a:extLst>
              <a:ext uri="{FF2B5EF4-FFF2-40B4-BE49-F238E27FC236}">
                <a16:creationId xmlns:a16="http://schemas.microsoft.com/office/drawing/2014/main" id="{647AEA95-77F6-44F8-93D7-DD4D81A80FE5}"/>
              </a:ext>
            </a:extLst>
          </p:cNvPr>
          <p:cNvSpPr>
            <a:spLocks noGrp="1"/>
          </p:cNvSpPr>
          <p:nvPr/>
        </p:nvSpPr>
        <p:spPr>
          <a:xfrm>
            <a:off x="457200" y="3291840"/>
            <a:ext cx="3931920" cy="1280160"/>
          </a:xfrm>
          <a:prstGeom prst="rect">
            <a:avLst/>
          </a:prstGeom>
          <a:noFill/>
        </p:spPr>
        <p:txBody>
          <a:bodyPr wrap="square" lIns="0" tIns="0" rIns="0" bIns="0" anchor="t"/>
          <a:lstStyle/>
          <a:p>
            <a:pPr marL="0" indent="0">
              <a:buNone/>
            </a:pPr>
            <a:r>
              <a:rPr sz="1400" dirty="0">
                <a:solidFill>
                  <a:srgbClr val="222831"/>
                </a:solidFill>
              </a:rPr>
              <a:t>The backend summarizes recent predictions over up to 10 frames. The browser audio alarm waits for 5 seconds of continuous Drowsy status.</a:t>
            </a:r>
            <a:endParaRPr sz="1400" dirty="0"/>
          </a:p>
        </p:txBody>
      </p:sp>
      <p:sp>
        <p:nvSpPr>
          <p:cNvPr id="7" name="Shape 5">
            <a:extLst>
              <a:ext uri="{FF2B5EF4-FFF2-40B4-BE49-F238E27FC236}">
                <a16:creationId xmlns:a16="http://schemas.microsoft.com/office/drawing/2014/main" id="{18A38AF3-2216-4BB9-822E-E89DE5D13637}"/>
              </a:ext>
            </a:extLst>
          </p:cNvPr>
          <p:cNvSpPr>
            <a:spLocks noGrp="1"/>
          </p:cNvSpPr>
          <p:nvPr/>
        </p:nvSpPr>
        <p:spPr>
          <a:xfrm>
            <a:off x="4846320" y="1234440"/>
            <a:ext cx="3840480" cy="685800"/>
          </a:xfrm>
          <a:prstGeom prst="roundRect">
            <a:avLst>
              <a:gd name="adj" fmla="val 10667"/>
            </a:avLst>
          </a:prstGeom>
          <a:solidFill>
            <a:srgbClr val="F1F3F5"/>
          </a:solidFill>
          <a:ln w="12700">
            <a:solidFill>
              <a:srgbClr val="F1F3F5"/>
            </a:solidFill>
            <a:prstDash val="solid"/>
          </a:ln>
        </p:spPr>
      </p:sp>
      <p:sp>
        <p:nvSpPr>
          <p:cNvPr id="8" name="Shape 6">
            <a:extLst>
              <a:ext uri="{FF2B5EF4-FFF2-40B4-BE49-F238E27FC236}">
                <a16:creationId xmlns:a16="http://schemas.microsoft.com/office/drawing/2014/main" id="{D0BDB439-5F3C-49F8-9DA0-27C45E98A8B8}"/>
              </a:ext>
            </a:extLst>
          </p:cNvPr>
          <p:cNvSpPr>
            <a:spLocks noGrp="1"/>
          </p:cNvSpPr>
          <p:nvPr/>
        </p:nvSpPr>
        <p:spPr>
          <a:xfrm>
            <a:off x="5010912" y="1417320"/>
            <a:ext cx="320040" cy="320040"/>
          </a:xfrm>
          <a:prstGeom prst="ellipse">
            <a:avLst/>
          </a:prstGeom>
          <a:solidFill>
            <a:srgbClr val="2E8B57"/>
          </a:solidFill>
          <a:ln w="12700">
            <a:solidFill>
              <a:srgbClr val="2E8B57"/>
            </a:solidFill>
            <a:prstDash val="solid"/>
          </a:ln>
        </p:spPr>
      </p:sp>
      <p:sp>
        <p:nvSpPr>
          <p:cNvPr id="9" name="Text 7">
            <a:extLst>
              <a:ext uri="{FF2B5EF4-FFF2-40B4-BE49-F238E27FC236}">
                <a16:creationId xmlns:a16="http://schemas.microsoft.com/office/drawing/2014/main" id="{65BB265A-6F9D-498C-A0FD-C1C5E5DE9EF8}"/>
              </a:ext>
            </a:extLst>
          </p:cNvPr>
          <p:cNvSpPr>
            <a:spLocks noGrp="1"/>
          </p:cNvSpPr>
          <p:nvPr/>
        </p:nvSpPr>
        <p:spPr>
          <a:xfrm>
            <a:off x="5486400" y="1307592"/>
            <a:ext cx="3017520" cy="292608"/>
          </a:xfrm>
          <a:prstGeom prst="rect">
            <a:avLst/>
          </a:prstGeom>
          <a:noFill/>
        </p:spPr>
        <p:txBody>
          <a:bodyPr wrap="square" lIns="0" tIns="0" rIns="0" bIns="0" anchor="t"/>
          <a:lstStyle/>
          <a:p>
            <a:pPr marL="0" indent="0">
              <a:buNone/>
            </a:pPr>
            <a:r>
              <a:rPr sz="1500" b="1">
                <a:solidFill>
                  <a:srgbClr val="1F2A36"/>
                </a:solidFill>
              </a:rPr>
              <a:t>0  Safe</a:t>
            </a:r>
            <a:endParaRPr sz="1500"/>
          </a:p>
        </p:txBody>
      </p:sp>
      <p:sp>
        <p:nvSpPr>
          <p:cNvPr id="10" name="Text 8">
            <a:extLst>
              <a:ext uri="{FF2B5EF4-FFF2-40B4-BE49-F238E27FC236}">
                <a16:creationId xmlns:a16="http://schemas.microsoft.com/office/drawing/2014/main" id="{A1E79B5A-31B0-4AA4-A56C-52153779CFFA}"/>
              </a:ext>
            </a:extLst>
          </p:cNvPr>
          <p:cNvSpPr>
            <a:spLocks noGrp="1"/>
          </p:cNvSpPr>
          <p:nvPr/>
        </p:nvSpPr>
        <p:spPr>
          <a:xfrm>
            <a:off x="5486400" y="1600200"/>
            <a:ext cx="3017520" cy="274320"/>
          </a:xfrm>
          <a:prstGeom prst="rect">
            <a:avLst/>
          </a:prstGeom>
          <a:noFill/>
        </p:spPr>
        <p:txBody>
          <a:bodyPr wrap="square" lIns="0" tIns="0" rIns="0" bIns="0" anchor="t"/>
          <a:lstStyle/>
          <a:p>
            <a:pPr marL="0" indent="0">
              <a:buNone/>
            </a:pPr>
            <a:r>
              <a:rPr sz="1200">
                <a:solidFill>
                  <a:srgbClr val="5F6B7A"/>
                </a:solidFill>
              </a:rPr>
              <a:t>Driver looks alert</a:t>
            </a:r>
            <a:endParaRPr sz="1200"/>
          </a:p>
        </p:txBody>
      </p:sp>
      <p:sp>
        <p:nvSpPr>
          <p:cNvPr id="11" name="Shape 9">
            <a:extLst>
              <a:ext uri="{FF2B5EF4-FFF2-40B4-BE49-F238E27FC236}">
                <a16:creationId xmlns:a16="http://schemas.microsoft.com/office/drawing/2014/main" id="{9F41CA6E-D01E-468A-8E72-C7CAE1358C69}"/>
              </a:ext>
            </a:extLst>
          </p:cNvPr>
          <p:cNvSpPr>
            <a:spLocks noGrp="1"/>
          </p:cNvSpPr>
          <p:nvPr/>
        </p:nvSpPr>
        <p:spPr>
          <a:xfrm>
            <a:off x="4846320" y="2057400"/>
            <a:ext cx="3840480" cy="685800"/>
          </a:xfrm>
          <a:prstGeom prst="roundRect">
            <a:avLst>
              <a:gd name="adj" fmla="val 10667"/>
            </a:avLst>
          </a:prstGeom>
          <a:solidFill>
            <a:srgbClr val="F1F3F5"/>
          </a:solidFill>
          <a:ln w="12700">
            <a:solidFill>
              <a:srgbClr val="F1F3F5"/>
            </a:solidFill>
            <a:prstDash val="solid"/>
          </a:ln>
        </p:spPr>
      </p:sp>
      <p:sp>
        <p:nvSpPr>
          <p:cNvPr id="12" name="Shape 10">
            <a:extLst>
              <a:ext uri="{FF2B5EF4-FFF2-40B4-BE49-F238E27FC236}">
                <a16:creationId xmlns:a16="http://schemas.microsoft.com/office/drawing/2014/main" id="{5F10887E-BCE0-4A15-AEC6-F7D2DF93773A}"/>
              </a:ext>
            </a:extLst>
          </p:cNvPr>
          <p:cNvSpPr>
            <a:spLocks noGrp="1"/>
          </p:cNvSpPr>
          <p:nvPr/>
        </p:nvSpPr>
        <p:spPr>
          <a:xfrm>
            <a:off x="5010912" y="2240280"/>
            <a:ext cx="320040" cy="320040"/>
          </a:xfrm>
          <a:prstGeom prst="ellipse">
            <a:avLst/>
          </a:prstGeom>
          <a:solidFill>
            <a:srgbClr val="F2A900"/>
          </a:solidFill>
          <a:ln w="12700">
            <a:solidFill>
              <a:srgbClr val="F2A900"/>
            </a:solidFill>
            <a:prstDash val="solid"/>
          </a:ln>
        </p:spPr>
      </p:sp>
      <p:sp>
        <p:nvSpPr>
          <p:cNvPr id="13" name="Text 11">
            <a:extLst>
              <a:ext uri="{FF2B5EF4-FFF2-40B4-BE49-F238E27FC236}">
                <a16:creationId xmlns:a16="http://schemas.microsoft.com/office/drawing/2014/main" id="{40F98F2B-F4C9-49F2-90D6-8A3D87BFCEB6}"/>
              </a:ext>
            </a:extLst>
          </p:cNvPr>
          <p:cNvSpPr>
            <a:spLocks noGrp="1"/>
          </p:cNvSpPr>
          <p:nvPr/>
        </p:nvSpPr>
        <p:spPr>
          <a:xfrm>
            <a:off x="5486400" y="2130552"/>
            <a:ext cx="3017520" cy="292608"/>
          </a:xfrm>
          <a:prstGeom prst="rect">
            <a:avLst/>
          </a:prstGeom>
          <a:noFill/>
        </p:spPr>
        <p:txBody>
          <a:bodyPr wrap="square" lIns="0" tIns="0" rIns="0" bIns="0" anchor="t"/>
          <a:lstStyle/>
          <a:p>
            <a:pPr marL="0" indent="0">
              <a:buNone/>
            </a:pPr>
            <a:r>
              <a:rPr sz="1500" b="1">
                <a:solidFill>
                  <a:srgbClr val="1F2A36"/>
                </a:solidFill>
              </a:rPr>
              <a:t>1  Caution</a:t>
            </a:r>
            <a:endParaRPr sz="1500"/>
          </a:p>
        </p:txBody>
      </p:sp>
      <p:sp>
        <p:nvSpPr>
          <p:cNvPr id="14" name="Text 12">
            <a:extLst>
              <a:ext uri="{FF2B5EF4-FFF2-40B4-BE49-F238E27FC236}">
                <a16:creationId xmlns:a16="http://schemas.microsoft.com/office/drawing/2014/main" id="{FB0C22CB-172C-486B-9E1D-4E12D7B4D2C5}"/>
              </a:ext>
            </a:extLst>
          </p:cNvPr>
          <p:cNvSpPr>
            <a:spLocks noGrp="1"/>
          </p:cNvSpPr>
          <p:nvPr/>
        </p:nvSpPr>
        <p:spPr>
          <a:xfrm>
            <a:off x="5486400" y="2423160"/>
            <a:ext cx="3017520" cy="274320"/>
          </a:xfrm>
          <a:prstGeom prst="rect">
            <a:avLst/>
          </a:prstGeom>
          <a:noFill/>
        </p:spPr>
        <p:txBody>
          <a:bodyPr wrap="square" lIns="0" tIns="0" rIns="0" bIns="0" anchor="t"/>
          <a:lstStyle/>
          <a:p>
            <a:pPr marL="0" indent="0">
              <a:buNone/>
            </a:pPr>
            <a:r>
              <a:rPr sz="1200">
                <a:solidFill>
                  <a:srgbClr val="5F6B7A"/>
                </a:solidFill>
              </a:rPr>
              <a:t>30%+ drowsy, or 2 in a row</a:t>
            </a:r>
            <a:endParaRPr sz="1200"/>
          </a:p>
        </p:txBody>
      </p:sp>
      <p:sp>
        <p:nvSpPr>
          <p:cNvPr id="15" name="Shape 13">
            <a:extLst>
              <a:ext uri="{FF2B5EF4-FFF2-40B4-BE49-F238E27FC236}">
                <a16:creationId xmlns:a16="http://schemas.microsoft.com/office/drawing/2014/main" id="{D8CF989A-C4F7-4BC8-BA18-B712754F2251}"/>
              </a:ext>
            </a:extLst>
          </p:cNvPr>
          <p:cNvSpPr>
            <a:spLocks noGrp="1"/>
          </p:cNvSpPr>
          <p:nvPr/>
        </p:nvSpPr>
        <p:spPr>
          <a:xfrm>
            <a:off x="4846320" y="2880360"/>
            <a:ext cx="3840480" cy="685800"/>
          </a:xfrm>
          <a:prstGeom prst="roundRect">
            <a:avLst>
              <a:gd name="adj" fmla="val 10667"/>
            </a:avLst>
          </a:prstGeom>
          <a:solidFill>
            <a:srgbClr val="F1F3F5"/>
          </a:solidFill>
          <a:ln w="12700">
            <a:solidFill>
              <a:srgbClr val="F1F3F5"/>
            </a:solidFill>
            <a:prstDash val="solid"/>
          </a:ln>
        </p:spPr>
      </p:sp>
      <p:sp>
        <p:nvSpPr>
          <p:cNvPr id="16" name="Shape 14">
            <a:extLst>
              <a:ext uri="{FF2B5EF4-FFF2-40B4-BE49-F238E27FC236}">
                <a16:creationId xmlns:a16="http://schemas.microsoft.com/office/drawing/2014/main" id="{25D4C302-C70D-4A07-8CB6-FD05AD95D066}"/>
              </a:ext>
            </a:extLst>
          </p:cNvPr>
          <p:cNvSpPr>
            <a:spLocks noGrp="1"/>
          </p:cNvSpPr>
          <p:nvPr/>
        </p:nvSpPr>
        <p:spPr>
          <a:xfrm>
            <a:off x="5010912" y="3063240"/>
            <a:ext cx="320040" cy="320040"/>
          </a:xfrm>
          <a:prstGeom prst="ellipse">
            <a:avLst/>
          </a:prstGeom>
          <a:solidFill>
            <a:srgbClr val="E67E22"/>
          </a:solidFill>
          <a:ln w="12700">
            <a:solidFill>
              <a:srgbClr val="E67E22"/>
            </a:solidFill>
            <a:prstDash val="solid"/>
          </a:ln>
        </p:spPr>
      </p:sp>
      <p:sp>
        <p:nvSpPr>
          <p:cNvPr id="17" name="Text 15">
            <a:extLst>
              <a:ext uri="{FF2B5EF4-FFF2-40B4-BE49-F238E27FC236}">
                <a16:creationId xmlns:a16="http://schemas.microsoft.com/office/drawing/2014/main" id="{3C7DCCFB-55A7-4A62-BE18-E201C1C8B24B}"/>
              </a:ext>
            </a:extLst>
          </p:cNvPr>
          <p:cNvSpPr>
            <a:spLocks noGrp="1"/>
          </p:cNvSpPr>
          <p:nvPr/>
        </p:nvSpPr>
        <p:spPr>
          <a:xfrm>
            <a:off x="5486400" y="2953512"/>
            <a:ext cx="3017520" cy="292608"/>
          </a:xfrm>
          <a:prstGeom prst="rect">
            <a:avLst/>
          </a:prstGeom>
          <a:noFill/>
        </p:spPr>
        <p:txBody>
          <a:bodyPr wrap="square" lIns="0" tIns="0" rIns="0" bIns="0" anchor="t"/>
          <a:lstStyle/>
          <a:p>
            <a:pPr marL="0" indent="0">
              <a:buNone/>
            </a:pPr>
            <a:r>
              <a:rPr sz="1500" b="1">
                <a:solidFill>
                  <a:srgbClr val="1F2A36"/>
                </a:solidFill>
              </a:rPr>
              <a:t>2  Warning</a:t>
            </a:r>
            <a:endParaRPr sz="1500"/>
          </a:p>
        </p:txBody>
      </p:sp>
      <p:sp>
        <p:nvSpPr>
          <p:cNvPr id="18" name="Text 16">
            <a:extLst>
              <a:ext uri="{FF2B5EF4-FFF2-40B4-BE49-F238E27FC236}">
                <a16:creationId xmlns:a16="http://schemas.microsoft.com/office/drawing/2014/main" id="{4549D677-0E1F-4050-9537-EBD2CBEAACCF}"/>
              </a:ext>
            </a:extLst>
          </p:cNvPr>
          <p:cNvSpPr>
            <a:spLocks noGrp="1"/>
          </p:cNvSpPr>
          <p:nvPr/>
        </p:nvSpPr>
        <p:spPr>
          <a:xfrm>
            <a:off x="5486400" y="3246120"/>
            <a:ext cx="3017520" cy="274320"/>
          </a:xfrm>
          <a:prstGeom prst="rect">
            <a:avLst/>
          </a:prstGeom>
          <a:noFill/>
        </p:spPr>
        <p:txBody>
          <a:bodyPr wrap="square" lIns="0" tIns="0" rIns="0" bIns="0" anchor="t"/>
          <a:lstStyle/>
          <a:p>
            <a:pPr marL="0" indent="0">
              <a:buNone/>
            </a:pPr>
            <a:r>
              <a:rPr sz="1200">
                <a:solidFill>
                  <a:srgbClr val="5F6B7A"/>
                </a:solidFill>
              </a:rPr>
              <a:t>3 drowsy frames in a row</a:t>
            </a:r>
            <a:endParaRPr sz="1200"/>
          </a:p>
        </p:txBody>
      </p:sp>
      <p:sp>
        <p:nvSpPr>
          <p:cNvPr id="19" name="Shape 17">
            <a:extLst>
              <a:ext uri="{FF2B5EF4-FFF2-40B4-BE49-F238E27FC236}">
                <a16:creationId xmlns:a16="http://schemas.microsoft.com/office/drawing/2014/main" id="{F82D93AF-3273-470B-8896-8E08F846B8FB}"/>
              </a:ext>
            </a:extLst>
          </p:cNvPr>
          <p:cNvSpPr>
            <a:spLocks noGrp="1"/>
          </p:cNvSpPr>
          <p:nvPr/>
        </p:nvSpPr>
        <p:spPr>
          <a:xfrm>
            <a:off x="4846320" y="3703320"/>
            <a:ext cx="3840480" cy="685800"/>
          </a:xfrm>
          <a:prstGeom prst="roundRect">
            <a:avLst>
              <a:gd name="adj" fmla="val 10667"/>
            </a:avLst>
          </a:prstGeom>
          <a:solidFill>
            <a:srgbClr val="F1F3F5"/>
          </a:solidFill>
          <a:ln w="12700">
            <a:solidFill>
              <a:srgbClr val="F1F3F5"/>
            </a:solidFill>
            <a:prstDash val="solid"/>
          </a:ln>
        </p:spPr>
      </p:sp>
      <p:sp>
        <p:nvSpPr>
          <p:cNvPr id="20" name="Shape 18">
            <a:extLst>
              <a:ext uri="{FF2B5EF4-FFF2-40B4-BE49-F238E27FC236}">
                <a16:creationId xmlns:a16="http://schemas.microsoft.com/office/drawing/2014/main" id="{433F7DE0-EE9C-4087-AC6B-724CACB19577}"/>
              </a:ext>
            </a:extLst>
          </p:cNvPr>
          <p:cNvSpPr>
            <a:spLocks noGrp="1"/>
          </p:cNvSpPr>
          <p:nvPr/>
        </p:nvSpPr>
        <p:spPr>
          <a:xfrm>
            <a:off x="5010912" y="3886200"/>
            <a:ext cx="320040" cy="320040"/>
          </a:xfrm>
          <a:prstGeom prst="ellipse">
            <a:avLst/>
          </a:prstGeom>
          <a:solidFill>
            <a:srgbClr val="C0392B"/>
          </a:solidFill>
          <a:ln w="12700">
            <a:solidFill>
              <a:srgbClr val="C0392B"/>
            </a:solidFill>
            <a:prstDash val="solid"/>
          </a:ln>
        </p:spPr>
      </p:sp>
      <p:sp>
        <p:nvSpPr>
          <p:cNvPr id="21" name="Text 19">
            <a:extLst>
              <a:ext uri="{FF2B5EF4-FFF2-40B4-BE49-F238E27FC236}">
                <a16:creationId xmlns:a16="http://schemas.microsoft.com/office/drawing/2014/main" id="{B1DD3CB8-AA6B-48FA-B722-4F12B7C61343}"/>
              </a:ext>
            </a:extLst>
          </p:cNvPr>
          <p:cNvSpPr>
            <a:spLocks noGrp="1"/>
          </p:cNvSpPr>
          <p:nvPr/>
        </p:nvSpPr>
        <p:spPr>
          <a:xfrm>
            <a:off x="5486400" y="3776472"/>
            <a:ext cx="3017520" cy="292608"/>
          </a:xfrm>
          <a:prstGeom prst="rect">
            <a:avLst/>
          </a:prstGeom>
          <a:noFill/>
        </p:spPr>
        <p:txBody>
          <a:bodyPr wrap="square" lIns="0" tIns="0" rIns="0" bIns="0" anchor="t"/>
          <a:lstStyle/>
          <a:p>
            <a:pPr marL="0" indent="0">
              <a:buNone/>
            </a:pPr>
            <a:r>
              <a:rPr sz="1500" b="1">
                <a:solidFill>
                  <a:srgbClr val="1F2A36"/>
                </a:solidFill>
              </a:rPr>
              <a:t>3  Danger</a:t>
            </a:r>
            <a:endParaRPr sz="1500"/>
          </a:p>
        </p:txBody>
      </p:sp>
      <p:sp>
        <p:nvSpPr>
          <p:cNvPr id="22" name="Text 20">
            <a:extLst>
              <a:ext uri="{FF2B5EF4-FFF2-40B4-BE49-F238E27FC236}">
                <a16:creationId xmlns:a16="http://schemas.microsoft.com/office/drawing/2014/main" id="{3DB3BC70-41B4-4A00-B595-285A256C628F}"/>
              </a:ext>
            </a:extLst>
          </p:cNvPr>
          <p:cNvSpPr>
            <a:spLocks noGrp="1"/>
          </p:cNvSpPr>
          <p:nvPr/>
        </p:nvSpPr>
        <p:spPr>
          <a:xfrm>
            <a:off x="5486400" y="4069080"/>
            <a:ext cx="3017520" cy="274320"/>
          </a:xfrm>
          <a:prstGeom prst="rect">
            <a:avLst/>
          </a:prstGeom>
          <a:noFill/>
        </p:spPr>
        <p:txBody>
          <a:bodyPr wrap="square" lIns="0" tIns="0" rIns="0" bIns="0" anchor="t"/>
          <a:lstStyle/>
          <a:p>
            <a:pPr marL="0" indent="0">
              <a:buNone/>
            </a:pPr>
            <a:r>
              <a:rPr sz="1200" dirty="0">
                <a:solidFill>
                  <a:srgbClr val="5F6B7A"/>
                </a:solidFill>
              </a:rPr>
              <a:t>5 in a row → pull over</a:t>
            </a:r>
            <a:endParaRPr sz="1200" dirty="0"/>
          </a:p>
        </p:txBody>
      </p:sp>
      <p:sp>
        <p:nvSpPr>
          <p:cNvPr id="25" name="Slide Number Placeholder 0">
            <a:extLst>
              <a:ext uri="{FF2B5EF4-FFF2-40B4-BE49-F238E27FC236}">
                <a16:creationId xmlns:a16="http://schemas.microsoft.com/office/drawing/2014/main" id="{182632FA-C71E-4956-9EE7-1BDDF1938A8B}"/>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9</a:t>
            </a:fld>
            <a:endParaRPr/>
          </a:p>
        </p:txBody>
      </p:sp>
    </p:spTree>
    <p:extLst>
      <p:ext uri="{BB962C8B-B14F-4D97-AF65-F5344CB8AC3E}">
        <p14:creationId xmlns:p14="http://schemas.microsoft.com/office/powerpoint/2010/main" val="1289881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8FE3081-479C-4135-9181-EFE2782AF259}"/>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Results: Training Progress</a:t>
            </a:r>
            <a:endParaRPr sz="3000"/>
          </a:p>
        </p:txBody>
      </p:sp>
      <p:sp>
        <p:nvSpPr>
          <p:cNvPr id="4" name="Text 1">
            <a:extLst>
              <a:ext uri="{FF2B5EF4-FFF2-40B4-BE49-F238E27FC236}">
                <a16:creationId xmlns:a16="http://schemas.microsoft.com/office/drawing/2014/main" id="{C88197B0-D085-4261-A0E2-46A4DE9AB3BA}"/>
              </a:ext>
            </a:extLst>
          </p:cNvPr>
          <p:cNvSpPr>
            <a:spLocks noGrp="1"/>
          </p:cNvSpPr>
          <p:nvPr/>
        </p:nvSpPr>
        <p:spPr>
          <a:xfrm>
            <a:off x="6217920" y="1280160"/>
            <a:ext cx="2468880" cy="731520"/>
          </a:xfrm>
          <a:prstGeom prst="rect">
            <a:avLst/>
          </a:prstGeom>
          <a:noFill/>
        </p:spPr>
        <p:txBody>
          <a:bodyPr wrap="square" lIns="0" tIns="0" rIns="0" bIns="0" anchor="t"/>
          <a:lstStyle/>
          <a:p>
            <a:pPr marL="0" indent="0">
              <a:buNone/>
            </a:pPr>
            <a:r>
              <a:rPr sz="4400" b="1">
                <a:solidFill>
                  <a:srgbClr val="2E8B57"/>
                </a:solidFill>
              </a:rPr>
              <a:t>85.4%</a:t>
            </a:r>
            <a:endParaRPr sz="4400"/>
          </a:p>
        </p:txBody>
      </p:sp>
      <p:sp>
        <p:nvSpPr>
          <p:cNvPr id="5" name="Text 2">
            <a:extLst>
              <a:ext uri="{FF2B5EF4-FFF2-40B4-BE49-F238E27FC236}">
                <a16:creationId xmlns:a16="http://schemas.microsoft.com/office/drawing/2014/main" id="{17D3FBD4-53D1-455B-9DBB-A7C989B81480}"/>
              </a:ext>
            </a:extLst>
          </p:cNvPr>
          <p:cNvSpPr>
            <a:spLocks noGrp="1"/>
          </p:cNvSpPr>
          <p:nvPr/>
        </p:nvSpPr>
        <p:spPr>
          <a:xfrm>
            <a:off x="6217920" y="2011680"/>
            <a:ext cx="2468880" cy="457200"/>
          </a:xfrm>
          <a:prstGeom prst="rect">
            <a:avLst/>
          </a:prstGeom>
          <a:noFill/>
        </p:spPr>
        <p:txBody>
          <a:bodyPr wrap="square" lIns="0" tIns="0" rIns="0" bIns="0" anchor="t"/>
          <a:lstStyle/>
          <a:p>
            <a:pPr marL="0" indent="0">
              <a:buNone/>
            </a:pPr>
            <a:r>
              <a:rPr sz="1400">
                <a:solidFill>
                  <a:srgbClr val="5F6B7A"/>
                </a:solidFill>
              </a:rPr>
              <a:t>best validation top-1 accuracy, reached at epoch 15</a:t>
            </a:r>
            <a:endParaRPr sz="1400"/>
          </a:p>
        </p:txBody>
      </p:sp>
      <p:sp>
        <p:nvSpPr>
          <p:cNvPr id="6" name="Text 3">
            <a:extLst>
              <a:ext uri="{FF2B5EF4-FFF2-40B4-BE49-F238E27FC236}">
                <a16:creationId xmlns:a16="http://schemas.microsoft.com/office/drawing/2014/main" id="{5C96F91A-3C72-4316-9DD1-5BAAFE98A30D}"/>
              </a:ext>
            </a:extLst>
          </p:cNvPr>
          <p:cNvSpPr>
            <a:spLocks noGrp="1"/>
          </p:cNvSpPr>
          <p:nvPr/>
        </p:nvSpPr>
        <p:spPr>
          <a:xfrm>
            <a:off x="6217920" y="2743200"/>
            <a:ext cx="2468880" cy="1828800"/>
          </a:xfrm>
          <a:prstGeom prst="rect">
            <a:avLst/>
          </a:prstGeom>
          <a:noFill/>
        </p:spPr>
        <p:txBody>
          <a:bodyPr wrap="square" lIns="0" tIns="0" rIns="0" bIns="0" anchor="t"/>
          <a:lstStyle/>
          <a:p>
            <a:pPr marL="342900" indent="-342900">
              <a:spcAft>
                <a:spcPts val="800"/>
              </a:spcAft>
              <a:buSzPct val="100000"/>
              <a:buChar char="•"/>
            </a:pPr>
            <a:r>
              <a:rPr sz="1300">
                <a:solidFill>
                  <a:srgbClr val="222831"/>
                </a:solidFill>
              </a:rPr>
              <a:t>Training used 50 maximum epochs and early stopped at 25. Validation loss: 0.5275 at epoch 1, minimum 0.4174 at epoch 22, and 0.4624 at epoch 25.</a:t>
            </a:r>
            <a:endParaRPr sz="1300"/>
          </a:p>
        </p:txBody>
      </p:sp>
      <p:sp>
        <p:nvSpPr>
          <p:cNvPr id="25" name="Slide Number Placeholder 0">
            <a:extLst>
              <a:ext uri="{FF2B5EF4-FFF2-40B4-BE49-F238E27FC236}">
                <a16:creationId xmlns:a16="http://schemas.microsoft.com/office/drawing/2014/main" id="{0DB70F78-0615-4319-930A-D557B5CA794A}"/>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10</a:t>
            </a:fld>
            <a:endParaRPr/>
          </a:p>
        </p:txBody>
      </p:sp>
      <p:pic>
        <p:nvPicPr>
          <p:cNvPr id="26" name="Graphic 25">
            <a:extLst>
              <a:ext uri="{FF2B5EF4-FFF2-40B4-BE49-F238E27FC236}">
                <a16:creationId xmlns:a16="http://schemas.microsoft.com/office/drawing/2014/main" id="{64452093-696A-441F-B8AD-A9E62F48271B}"/>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365760" y="1097280"/>
            <a:ext cx="5486400" cy="3566160"/>
          </a:xfrm>
          <a:prstGeom prst="rect">
            <a:avLst/>
          </a:prstGeom>
        </p:spPr>
      </p:pic>
    </p:spTree>
    <p:extLst>
      <p:ext uri="{BB962C8B-B14F-4D97-AF65-F5344CB8AC3E}">
        <p14:creationId xmlns:p14="http://schemas.microsoft.com/office/powerpoint/2010/main" val="391746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31C42EE-B3F0-42B2-8369-253B36C93315}"/>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Results: Where the Model Gets It Right and Wrong</a:t>
            </a:r>
            <a:endParaRPr sz="3000"/>
          </a:p>
        </p:txBody>
      </p:sp>
      <p:graphicFrame>
        <p:nvGraphicFramePr>
          <p:cNvPr id="12" name="Table 0">
            <a:extLst>
              <a:ext uri="{FF2B5EF4-FFF2-40B4-BE49-F238E27FC236}">
                <a16:creationId xmlns:a16="http://schemas.microsoft.com/office/drawing/2014/main" id="{3B887192-E79C-420C-8962-2DB7DEA81675}"/>
              </a:ext>
            </a:extLst>
          </p:cNvPr>
          <p:cNvGraphicFramePr/>
          <p:nvPr/>
        </p:nvGraphicFramePr>
        <p:xfrm>
          <a:off x="457200" y="1280160"/>
          <a:ext cx="4389120" cy="2286000"/>
        </p:xfrm>
        <a:graphic>
          <a:graphicData uri="http://schemas.openxmlformats.org/drawingml/2006/table">
            <a:tbl>
              <a:tblPr/>
              <a:tblGrid>
                <a:gridCol w="13716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457200">
                <a:tc>
                  <a:txBody>
                    <a:bodyPr/>
                    <a:lstStyle/>
                    <a:p>
                      <a:pPr marL="0" indent="0">
                        <a:buNone/>
                      </a:pPr>
                      <a:endParaRPr sz="1300">
                        <a:latin typeface="Calibri"/>
                        <a:ea typeface="Calibri"/>
                        <a:cs typeface="Calibri"/>
                      </a:endParaRPr>
                    </a:p>
                  </a:txBody>
                  <a:tcP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FFFFF"/>
                    </a:solidFill>
                  </a:tcPr>
                </a:tc>
                <a:tc>
                  <a:txBody>
                    <a:bodyPr/>
                    <a:lstStyle/>
                    <a:p>
                      <a:pPr marL="0" indent="0" algn="ctr">
                        <a:buNone/>
                      </a:pPr>
                      <a:r>
                        <a:rPr sz="1300" b="1" dirty="0">
                          <a:solidFill>
                            <a:srgbClr val="FFFFFF"/>
                          </a:solidFill>
                          <a:latin typeface="Calibri"/>
                          <a:ea typeface="Calibri"/>
                          <a:cs typeface="Calibri"/>
                        </a:rPr>
                        <a:t>Predicted Alert</a:t>
                      </a:r>
                      <a:endParaRPr sz="1300" dirty="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1F2A36"/>
                    </a:solidFill>
                  </a:tcPr>
                </a:tc>
                <a:tc>
                  <a:txBody>
                    <a:bodyPr/>
                    <a:lstStyle/>
                    <a:p>
                      <a:pPr marL="0" indent="0" algn="ctr">
                        <a:buNone/>
                      </a:pPr>
                      <a:r>
                        <a:rPr sz="1300" b="1">
                          <a:solidFill>
                            <a:srgbClr val="FFFFFF"/>
                          </a:solidFill>
                          <a:latin typeface="Calibri"/>
                          <a:ea typeface="Calibri"/>
                          <a:cs typeface="Calibri"/>
                        </a:rPr>
                        <a:t>Predicted Drowsy</a:t>
                      </a:r>
                      <a:endParaRPr sz="130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1F2A36"/>
                    </a:solidFill>
                  </a:tcPr>
                </a:tc>
                <a:extLst>
                  <a:ext uri="{0D108BD9-81ED-4DB2-BD59-A6C34878D82A}">
                    <a16:rowId xmlns:a16="http://schemas.microsoft.com/office/drawing/2014/main" val="10000"/>
                  </a:ext>
                </a:extLst>
              </a:tr>
              <a:tr h="914400">
                <a:tc>
                  <a:txBody>
                    <a:bodyPr/>
                    <a:lstStyle/>
                    <a:p>
                      <a:pPr marL="0" indent="0" algn="ctr">
                        <a:buNone/>
                      </a:pPr>
                      <a:r>
                        <a:rPr sz="1300" b="1">
                          <a:solidFill>
                            <a:srgbClr val="1F2A36"/>
                          </a:solidFill>
                          <a:latin typeface="Calibri"/>
                          <a:ea typeface="Calibri"/>
                          <a:cs typeface="Calibri"/>
                        </a:rPr>
                        <a:t>Actually Alert</a:t>
                      </a:r>
                      <a:endParaRPr sz="130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1F3F5"/>
                    </a:solidFill>
                  </a:tcPr>
                </a:tc>
                <a:tc>
                  <a:txBody>
                    <a:bodyPr/>
                    <a:lstStyle/>
                    <a:p>
                      <a:pPr marL="0" indent="0" algn="ctr">
                        <a:buNone/>
                      </a:pPr>
                      <a:r>
                        <a:rPr sz="2200" b="1" dirty="0">
                          <a:solidFill>
                            <a:srgbClr val="FFFFFF"/>
                          </a:solidFill>
                          <a:latin typeface="Calibri"/>
                          <a:ea typeface="Calibri"/>
                          <a:cs typeface="Calibri"/>
                        </a:rPr>
                        <a:t>897</a:t>
                      </a:r>
                      <a:endParaRPr sz="2200" dirty="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2E8B57"/>
                    </a:solidFill>
                  </a:tcPr>
                </a:tc>
                <a:tc>
                  <a:txBody>
                    <a:bodyPr/>
                    <a:lstStyle/>
                    <a:p>
                      <a:pPr marL="0" indent="0" algn="ctr">
                        <a:buNone/>
                      </a:pPr>
                      <a:r>
                        <a:rPr sz="2200" b="1" dirty="0">
                          <a:solidFill>
                            <a:srgbClr val="C0392B"/>
                          </a:solidFill>
                          <a:latin typeface="Calibri"/>
                          <a:ea typeface="Calibri"/>
                          <a:cs typeface="Calibri"/>
                        </a:rPr>
                        <a:t>15</a:t>
                      </a:r>
                      <a:endParaRPr sz="2200" dirty="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BEAEA"/>
                    </a:solidFill>
                  </a:tcPr>
                </a:tc>
                <a:extLst>
                  <a:ext uri="{0D108BD9-81ED-4DB2-BD59-A6C34878D82A}">
                    <a16:rowId xmlns:a16="http://schemas.microsoft.com/office/drawing/2014/main" val="10001"/>
                  </a:ext>
                </a:extLst>
              </a:tr>
              <a:tr h="914400">
                <a:tc>
                  <a:txBody>
                    <a:bodyPr/>
                    <a:lstStyle/>
                    <a:p>
                      <a:pPr marL="0" indent="0" algn="ctr">
                        <a:buNone/>
                      </a:pPr>
                      <a:r>
                        <a:rPr sz="1300" b="1" dirty="0">
                          <a:solidFill>
                            <a:srgbClr val="1F2A36"/>
                          </a:solidFill>
                          <a:latin typeface="Calibri"/>
                          <a:ea typeface="Calibri"/>
                          <a:cs typeface="Calibri"/>
                        </a:rPr>
                        <a:t>Actually Drowsy</a:t>
                      </a:r>
                      <a:endParaRPr sz="1300" dirty="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1F3F5"/>
                    </a:solidFill>
                  </a:tcPr>
                </a:tc>
                <a:tc>
                  <a:txBody>
                    <a:bodyPr/>
                    <a:lstStyle/>
                    <a:p>
                      <a:pPr marL="0" indent="0" algn="ctr">
                        <a:buNone/>
                      </a:pPr>
                      <a:r>
                        <a:rPr sz="2200" b="1" dirty="0">
                          <a:solidFill>
                            <a:srgbClr val="C0392B"/>
                          </a:solidFill>
                          <a:latin typeface="Calibri"/>
                          <a:ea typeface="Calibri"/>
                          <a:cs typeface="Calibri"/>
                        </a:rPr>
                        <a:t>253</a:t>
                      </a:r>
                      <a:endParaRPr sz="2200" dirty="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BEAEA"/>
                    </a:solidFill>
                  </a:tcPr>
                </a:tc>
                <a:tc>
                  <a:txBody>
                    <a:bodyPr/>
                    <a:lstStyle/>
                    <a:p>
                      <a:pPr marL="0" indent="0" algn="ctr">
                        <a:buNone/>
                      </a:pPr>
                      <a:r>
                        <a:rPr sz="2200" b="1" dirty="0">
                          <a:solidFill>
                            <a:srgbClr val="FFFFFF"/>
                          </a:solidFill>
                          <a:latin typeface="Calibri"/>
                          <a:ea typeface="Calibri"/>
                          <a:cs typeface="Calibri"/>
                        </a:rPr>
                        <a:t>659</a:t>
                      </a:r>
                      <a:endParaRPr sz="2200" dirty="0">
                        <a:latin typeface="Calibri"/>
                        <a:ea typeface="Calibri"/>
                        <a:cs typeface="Calibri"/>
                      </a:endParaRPr>
                    </a:p>
                  </a:txBody>
                  <a:tcPr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2E8B57"/>
                    </a:solidFill>
                  </a:tcPr>
                </a:tc>
                <a:extLst>
                  <a:ext uri="{0D108BD9-81ED-4DB2-BD59-A6C34878D82A}">
                    <a16:rowId xmlns:a16="http://schemas.microsoft.com/office/drawing/2014/main" val="10002"/>
                  </a:ext>
                </a:extLst>
              </a:tr>
            </a:tbl>
          </a:graphicData>
        </a:graphic>
      </p:graphicFrame>
      <p:sp>
        <p:nvSpPr>
          <p:cNvPr id="4" name="Text 1">
            <a:extLst>
              <a:ext uri="{FF2B5EF4-FFF2-40B4-BE49-F238E27FC236}">
                <a16:creationId xmlns:a16="http://schemas.microsoft.com/office/drawing/2014/main" id="{FC20BA3B-B88A-4639-A6F2-6AD2B0C74006}"/>
              </a:ext>
            </a:extLst>
          </p:cNvPr>
          <p:cNvSpPr>
            <a:spLocks noGrp="1"/>
          </p:cNvSpPr>
          <p:nvPr/>
        </p:nvSpPr>
        <p:spPr>
          <a:xfrm>
            <a:off x="457200" y="3703320"/>
            <a:ext cx="4389120" cy="274320"/>
          </a:xfrm>
          <a:prstGeom prst="rect">
            <a:avLst/>
          </a:prstGeom>
          <a:noFill/>
        </p:spPr>
        <p:txBody>
          <a:bodyPr wrap="square" lIns="0" tIns="0" rIns="0" bIns="0" anchor="t"/>
          <a:lstStyle/>
          <a:p>
            <a:pPr marL="0" indent="0">
              <a:buNone/>
            </a:pPr>
            <a:r>
              <a:rPr sz="1100" i="1">
                <a:solidFill>
                  <a:srgbClr val="5F6B7A"/>
                </a:solidFill>
              </a:rPr>
              <a:t>Validation set: 1,824 images; classifier cut-off 0.50</a:t>
            </a:r>
            <a:endParaRPr sz="1100"/>
          </a:p>
        </p:txBody>
      </p:sp>
      <p:sp>
        <p:nvSpPr>
          <p:cNvPr id="5" name="Shape 2">
            <a:extLst>
              <a:ext uri="{FF2B5EF4-FFF2-40B4-BE49-F238E27FC236}">
                <a16:creationId xmlns:a16="http://schemas.microsoft.com/office/drawing/2014/main" id="{B1541F6D-983E-43D1-901A-6C67D0E0136C}"/>
              </a:ext>
            </a:extLst>
          </p:cNvPr>
          <p:cNvSpPr>
            <a:spLocks noGrp="1"/>
          </p:cNvSpPr>
          <p:nvPr/>
        </p:nvSpPr>
        <p:spPr>
          <a:xfrm>
            <a:off x="5303520" y="1280160"/>
            <a:ext cx="1600200" cy="1005840"/>
          </a:xfrm>
          <a:prstGeom prst="roundRect">
            <a:avLst>
              <a:gd name="adj" fmla="val 7273"/>
            </a:avLst>
          </a:prstGeom>
          <a:solidFill>
            <a:srgbClr val="F1F3F5"/>
          </a:solidFill>
          <a:ln w="12700">
            <a:solidFill>
              <a:srgbClr val="F1F3F5"/>
            </a:solidFill>
            <a:prstDash val="solid"/>
          </a:ln>
        </p:spPr>
      </p:sp>
      <p:sp>
        <p:nvSpPr>
          <p:cNvPr id="6" name="Text 3">
            <a:extLst>
              <a:ext uri="{FF2B5EF4-FFF2-40B4-BE49-F238E27FC236}">
                <a16:creationId xmlns:a16="http://schemas.microsoft.com/office/drawing/2014/main" id="{F75E4ED4-29C6-4CD0-9FC3-27D9B9014D79}"/>
              </a:ext>
            </a:extLst>
          </p:cNvPr>
          <p:cNvSpPr>
            <a:spLocks noGrp="1"/>
          </p:cNvSpPr>
          <p:nvPr/>
        </p:nvSpPr>
        <p:spPr>
          <a:xfrm>
            <a:off x="5303520" y="1389888"/>
            <a:ext cx="1600200" cy="502920"/>
          </a:xfrm>
          <a:prstGeom prst="rect">
            <a:avLst/>
          </a:prstGeom>
          <a:noFill/>
        </p:spPr>
        <p:txBody>
          <a:bodyPr wrap="square" lIns="0" tIns="0" rIns="0" bIns="0" anchor="t"/>
          <a:lstStyle/>
          <a:p>
            <a:pPr marL="0" indent="0" algn="ctr">
              <a:buNone/>
            </a:pPr>
            <a:r>
              <a:rPr sz="2400" b="1">
                <a:solidFill>
                  <a:srgbClr val="1F2A36"/>
                </a:solidFill>
              </a:rPr>
              <a:t>85.3%</a:t>
            </a:r>
            <a:endParaRPr sz="2400"/>
          </a:p>
        </p:txBody>
      </p:sp>
      <p:sp>
        <p:nvSpPr>
          <p:cNvPr id="7" name="Text 4">
            <a:extLst>
              <a:ext uri="{FF2B5EF4-FFF2-40B4-BE49-F238E27FC236}">
                <a16:creationId xmlns:a16="http://schemas.microsoft.com/office/drawing/2014/main" id="{CA6CD9AC-45D2-4FD9-ADEC-64F9A78612DF}"/>
              </a:ext>
            </a:extLst>
          </p:cNvPr>
          <p:cNvSpPr>
            <a:spLocks noGrp="1"/>
          </p:cNvSpPr>
          <p:nvPr/>
        </p:nvSpPr>
        <p:spPr>
          <a:xfrm>
            <a:off x="5303520" y="1920240"/>
            <a:ext cx="1600200" cy="274320"/>
          </a:xfrm>
          <a:prstGeom prst="rect">
            <a:avLst/>
          </a:prstGeom>
          <a:noFill/>
        </p:spPr>
        <p:txBody>
          <a:bodyPr wrap="square" lIns="0" tIns="0" rIns="0" bIns="0" anchor="t"/>
          <a:lstStyle/>
          <a:p>
            <a:pPr marL="0" indent="0" algn="ctr">
              <a:buNone/>
            </a:pPr>
            <a:r>
              <a:rPr sz="1200" dirty="0">
                <a:solidFill>
                  <a:srgbClr val="5F6B7A"/>
                </a:solidFill>
              </a:rPr>
              <a:t>Overall accuracy</a:t>
            </a:r>
            <a:endParaRPr sz="1200" dirty="0"/>
          </a:p>
        </p:txBody>
      </p:sp>
      <p:sp>
        <p:nvSpPr>
          <p:cNvPr id="8" name="Shape 5">
            <a:extLst>
              <a:ext uri="{FF2B5EF4-FFF2-40B4-BE49-F238E27FC236}">
                <a16:creationId xmlns:a16="http://schemas.microsoft.com/office/drawing/2014/main" id="{F3D896F7-43F7-4D30-8D7F-6FBBD07A5DFF}"/>
              </a:ext>
            </a:extLst>
          </p:cNvPr>
          <p:cNvSpPr>
            <a:spLocks noGrp="1"/>
          </p:cNvSpPr>
          <p:nvPr/>
        </p:nvSpPr>
        <p:spPr>
          <a:xfrm>
            <a:off x="7040880" y="1280160"/>
            <a:ext cx="1600200" cy="1005840"/>
          </a:xfrm>
          <a:prstGeom prst="roundRect">
            <a:avLst>
              <a:gd name="adj" fmla="val 7273"/>
            </a:avLst>
          </a:prstGeom>
          <a:solidFill>
            <a:srgbClr val="F1F3F5"/>
          </a:solidFill>
          <a:ln w="12700">
            <a:solidFill>
              <a:srgbClr val="F1F3F5"/>
            </a:solidFill>
            <a:prstDash val="solid"/>
          </a:ln>
        </p:spPr>
      </p:sp>
      <p:sp>
        <p:nvSpPr>
          <p:cNvPr id="9" name="Text 6">
            <a:extLst>
              <a:ext uri="{FF2B5EF4-FFF2-40B4-BE49-F238E27FC236}">
                <a16:creationId xmlns:a16="http://schemas.microsoft.com/office/drawing/2014/main" id="{D827ECCE-3EC9-44F5-B8A3-D4CD0284B5B7}"/>
              </a:ext>
            </a:extLst>
          </p:cNvPr>
          <p:cNvSpPr>
            <a:spLocks noGrp="1"/>
          </p:cNvSpPr>
          <p:nvPr/>
        </p:nvSpPr>
        <p:spPr>
          <a:xfrm>
            <a:off x="7040880" y="1389888"/>
            <a:ext cx="1600200" cy="502920"/>
          </a:xfrm>
          <a:prstGeom prst="rect">
            <a:avLst/>
          </a:prstGeom>
          <a:noFill/>
        </p:spPr>
        <p:txBody>
          <a:bodyPr wrap="square" lIns="0" tIns="0" rIns="0" bIns="0" anchor="t"/>
          <a:lstStyle/>
          <a:p>
            <a:pPr marL="0" indent="0" algn="ctr">
              <a:buNone/>
            </a:pPr>
            <a:r>
              <a:rPr sz="2400" b="1">
                <a:solidFill>
                  <a:srgbClr val="2E8B57"/>
                </a:solidFill>
              </a:rPr>
              <a:t>97.8%</a:t>
            </a:r>
            <a:endParaRPr sz="2400"/>
          </a:p>
        </p:txBody>
      </p:sp>
      <p:sp>
        <p:nvSpPr>
          <p:cNvPr id="10" name="Text 7">
            <a:extLst>
              <a:ext uri="{FF2B5EF4-FFF2-40B4-BE49-F238E27FC236}">
                <a16:creationId xmlns:a16="http://schemas.microsoft.com/office/drawing/2014/main" id="{A76BF8AA-AF9E-403F-AC63-4D97AF135B84}"/>
              </a:ext>
            </a:extLst>
          </p:cNvPr>
          <p:cNvSpPr>
            <a:spLocks noGrp="1"/>
          </p:cNvSpPr>
          <p:nvPr/>
        </p:nvSpPr>
        <p:spPr>
          <a:xfrm>
            <a:off x="7040880" y="1920240"/>
            <a:ext cx="1600200" cy="274320"/>
          </a:xfrm>
          <a:prstGeom prst="rect">
            <a:avLst/>
          </a:prstGeom>
          <a:noFill/>
        </p:spPr>
        <p:txBody>
          <a:bodyPr wrap="square" lIns="0" tIns="0" rIns="0" bIns="0" anchor="t"/>
          <a:lstStyle/>
          <a:p>
            <a:pPr marL="0" indent="0" algn="ctr">
              <a:buNone/>
            </a:pPr>
            <a:r>
              <a:rPr sz="1200" dirty="0">
                <a:solidFill>
                  <a:srgbClr val="5F6B7A"/>
                </a:solidFill>
              </a:rPr>
              <a:t>Drowsy precision</a:t>
            </a:r>
            <a:endParaRPr sz="1200" dirty="0"/>
          </a:p>
        </p:txBody>
      </p:sp>
      <p:sp>
        <p:nvSpPr>
          <p:cNvPr id="11" name="Shape 8">
            <a:extLst>
              <a:ext uri="{FF2B5EF4-FFF2-40B4-BE49-F238E27FC236}">
                <a16:creationId xmlns:a16="http://schemas.microsoft.com/office/drawing/2014/main" id="{FD5BC2CE-4439-49C8-9FC5-300F19BE5692}"/>
              </a:ext>
            </a:extLst>
          </p:cNvPr>
          <p:cNvSpPr>
            <a:spLocks noGrp="1"/>
          </p:cNvSpPr>
          <p:nvPr/>
        </p:nvSpPr>
        <p:spPr>
          <a:xfrm>
            <a:off x="5303520" y="2468880"/>
            <a:ext cx="1600200" cy="1005840"/>
          </a:xfrm>
          <a:prstGeom prst="roundRect">
            <a:avLst>
              <a:gd name="adj" fmla="val 7273"/>
            </a:avLst>
          </a:prstGeom>
          <a:solidFill>
            <a:srgbClr val="F1F3F5"/>
          </a:solidFill>
          <a:ln w="12700">
            <a:solidFill>
              <a:srgbClr val="F1F3F5"/>
            </a:solidFill>
            <a:prstDash val="solid"/>
          </a:ln>
        </p:spPr>
      </p:sp>
      <p:sp>
        <p:nvSpPr>
          <p:cNvPr id="26" name="Text 9">
            <a:extLst>
              <a:ext uri="{FF2B5EF4-FFF2-40B4-BE49-F238E27FC236}">
                <a16:creationId xmlns:a16="http://schemas.microsoft.com/office/drawing/2014/main" id="{087AC189-6147-47FF-A658-D49EEECF1F94}"/>
              </a:ext>
            </a:extLst>
          </p:cNvPr>
          <p:cNvSpPr>
            <a:spLocks noGrp="1"/>
          </p:cNvSpPr>
          <p:nvPr/>
        </p:nvSpPr>
        <p:spPr>
          <a:xfrm>
            <a:off x="5303520" y="2578608"/>
            <a:ext cx="1600200" cy="502920"/>
          </a:xfrm>
          <a:prstGeom prst="rect">
            <a:avLst/>
          </a:prstGeom>
          <a:noFill/>
        </p:spPr>
        <p:txBody>
          <a:bodyPr wrap="square" lIns="0" tIns="0" rIns="0" bIns="0" anchor="t"/>
          <a:lstStyle/>
          <a:p>
            <a:pPr marL="0" indent="0" algn="ctr">
              <a:buNone/>
            </a:pPr>
            <a:r>
              <a:rPr sz="2400" b="1">
                <a:solidFill>
                  <a:srgbClr val="E67E22"/>
                </a:solidFill>
              </a:rPr>
              <a:t>72.3%</a:t>
            </a:r>
            <a:endParaRPr sz="2400"/>
          </a:p>
        </p:txBody>
      </p:sp>
      <p:sp>
        <p:nvSpPr>
          <p:cNvPr id="13" name="Text 10">
            <a:extLst>
              <a:ext uri="{FF2B5EF4-FFF2-40B4-BE49-F238E27FC236}">
                <a16:creationId xmlns:a16="http://schemas.microsoft.com/office/drawing/2014/main" id="{85E0B8FE-47BA-4E28-9AD7-7AA9FB4FDE72}"/>
              </a:ext>
            </a:extLst>
          </p:cNvPr>
          <p:cNvSpPr>
            <a:spLocks noGrp="1"/>
          </p:cNvSpPr>
          <p:nvPr/>
        </p:nvSpPr>
        <p:spPr>
          <a:xfrm>
            <a:off x="5303520" y="3108960"/>
            <a:ext cx="1600200" cy="274320"/>
          </a:xfrm>
          <a:prstGeom prst="rect">
            <a:avLst/>
          </a:prstGeom>
          <a:noFill/>
        </p:spPr>
        <p:txBody>
          <a:bodyPr wrap="square" lIns="0" tIns="0" rIns="0" bIns="0" anchor="t"/>
          <a:lstStyle/>
          <a:p>
            <a:pPr marL="0" indent="0" algn="ctr">
              <a:buNone/>
            </a:pPr>
            <a:r>
              <a:rPr sz="1200">
                <a:solidFill>
                  <a:srgbClr val="5F6B7A"/>
                </a:solidFill>
              </a:rPr>
              <a:t>Drowsy recall</a:t>
            </a:r>
            <a:endParaRPr sz="1200"/>
          </a:p>
        </p:txBody>
      </p:sp>
      <p:sp>
        <p:nvSpPr>
          <p:cNvPr id="14" name="Shape 11">
            <a:extLst>
              <a:ext uri="{FF2B5EF4-FFF2-40B4-BE49-F238E27FC236}">
                <a16:creationId xmlns:a16="http://schemas.microsoft.com/office/drawing/2014/main" id="{CAD64911-43F5-4B30-8AF8-43C6D0286E7C}"/>
              </a:ext>
            </a:extLst>
          </p:cNvPr>
          <p:cNvSpPr>
            <a:spLocks noGrp="1"/>
          </p:cNvSpPr>
          <p:nvPr/>
        </p:nvSpPr>
        <p:spPr>
          <a:xfrm>
            <a:off x="7040880" y="2468880"/>
            <a:ext cx="1600200" cy="1005840"/>
          </a:xfrm>
          <a:prstGeom prst="roundRect">
            <a:avLst>
              <a:gd name="adj" fmla="val 7273"/>
            </a:avLst>
          </a:prstGeom>
          <a:solidFill>
            <a:srgbClr val="F1F3F5"/>
          </a:solidFill>
          <a:ln w="12700">
            <a:solidFill>
              <a:srgbClr val="F1F3F5"/>
            </a:solidFill>
            <a:prstDash val="solid"/>
          </a:ln>
        </p:spPr>
      </p:sp>
      <p:sp>
        <p:nvSpPr>
          <p:cNvPr id="15" name="Text 12">
            <a:extLst>
              <a:ext uri="{FF2B5EF4-FFF2-40B4-BE49-F238E27FC236}">
                <a16:creationId xmlns:a16="http://schemas.microsoft.com/office/drawing/2014/main" id="{58B6B197-19CD-412D-94D1-ADD81364F921}"/>
              </a:ext>
            </a:extLst>
          </p:cNvPr>
          <p:cNvSpPr>
            <a:spLocks noGrp="1"/>
          </p:cNvSpPr>
          <p:nvPr/>
        </p:nvSpPr>
        <p:spPr>
          <a:xfrm>
            <a:off x="7040880" y="2578608"/>
            <a:ext cx="1600200" cy="502920"/>
          </a:xfrm>
          <a:prstGeom prst="rect">
            <a:avLst/>
          </a:prstGeom>
          <a:noFill/>
        </p:spPr>
        <p:txBody>
          <a:bodyPr wrap="square" lIns="0" tIns="0" rIns="0" bIns="0" anchor="t"/>
          <a:lstStyle/>
          <a:p>
            <a:pPr marL="0" indent="0" algn="ctr">
              <a:buNone/>
            </a:pPr>
            <a:r>
              <a:rPr sz="2400" b="1">
                <a:solidFill>
                  <a:srgbClr val="2E8B57"/>
                </a:solidFill>
              </a:rPr>
              <a:t>98.4%</a:t>
            </a:r>
            <a:endParaRPr sz="2400"/>
          </a:p>
        </p:txBody>
      </p:sp>
      <p:sp>
        <p:nvSpPr>
          <p:cNvPr id="16" name="Text 13">
            <a:extLst>
              <a:ext uri="{FF2B5EF4-FFF2-40B4-BE49-F238E27FC236}">
                <a16:creationId xmlns:a16="http://schemas.microsoft.com/office/drawing/2014/main" id="{FA5C9293-4A22-41E0-AEC2-B991089C140D}"/>
              </a:ext>
            </a:extLst>
          </p:cNvPr>
          <p:cNvSpPr>
            <a:spLocks noGrp="1"/>
          </p:cNvSpPr>
          <p:nvPr/>
        </p:nvSpPr>
        <p:spPr>
          <a:xfrm>
            <a:off x="7040880" y="3108960"/>
            <a:ext cx="1600200" cy="274320"/>
          </a:xfrm>
          <a:prstGeom prst="rect">
            <a:avLst/>
          </a:prstGeom>
          <a:noFill/>
        </p:spPr>
        <p:txBody>
          <a:bodyPr wrap="square" lIns="0" tIns="0" rIns="0" bIns="0" anchor="t"/>
          <a:lstStyle/>
          <a:p>
            <a:pPr marL="0" indent="0" algn="ctr">
              <a:buNone/>
            </a:pPr>
            <a:r>
              <a:rPr sz="1200">
                <a:solidFill>
                  <a:srgbClr val="5F6B7A"/>
                </a:solidFill>
              </a:rPr>
              <a:t>Alert recall</a:t>
            </a:r>
            <a:endParaRPr sz="1200"/>
          </a:p>
        </p:txBody>
      </p:sp>
      <p:sp>
        <p:nvSpPr>
          <p:cNvPr id="17" name="Text 14">
            <a:extLst>
              <a:ext uri="{FF2B5EF4-FFF2-40B4-BE49-F238E27FC236}">
                <a16:creationId xmlns:a16="http://schemas.microsoft.com/office/drawing/2014/main" id="{28C4B1C9-0E3A-4123-B733-A68C56708001}"/>
              </a:ext>
            </a:extLst>
          </p:cNvPr>
          <p:cNvSpPr>
            <a:spLocks noGrp="1"/>
          </p:cNvSpPr>
          <p:nvPr/>
        </p:nvSpPr>
        <p:spPr>
          <a:xfrm>
            <a:off x="457200" y="4069080"/>
            <a:ext cx="8229600" cy="594360"/>
          </a:xfrm>
          <a:prstGeom prst="rect">
            <a:avLst/>
          </a:prstGeom>
          <a:noFill/>
        </p:spPr>
        <p:txBody>
          <a:bodyPr wrap="square" lIns="0" tIns="0" rIns="0" bIns="0" anchor="t"/>
          <a:lstStyle/>
          <a:p>
            <a:pPr marL="0" indent="0">
              <a:buNone/>
            </a:pPr>
            <a:r>
              <a:rPr sz="1300">
                <a:solidFill>
                  <a:srgbClr val="222831"/>
                </a:solidFill>
              </a:rPr>
              <a:t>At the validation-tuned 0.20 threshold, the sweep measured 92.2% accuracy, 89.7% Drowsy recall and a 5.4% Alert false-alarm rate. These are validation results; held-out test top-1 was 85.37%.</a:t>
            </a:r>
            <a:endParaRPr sz="1300"/>
          </a:p>
        </p:txBody>
      </p:sp>
      <p:sp>
        <p:nvSpPr>
          <p:cNvPr id="25" name="Slide Number Placeholder 0">
            <a:extLst>
              <a:ext uri="{FF2B5EF4-FFF2-40B4-BE49-F238E27FC236}">
                <a16:creationId xmlns:a16="http://schemas.microsoft.com/office/drawing/2014/main" id="{950AAB91-D6A8-46BF-ADA1-EE3541E093DC}"/>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11</a:t>
            </a:fld>
            <a:endParaRPr/>
          </a:p>
        </p:txBody>
      </p:sp>
    </p:spTree>
    <p:extLst>
      <p:ext uri="{BB962C8B-B14F-4D97-AF65-F5344CB8AC3E}">
        <p14:creationId xmlns:p14="http://schemas.microsoft.com/office/powerpoint/2010/main" val="1966936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568FD51-E120-4C6C-A522-6291CFAE6540}"/>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Outputs</a:t>
            </a:r>
            <a:endParaRPr sz="3000"/>
          </a:p>
        </p:txBody>
      </p:sp>
      <p:pic>
        <p:nvPicPr>
          <p:cNvPr id="3" name="Image 0">
            <a:extLst>
              <a:ext uri="{FF2B5EF4-FFF2-40B4-BE49-F238E27FC236}">
                <a16:creationId xmlns:a16="http://schemas.microsoft.com/office/drawing/2014/main" id="{71E10001-77C3-4235-9C36-3B25B8E75D1D}"/>
              </a:ext>
            </a:extLst>
          </p:cNvPr>
          <p:cNvPicPr>
            <a:picLocks noChangeAspect="1"/>
          </p:cNvPicPr>
          <p:nvPr/>
        </p:nvPicPr>
        <p:blipFill>
          <a:blip r:embed="rId3"/>
          <a:stretch>
            <a:fillRect/>
          </a:stretch>
        </p:blipFill>
        <p:spPr>
          <a:xfrm>
            <a:off x="457200" y="1097280"/>
            <a:ext cx="3520440" cy="3520440"/>
          </a:xfrm>
          <a:prstGeom prst="rect">
            <a:avLst/>
          </a:prstGeom>
        </p:spPr>
      </p:pic>
      <p:sp>
        <p:nvSpPr>
          <p:cNvPr id="4" name="Text 1">
            <a:extLst>
              <a:ext uri="{FF2B5EF4-FFF2-40B4-BE49-F238E27FC236}">
                <a16:creationId xmlns:a16="http://schemas.microsoft.com/office/drawing/2014/main" id="{8E9072F8-C394-47D3-8459-152C5BD1B1E4}"/>
              </a:ext>
            </a:extLst>
          </p:cNvPr>
          <p:cNvSpPr>
            <a:spLocks noGrp="1"/>
          </p:cNvSpPr>
          <p:nvPr/>
        </p:nvSpPr>
        <p:spPr>
          <a:xfrm>
            <a:off x="457200" y="4663440"/>
            <a:ext cx="3520440" cy="274320"/>
          </a:xfrm>
          <a:prstGeom prst="rect">
            <a:avLst/>
          </a:prstGeom>
          <a:noFill/>
        </p:spPr>
        <p:txBody>
          <a:bodyPr wrap="square" lIns="0" tIns="0" rIns="0" bIns="0" anchor="t"/>
          <a:lstStyle/>
          <a:p>
            <a:pPr marL="0" indent="0">
              <a:buNone/>
            </a:pPr>
            <a:r>
              <a:rPr sz="1000" i="1">
                <a:solidFill>
                  <a:srgbClr val="5F6B7A"/>
                </a:solidFill>
              </a:rPr>
              <a:t>Model predictions on validation images (label + confidence)</a:t>
            </a:r>
            <a:endParaRPr sz="1000"/>
          </a:p>
        </p:txBody>
      </p:sp>
      <p:sp>
        <p:nvSpPr>
          <p:cNvPr id="6" name="Text 3">
            <a:extLst>
              <a:ext uri="{FF2B5EF4-FFF2-40B4-BE49-F238E27FC236}">
                <a16:creationId xmlns:a16="http://schemas.microsoft.com/office/drawing/2014/main" id="{C1DB9174-53D3-41AE-9B39-F131C878D338}"/>
              </a:ext>
            </a:extLst>
          </p:cNvPr>
          <p:cNvSpPr>
            <a:spLocks noGrp="1"/>
          </p:cNvSpPr>
          <p:nvPr/>
        </p:nvSpPr>
        <p:spPr>
          <a:xfrm>
            <a:off x="4343400" y="1104900"/>
            <a:ext cx="4343400" cy="257175"/>
          </a:xfrm>
          <a:prstGeom prst="rect">
            <a:avLst/>
          </a:prstGeom>
          <a:noFill/>
        </p:spPr>
        <p:txBody>
          <a:bodyPr wrap="square" lIns="0" tIns="0" rIns="0" bIns="0" anchor="t"/>
          <a:lstStyle/>
          <a:p>
            <a:pPr marL="0" indent="0" algn="ctr">
              <a:buNone/>
            </a:pPr>
            <a:r>
              <a:rPr sz="1400" dirty="0">
                <a:solidFill>
                  <a:srgbClr val="5F6B7A"/>
                </a:solidFill>
              </a:rPr>
              <a:t>Saved validation predictions (not a live UI capture)</a:t>
            </a:r>
            <a:endParaRPr sz="1400" dirty="0"/>
          </a:p>
        </p:txBody>
      </p:sp>
      <p:sp>
        <p:nvSpPr>
          <p:cNvPr id="7" name="Text 4">
            <a:extLst>
              <a:ext uri="{FF2B5EF4-FFF2-40B4-BE49-F238E27FC236}">
                <a16:creationId xmlns:a16="http://schemas.microsoft.com/office/drawing/2014/main" id="{2E02A45E-84C8-49D1-9A79-0E06F71FBDED}"/>
              </a:ext>
            </a:extLst>
          </p:cNvPr>
          <p:cNvSpPr>
            <a:spLocks noGrp="1"/>
          </p:cNvSpPr>
          <p:nvPr/>
        </p:nvSpPr>
        <p:spPr>
          <a:xfrm>
            <a:off x="4385511" y="3461386"/>
            <a:ext cx="4343400" cy="320040"/>
          </a:xfrm>
          <a:prstGeom prst="rect">
            <a:avLst/>
          </a:prstGeom>
          <a:noFill/>
        </p:spPr>
        <p:txBody>
          <a:bodyPr wrap="square" lIns="0" tIns="0" rIns="0" bIns="0" anchor="t"/>
          <a:lstStyle/>
          <a:p>
            <a:pPr marL="0" indent="0">
              <a:buNone/>
            </a:pPr>
            <a:r>
              <a:rPr sz="1500" b="1">
                <a:solidFill>
                  <a:srgbClr val="1F2A36"/>
                </a:solidFill>
              </a:rPr>
              <a:t>What the web app shows:</a:t>
            </a:r>
            <a:endParaRPr sz="1500"/>
          </a:p>
        </p:txBody>
      </p:sp>
      <p:sp>
        <p:nvSpPr>
          <p:cNvPr id="8" name="Text 5">
            <a:extLst>
              <a:ext uri="{FF2B5EF4-FFF2-40B4-BE49-F238E27FC236}">
                <a16:creationId xmlns:a16="http://schemas.microsoft.com/office/drawing/2014/main" id="{973AA259-5A34-479A-B1E9-02C10B3A15F8}"/>
              </a:ext>
            </a:extLst>
          </p:cNvPr>
          <p:cNvSpPr>
            <a:spLocks noGrp="1"/>
          </p:cNvSpPr>
          <p:nvPr/>
        </p:nvSpPr>
        <p:spPr>
          <a:xfrm>
            <a:off x="4343400" y="3840480"/>
            <a:ext cx="4343400" cy="914400"/>
          </a:xfrm>
          <a:prstGeom prst="rect">
            <a:avLst/>
          </a:prstGeom>
          <a:noFill/>
        </p:spPr>
        <p:txBody>
          <a:bodyPr wrap="square" lIns="0" tIns="0" rIns="0" bIns="0" anchor="t"/>
          <a:lstStyle/>
          <a:p>
            <a:pPr marL="342900" indent="-342900">
              <a:spcAft>
                <a:spcPts val="300"/>
              </a:spcAft>
              <a:buSzPct val="100000"/>
              <a:buChar char="•"/>
            </a:pPr>
            <a:r>
              <a:rPr sz="1300" dirty="0">
                <a:solidFill>
                  <a:srgbClr val="222831"/>
                </a:solidFill>
              </a:rPr>
              <a:t>Green / red status card (Alert or Drowsy) with confidence</a:t>
            </a:r>
            <a:endParaRPr sz="1300" dirty="0"/>
          </a:p>
          <a:p>
            <a:pPr marL="342900" indent="-342900">
              <a:spcAft>
                <a:spcPts val="300"/>
              </a:spcAft>
              <a:buSzPct val="100000"/>
              <a:buChar char="•"/>
            </a:pPr>
            <a:r>
              <a:rPr sz="1300" dirty="0">
                <a:solidFill>
                  <a:srgbClr val="222831"/>
                </a:solidFill>
              </a:rPr>
              <a:t>Alert level 0–3 and a short advice message</a:t>
            </a:r>
            <a:endParaRPr sz="1300" dirty="0"/>
          </a:p>
          <a:p>
            <a:pPr marL="342900" indent="-342900">
              <a:spcAft>
                <a:spcPts val="300"/>
              </a:spcAft>
              <a:buSzPct val="100000"/>
              <a:buChar char="•"/>
            </a:pPr>
            <a:r>
              <a:rPr sz="1300" dirty="0">
                <a:solidFill>
                  <a:srgbClr val="222831"/>
                </a:solidFill>
              </a:rPr>
              <a:t>Beeping alarm after 5 s of drowsiness</a:t>
            </a:r>
            <a:endParaRPr sz="1300" dirty="0"/>
          </a:p>
        </p:txBody>
      </p:sp>
      <p:sp>
        <p:nvSpPr>
          <p:cNvPr id="25" name="Slide Number Placeholder 0">
            <a:extLst>
              <a:ext uri="{FF2B5EF4-FFF2-40B4-BE49-F238E27FC236}">
                <a16:creationId xmlns:a16="http://schemas.microsoft.com/office/drawing/2014/main" id="{F3338B1D-2424-4BBE-A710-2CEE96F82155}"/>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12</a:t>
            </a:fld>
            <a:endParaRPr/>
          </a:p>
        </p:txBody>
      </p:sp>
      <p:pic>
        <p:nvPicPr>
          <p:cNvPr id="26" name="Picture 25">
            <a:extLst>
              <a:ext uri="{FF2B5EF4-FFF2-40B4-BE49-F238E27FC236}">
                <a16:creationId xmlns:a16="http://schemas.microsoft.com/office/drawing/2014/main" id="{33660C17-E23B-4B11-970D-7412432B3F71}"/>
              </a:ext>
            </a:extLst>
          </p:cNvPr>
          <p:cNvPicPr>
            <a:picLocks noChangeAspect="1"/>
          </p:cNvPicPr>
          <p:nvPr/>
        </p:nvPicPr>
        <p:blipFill>
          <a:blip r:embed="rId4"/>
          <a:stretch/>
        </p:blipFill>
        <p:spPr>
          <a:xfrm>
            <a:off x="5572125" y="1400175"/>
            <a:ext cx="1885950" cy="1885950"/>
          </a:xfrm>
          <a:prstGeom prst="rect">
            <a:avLst/>
          </a:prstGeom>
        </p:spPr>
      </p:pic>
    </p:spTree>
    <p:extLst>
      <p:ext uri="{BB962C8B-B14F-4D97-AF65-F5344CB8AC3E}">
        <p14:creationId xmlns:p14="http://schemas.microsoft.com/office/powerpoint/2010/main" val="185238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18CB9F-310F-418A-8109-5637235D177E}"/>
              </a:ext>
            </a:extLst>
          </p:cNvPr>
          <p:cNvSpPr>
            <a:spLocks noGrp="1"/>
          </p:cNvSpPr>
          <p:nvPr>
            <p:ph type="title" idx="100" hasCustomPrompt="1"/>
          </p:nvPr>
        </p:nvSpPr>
        <p:spPr>
          <a:xfrm>
            <a:off x="457200" y="274320"/>
            <a:ext cx="8229600" cy="640080"/>
          </a:xfrm>
          <a:prstGeom prst="rect">
            <a:avLst/>
          </a:prstGeom>
          <a:noFill/>
        </p:spPr>
        <p:txBody>
          <a:bodyPr wrap="square" lIns="0" tIns="0" rIns="0" bIns="0" anchor="ctr"/>
          <a:lstStyle/>
          <a:p>
            <a:pPr marL="0" indent="0">
              <a:buNone/>
            </a:pPr>
            <a:r>
              <a:rPr sz="3000" b="1">
                <a:solidFill>
                  <a:srgbClr val="1F2A36"/>
                </a:solidFill>
              </a:rPr>
              <a:t>Conclusion</a:t>
            </a:r>
            <a:endParaRPr sz="3000"/>
          </a:p>
        </p:txBody>
      </p:sp>
      <p:sp>
        <p:nvSpPr>
          <p:cNvPr id="3" name="Shape 1">
            <a:extLst>
              <a:ext uri="{FF2B5EF4-FFF2-40B4-BE49-F238E27FC236}">
                <a16:creationId xmlns:a16="http://schemas.microsoft.com/office/drawing/2014/main" id="{3C6831C9-0BFE-4DD3-A7F8-67E5D8877CF6}"/>
              </a:ext>
            </a:extLst>
          </p:cNvPr>
          <p:cNvSpPr>
            <a:spLocks noGrp="1"/>
          </p:cNvSpPr>
          <p:nvPr/>
        </p:nvSpPr>
        <p:spPr>
          <a:xfrm>
            <a:off x="457200" y="1188720"/>
            <a:ext cx="2651760" cy="3337560"/>
          </a:xfrm>
          <a:prstGeom prst="roundRect">
            <a:avLst>
              <a:gd name="adj" fmla="val 3448"/>
            </a:avLst>
          </a:prstGeom>
          <a:solidFill>
            <a:srgbClr val="F1F3F5"/>
          </a:solidFill>
          <a:ln w="12700">
            <a:solidFill>
              <a:srgbClr val="F1F3F5"/>
            </a:solidFill>
            <a:prstDash val="solid"/>
          </a:ln>
        </p:spPr>
      </p:sp>
      <p:sp>
        <p:nvSpPr>
          <p:cNvPr id="4" name="Shape 2">
            <a:extLst>
              <a:ext uri="{FF2B5EF4-FFF2-40B4-BE49-F238E27FC236}">
                <a16:creationId xmlns:a16="http://schemas.microsoft.com/office/drawing/2014/main" id="{36503FB0-C833-4473-91D2-9A95A4D83669}"/>
              </a:ext>
            </a:extLst>
          </p:cNvPr>
          <p:cNvSpPr>
            <a:spLocks noGrp="1"/>
          </p:cNvSpPr>
          <p:nvPr/>
        </p:nvSpPr>
        <p:spPr>
          <a:xfrm>
            <a:off x="640080" y="1389888"/>
            <a:ext cx="256032" cy="256032"/>
          </a:xfrm>
          <a:prstGeom prst="ellipse">
            <a:avLst/>
          </a:prstGeom>
          <a:solidFill>
            <a:srgbClr val="2E8B57"/>
          </a:solidFill>
          <a:ln w="12700">
            <a:solidFill>
              <a:srgbClr val="2E8B57"/>
            </a:solidFill>
            <a:prstDash val="solid"/>
          </a:ln>
        </p:spPr>
      </p:sp>
      <p:sp>
        <p:nvSpPr>
          <p:cNvPr id="5" name="Text 3">
            <a:extLst>
              <a:ext uri="{FF2B5EF4-FFF2-40B4-BE49-F238E27FC236}">
                <a16:creationId xmlns:a16="http://schemas.microsoft.com/office/drawing/2014/main" id="{249FA2E9-637C-4431-851C-170A354A38C1}"/>
              </a:ext>
            </a:extLst>
          </p:cNvPr>
          <p:cNvSpPr>
            <a:spLocks noGrp="1"/>
          </p:cNvSpPr>
          <p:nvPr/>
        </p:nvSpPr>
        <p:spPr>
          <a:xfrm>
            <a:off x="1005840" y="1325880"/>
            <a:ext cx="1920240" cy="384048"/>
          </a:xfrm>
          <a:prstGeom prst="rect">
            <a:avLst/>
          </a:prstGeom>
          <a:noFill/>
        </p:spPr>
        <p:txBody>
          <a:bodyPr wrap="square" lIns="0" tIns="0" rIns="0" bIns="0" anchor="ctr"/>
          <a:lstStyle/>
          <a:p>
            <a:pPr marL="0" indent="0">
              <a:buNone/>
            </a:pPr>
            <a:r>
              <a:rPr sz="1800" b="1">
                <a:solidFill>
                  <a:srgbClr val="1F2A36"/>
                </a:solidFill>
              </a:rPr>
              <a:t>What we did</a:t>
            </a:r>
            <a:endParaRPr sz="1800"/>
          </a:p>
        </p:txBody>
      </p:sp>
      <p:sp>
        <p:nvSpPr>
          <p:cNvPr id="6" name="Text 4">
            <a:extLst>
              <a:ext uri="{FF2B5EF4-FFF2-40B4-BE49-F238E27FC236}">
                <a16:creationId xmlns:a16="http://schemas.microsoft.com/office/drawing/2014/main" id="{630F6C39-6705-43A0-A1BB-D4AFC9DBC495}"/>
              </a:ext>
            </a:extLst>
          </p:cNvPr>
          <p:cNvSpPr>
            <a:spLocks noGrp="1"/>
          </p:cNvSpPr>
          <p:nvPr/>
        </p:nvSpPr>
        <p:spPr>
          <a:xfrm>
            <a:off x="640080" y="1874520"/>
            <a:ext cx="2286000" cy="2651760"/>
          </a:xfrm>
          <a:prstGeom prst="rect">
            <a:avLst/>
          </a:prstGeom>
          <a:noFill/>
        </p:spPr>
        <p:txBody>
          <a:bodyPr wrap="square" lIns="0" tIns="0" rIns="0" bIns="0" anchor="t"/>
          <a:lstStyle/>
          <a:p>
            <a:pPr marL="342900" indent="-342900">
              <a:spcAft>
                <a:spcPts val="800"/>
              </a:spcAft>
              <a:buSzPct val="100000"/>
              <a:buChar char="•"/>
            </a:pPr>
            <a:r>
              <a:rPr sz="1300">
                <a:solidFill>
                  <a:srgbClr val="222831"/>
                </a:solidFill>
              </a:rPr>
              <a:t>Integrated webcam capture, YOLOv8 classification, backend API and temporal status</a:t>
            </a:r>
            <a:endParaRPr sz="1300"/>
          </a:p>
          <a:p>
            <a:pPr marL="342900" indent="-342900">
              <a:spcAft>
                <a:spcPts val="800"/>
              </a:spcAft>
              <a:buSzPct val="100000"/>
              <a:buChar char="•"/>
            </a:pPr>
            <a:r>
              <a:rPr sz="1300">
                <a:solidFill>
                  <a:srgbClr val="222831"/>
                </a:solidFill>
              </a:rPr>
              <a:t>Held-out test top-1: 85.37%; model-only CPU inference: about 3.4 ms/image</a:t>
            </a:r>
            <a:endParaRPr sz="1300"/>
          </a:p>
          <a:p>
            <a:pPr marL="342900" indent="-342900">
              <a:spcAft>
                <a:spcPts val="800"/>
              </a:spcAft>
              <a:buSzPct val="100000"/>
              <a:buChar char="•"/>
            </a:pPr>
            <a:r>
              <a:rPr sz="1300">
                <a:solidFill>
                  <a:srgbClr val="222831"/>
                </a:solidFill>
              </a:rPr>
              <a:t>HOG, Sobel, morphology and Farneback flow are computed as CV metadata, not fused into YOLO</a:t>
            </a:r>
            <a:endParaRPr sz="1300"/>
          </a:p>
        </p:txBody>
      </p:sp>
      <p:sp>
        <p:nvSpPr>
          <p:cNvPr id="7" name="Shape 5">
            <a:extLst>
              <a:ext uri="{FF2B5EF4-FFF2-40B4-BE49-F238E27FC236}">
                <a16:creationId xmlns:a16="http://schemas.microsoft.com/office/drawing/2014/main" id="{F5B165B3-E0F2-48AF-AA59-2DE965D07C12}"/>
              </a:ext>
            </a:extLst>
          </p:cNvPr>
          <p:cNvSpPr>
            <a:spLocks noGrp="1"/>
          </p:cNvSpPr>
          <p:nvPr/>
        </p:nvSpPr>
        <p:spPr>
          <a:xfrm>
            <a:off x="3246120" y="1188720"/>
            <a:ext cx="2651760" cy="3337560"/>
          </a:xfrm>
          <a:prstGeom prst="roundRect">
            <a:avLst>
              <a:gd name="adj" fmla="val 3448"/>
            </a:avLst>
          </a:prstGeom>
          <a:solidFill>
            <a:srgbClr val="F1F3F5"/>
          </a:solidFill>
          <a:ln w="12700">
            <a:solidFill>
              <a:srgbClr val="F1F3F5"/>
            </a:solidFill>
            <a:prstDash val="solid"/>
          </a:ln>
        </p:spPr>
      </p:sp>
      <p:sp>
        <p:nvSpPr>
          <p:cNvPr id="8" name="Shape 6">
            <a:extLst>
              <a:ext uri="{FF2B5EF4-FFF2-40B4-BE49-F238E27FC236}">
                <a16:creationId xmlns:a16="http://schemas.microsoft.com/office/drawing/2014/main" id="{4770946A-EDE4-4C12-8409-1F8E32F8A804}"/>
              </a:ext>
            </a:extLst>
          </p:cNvPr>
          <p:cNvSpPr>
            <a:spLocks noGrp="1"/>
          </p:cNvSpPr>
          <p:nvPr/>
        </p:nvSpPr>
        <p:spPr>
          <a:xfrm>
            <a:off x="3429000" y="1389888"/>
            <a:ext cx="256032" cy="256032"/>
          </a:xfrm>
          <a:prstGeom prst="ellipse">
            <a:avLst/>
          </a:prstGeom>
          <a:solidFill>
            <a:srgbClr val="C0392B"/>
          </a:solidFill>
          <a:ln w="12700">
            <a:solidFill>
              <a:srgbClr val="C0392B"/>
            </a:solidFill>
            <a:prstDash val="solid"/>
          </a:ln>
        </p:spPr>
      </p:sp>
      <p:sp>
        <p:nvSpPr>
          <p:cNvPr id="9" name="Text 7">
            <a:extLst>
              <a:ext uri="{FF2B5EF4-FFF2-40B4-BE49-F238E27FC236}">
                <a16:creationId xmlns:a16="http://schemas.microsoft.com/office/drawing/2014/main" id="{523A7917-9AA6-4157-9CA9-56DDD99CE042}"/>
              </a:ext>
            </a:extLst>
          </p:cNvPr>
          <p:cNvSpPr>
            <a:spLocks noGrp="1"/>
          </p:cNvSpPr>
          <p:nvPr/>
        </p:nvSpPr>
        <p:spPr>
          <a:xfrm>
            <a:off x="3794760" y="1325880"/>
            <a:ext cx="1920240" cy="384048"/>
          </a:xfrm>
          <a:prstGeom prst="rect">
            <a:avLst/>
          </a:prstGeom>
          <a:noFill/>
        </p:spPr>
        <p:txBody>
          <a:bodyPr wrap="square" lIns="0" tIns="0" rIns="0" bIns="0" anchor="ctr"/>
          <a:lstStyle/>
          <a:p>
            <a:pPr marL="0" indent="0">
              <a:buNone/>
            </a:pPr>
            <a:r>
              <a:rPr sz="1800" b="1">
                <a:solidFill>
                  <a:srgbClr val="1F2A36"/>
                </a:solidFill>
              </a:rPr>
              <a:t>Limitations</a:t>
            </a:r>
            <a:endParaRPr sz="1800"/>
          </a:p>
        </p:txBody>
      </p:sp>
      <p:sp>
        <p:nvSpPr>
          <p:cNvPr id="10" name="Text 8">
            <a:extLst>
              <a:ext uri="{FF2B5EF4-FFF2-40B4-BE49-F238E27FC236}">
                <a16:creationId xmlns:a16="http://schemas.microsoft.com/office/drawing/2014/main" id="{D20B46BE-88B8-429E-A0DF-B93E796E3507}"/>
              </a:ext>
            </a:extLst>
          </p:cNvPr>
          <p:cNvSpPr>
            <a:spLocks noGrp="1"/>
          </p:cNvSpPr>
          <p:nvPr/>
        </p:nvSpPr>
        <p:spPr>
          <a:xfrm>
            <a:off x="3429000" y="1874520"/>
            <a:ext cx="2286000" cy="2651760"/>
          </a:xfrm>
          <a:prstGeom prst="rect">
            <a:avLst/>
          </a:prstGeom>
          <a:noFill/>
        </p:spPr>
        <p:txBody>
          <a:bodyPr wrap="square" lIns="0" tIns="0" rIns="0" bIns="0" anchor="t"/>
          <a:lstStyle/>
          <a:p>
            <a:pPr marL="342900" indent="-342900">
              <a:spcAft>
                <a:spcPts val="800"/>
              </a:spcAft>
              <a:buSzPct val="100000"/>
              <a:buChar char="•"/>
            </a:pPr>
            <a:r>
              <a:rPr sz="1300" dirty="0">
                <a:solidFill>
                  <a:srgbClr val="222831"/>
                </a:solidFill>
              </a:rPr>
              <a:t>At classifier cut-off 0.50, validation Drowsy recall was 72.3%. The tuned 0.20 threshold raised validation recall to 89.7% with a 5.4% Alert false-alarm rate.</a:t>
            </a:r>
            <a:endParaRPr sz="1300" dirty="0"/>
          </a:p>
          <a:p>
            <a:pPr marL="342900" indent="-342900">
              <a:spcAft>
                <a:spcPts val="800"/>
              </a:spcAft>
              <a:buSzPct val="100000"/>
              <a:buChar char="•"/>
            </a:pPr>
            <a:r>
              <a:rPr sz="1300" dirty="0">
                <a:solidFill>
                  <a:srgbClr val="222831"/>
                </a:solidFill>
              </a:rPr>
              <a:t>Lighting, glasses and camera angle can affect predictions.</a:t>
            </a:r>
            <a:endParaRPr sz="1300" dirty="0"/>
          </a:p>
        </p:txBody>
      </p:sp>
      <p:sp>
        <p:nvSpPr>
          <p:cNvPr id="11" name="Shape 9">
            <a:extLst>
              <a:ext uri="{FF2B5EF4-FFF2-40B4-BE49-F238E27FC236}">
                <a16:creationId xmlns:a16="http://schemas.microsoft.com/office/drawing/2014/main" id="{52E17FC7-F59D-4251-83F8-D69A150CF57A}"/>
              </a:ext>
            </a:extLst>
          </p:cNvPr>
          <p:cNvSpPr>
            <a:spLocks noGrp="1"/>
          </p:cNvSpPr>
          <p:nvPr/>
        </p:nvSpPr>
        <p:spPr>
          <a:xfrm>
            <a:off x="6035040" y="1188720"/>
            <a:ext cx="2651760" cy="3337560"/>
          </a:xfrm>
          <a:prstGeom prst="roundRect">
            <a:avLst>
              <a:gd name="adj" fmla="val 3448"/>
            </a:avLst>
          </a:prstGeom>
          <a:solidFill>
            <a:srgbClr val="F1F3F5"/>
          </a:solidFill>
          <a:ln w="12700">
            <a:solidFill>
              <a:srgbClr val="F1F3F5"/>
            </a:solidFill>
            <a:prstDash val="solid"/>
          </a:ln>
        </p:spPr>
      </p:sp>
      <p:sp>
        <p:nvSpPr>
          <p:cNvPr id="12" name="Shape 10">
            <a:extLst>
              <a:ext uri="{FF2B5EF4-FFF2-40B4-BE49-F238E27FC236}">
                <a16:creationId xmlns:a16="http://schemas.microsoft.com/office/drawing/2014/main" id="{4148F6F4-6FA7-497E-A5AE-3187ECC0BC38}"/>
              </a:ext>
            </a:extLst>
          </p:cNvPr>
          <p:cNvSpPr>
            <a:spLocks noGrp="1"/>
          </p:cNvSpPr>
          <p:nvPr/>
        </p:nvSpPr>
        <p:spPr>
          <a:xfrm>
            <a:off x="6217920" y="1389888"/>
            <a:ext cx="256032" cy="256032"/>
          </a:xfrm>
          <a:prstGeom prst="ellipse">
            <a:avLst/>
          </a:prstGeom>
          <a:solidFill>
            <a:srgbClr val="3B6E8F"/>
          </a:solidFill>
          <a:ln w="12700">
            <a:solidFill>
              <a:srgbClr val="3B6E8F"/>
            </a:solidFill>
            <a:prstDash val="solid"/>
          </a:ln>
        </p:spPr>
      </p:sp>
      <p:sp>
        <p:nvSpPr>
          <p:cNvPr id="13" name="Text 11">
            <a:extLst>
              <a:ext uri="{FF2B5EF4-FFF2-40B4-BE49-F238E27FC236}">
                <a16:creationId xmlns:a16="http://schemas.microsoft.com/office/drawing/2014/main" id="{185F660C-A2A2-4FAA-9BC5-68ECAFE45E54}"/>
              </a:ext>
            </a:extLst>
          </p:cNvPr>
          <p:cNvSpPr>
            <a:spLocks noGrp="1"/>
          </p:cNvSpPr>
          <p:nvPr/>
        </p:nvSpPr>
        <p:spPr>
          <a:xfrm>
            <a:off x="6583680" y="1325880"/>
            <a:ext cx="1920240" cy="384048"/>
          </a:xfrm>
          <a:prstGeom prst="rect">
            <a:avLst/>
          </a:prstGeom>
          <a:noFill/>
        </p:spPr>
        <p:txBody>
          <a:bodyPr wrap="square" lIns="0" tIns="0" rIns="0" bIns="0" anchor="ctr"/>
          <a:lstStyle/>
          <a:p>
            <a:pPr marL="0" indent="0">
              <a:buNone/>
            </a:pPr>
            <a:r>
              <a:rPr sz="1800" b="1">
                <a:solidFill>
                  <a:srgbClr val="1F2A36"/>
                </a:solidFill>
              </a:rPr>
              <a:t>Future work</a:t>
            </a:r>
            <a:endParaRPr sz="1800"/>
          </a:p>
        </p:txBody>
      </p:sp>
      <p:sp>
        <p:nvSpPr>
          <p:cNvPr id="14" name="Text 12">
            <a:extLst>
              <a:ext uri="{FF2B5EF4-FFF2-40B4-BE49-F238E27FC236}">
                <a16:creationId xmlns:a16="http://schemas.microsoft.com/office/drawing/2014/main" id="{1D719E0E-F527-4F91-AC6A-5C926F4A99B2}"/>
              </a:ext>
            </a:extLst>
          </p:cNvPr>
          <p:cNvSpPr>
            <a:spLocks noGrp="1"/>
          </p:cNvSpPr>
          <p:nvPr/>
        </p:nvSpPr>
        <p:spPr>
          <a:xfrm>
            <a:off x="6217920" y="1874520"/>
            <a:ext cx="2286000" cy="2651760"/>
          </a:xfrm>
          <a:prstGeom prst="rect">
            <a:avLst/>
          </a:prstGeom>
          <a:noFill/>
        </p:spPr>
        <p:txBody>
          <a:bodyPr wrap="square" lIns="0" tIns="0" rIns="0" bIns="0" anchor="t"/>
          <a:lstStyle/>
          <a:p>
            <a:pPr marL="342900" indent="-342900">
              <a:spcAft>
                <a:spcPts val="800"/>
              </a:spcAft>
              <a:buSzPct val="100000"/>
              <a:buChar char="•"/>
            </a:pPr>
            <a:r>
              <a:rPr sz="1300">
                <a:solidFill>
                  <a:srgbClr val="222831"/>
                </a:solidFill>
              </a:rPr>
              <a:t>Add eye-closure and yawn checks using face landmarks</a:t>
            </a:r>
            <a:endParaRPr sz="1300"/>
          </a:p>
          <a:p>
            <a:pPr marL="342900" indent="-342900">
              <a:spcAft>
                <a:spcPts val="800"/>
              </a:spcAft>
              <a:buSzPct val="100000"/>
              <a:buChar char="•"/>
            </a:pPr>
            <a:r>
              <a:rPr sz="1300">
                <a:solidFill>
                  <a:srgbClr val="222831"/>
                </a:solidFill>
              </a:rPr>
              <a:t>Add the middle "low vigilance" level from the dataset</a:t>
            </a:r>
            <a:endParaRPr sz="1300"/>
          </a:p>
          <a:p>
            <a:pPr marL="342900" indent="-342900">
              <a:spcAft>
                <a:spcPts val="800"/>
              </a:spcAft>
              <a:buSzPct val="100000"/>
              <a:buChar char="•"/>
            </a:pPr>
            <a:r>
              <a:rPr sz="1300">
                <a:solidFill>
                  <a:srgbClr val="222831"/>
                </a:solidFill>
              </a:rPr>
              <a:t>Test it in a real car and run it on a phone or small device</a:t>
            </a:r>
            <a:endParaRPr sz="1300"/>
          </a:p>
        </p:txBody>
      </p:sp>
      <p:sp>
        <p:nvSpPr>
          <p:cNvPr id="25" name="Slide Number Placeholder 0">
            <a:extLst>
              <a:ext uri="{FF2B5EF4-FFF2-40B4-BE49-F238E27FC236}">
                <a16:creationId xmlns:a16="http://schemas.microsoft.com/office/drawing/2014/main" id="{773FDFA0-DAF1-4DF7-A4BC-BC16599AC65B}"/>
              </a:ext>
            </a:extLst>
          </p:cNvPr>
          <p:cNvSpPr>
            <a:spLocks noGrp="1"/>
          </p:cNvSpPr>
          <p:nvPr>
            <p:ph type="sldNum" idx="4294967295"/>
          </p:nvPr>
        </p:nvSpPr>
        <p:spPr>
          <a:xfrm>
            <a:off x="8412480" y="4754880"/>
            <a:ext cx="365760" cy="228600"/>
          </a:xfrm>
          <a:prstGeom prst="rect">
            <a:avLst/>
          </a:prstGeom>
        </p:spPr>
        <p:txBody>
          <a:bodyPr/>
          <a:lstStyle>
            <a:lvl1pPr>
              <a:buNone/>
              <a:defRPr sz="1000">
                <a:solidFill>
                  <a:srgbClr val="5F6B7A"/>
                </a:solidFill>
              </a:defRPr>
            </a:lvl1pPr>
          </a:lstStyle>
          <a:p>
            <a:pPr algn="r">
              <a:buNone/>
            </a:pPr>
            <a:fld id="{F7021451-1387-4CA6-816F-3879F97B5CBC}" type="slidenum">
              <a:rPr b="0"/>
              <a:t>13</a:t>
            </a:fld>
            <a:endParaRPr/>
          </a:p>
        </p:txBody>
      </p:sp>
    </p:spTree>
    <p:extLst>
      <p:ext uri="{BB962C8B-B14F-4D97-AF65-F5344CB8AC3E}">
        <p14:creationId xmlns:p14="http://schemas.microsoft.com/office/powerpoint/2010/main" val="846830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3572A7-FB62-4682-9D3A-2E74ABFA5566}"/>
              </a:ext>
            </a:extLst>
          </p:cNvPr>
          <p:cNvSpPr>
            <a:spLocks noGrp="1"/>
          </p:cNvSpPr>
          <p:nvPr/>
        </p:nvSpPr>
        <p:spPr>
          <a:xfrm>
            <a:off x="548640" y="2160270"/>
            <a:ext cx="8046720" cy="822960"/>
          </a:xfrm>
          <a:prstGeom prst="rect">
            <a:avLst/>
          </a:prstGeom>
          <a:noFill/>
        </p:spPr>
        <p:txBody>
          <a:bodyPr wrap="square" lIns="0" tIns="0" rIns="0" bIns="0" anchor="t"/>
          <a:lstStyle/>
          <a:p>
            <a:pPr marL="0" indent="0" algn="ctr">
              <a:buNone/>
            </a:pPr>
            <a:r>
              <a:rPr sz="4400" b="1" dirty="0">
                <a:solidFill>
                  <a:srgbClr val="FFFFFF"/>
                </a:solidFill>
              </a:rPr>
              <a:t>Thank You</a:t>
            </a:r>
            <a:endParaRPr sz="4400" dirty="0"/>
          </a:p>
        </p:txBody>
      </p:sp>
    </p:spTree>
    <p:extLst>
      <p:ext uri="{BB962C8B-B14F-4D97-AF65-F5344CB8AC3E}">
        <p14:creationId xmlns:p14="http://schemas.microsoft.com/office/powerpoint/2010/main" val="574423036"/>
      </p:ext>
    </p:extLst>
  </p:cSld>
  <p:clrMapOvr>
    <a:masterClrMapping/>
  </p:clrMapOvr>
</p:sld>
</file>

<file path=ppt/theme/theme1.xml><?xml version="1.0" encoding="utf-8"?>
<a:theme xmlns:a="http://schemas.openxmlformats.org/drawingml/2006/main" name="Drowsiness">
  <a:themeElements>
    <a:clrScheme name="Drowsiness">
      <a:dk1>
        <a:srgbClr val="222831"/>
      </a:dk1>
      <a:lt1>
        <a:srgbClr val="FFFFFF"/>
      </a:lt1>
      <a:dk2>
        <a:srgbClr val="1F2A36"/>
      </a:dk2>
      <a:lt2>
        <a:srgbClr val="F1F3F5"/>
      </a:lt2>
      <a:accent1>
        <a:srgbClr val="F2A900"/>
      </a:accent1>
      <a:accent2>
        <a:srgbClr val="2E8B57"/>
      </a:accent2>
      <a:accent3>
        <a:srgbClr val="C0392B"/>
      </a:accent3>
      <a:accent4>
        <a:srgbClr val="E67E22"/>
      </a:accent4>
      <a:accent5>
        <a:srgbClr val="3B6E8F"/>
      </a:accent5>
      <a:accent6>
        <a:srgbClr val="5F6B7A"/>
      </a:accent6>
      <a:hlink>
        <a:srgbClr val="3B6E8F"/>
      </a:hlink>
      <a:folHlink>
        <a:srgbClr val="5F6B7A"/>
      </a:folHlink>
    </a:clrScheme>
    <a:fontScheme name="Drowsin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Drowsines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rowsiness">
  <a:themeElements>
    <a:clrScheme name="Drowsiness">
      <a:dk1>
        <a:srgbClr val="222831"/>
      </a:dk1>
      <a:lt1>
        <a:srgbClr val="FFFFFF"/>
      </a:lt1>
      <a:dk2>
        <a:srgbClr val="1F2A36"/>
      </a:dk2>
      <a:lt2>
        <a:srgbClr val="F1F3F5"/>
      </a:lt2>
      <a:accent1>
        <a:srgbClr val="F2A900"/>
      </a:accent1>
      <a:accent2>
        <a:srgbClr val="2E8B57"/>
      </a:accent2>
      <a:accent3>
        <a:srgbClr val="C0392B"/>
      </a:accent3>
      <a:accent4>
        <a:srgbClr val="E67E22"/>
      </a:accent4>
      <a:accent5>
        <a:srgbClr val="3B6E8F"/>
      </a:accent5>
      <a:accent6>
        <a:srgbClr val="5F6B7A"/>
      </a:accent6>
      <a:hlink>
        <a:srgbClr val="3B6E8F"/>
      </a:hlink>
      <a:folHlink>
        <a:srgbClr val="5F6B7A"/>
      </a:folHlink>
    </a:clrScheme>
    <a:fontScheme name="Drowsin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Drowsines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1767</Words>
  <Application>Microsoft Office PowerPoint</Application>
  <DocSecurity>0</DocSecurity>
  <PresentationFormat>On-screen Show (16:9)</PresentationFormat>
  <Paragraphs>196</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Drowsiness</vt:lpstr>
      <vt:lpstr>PowerPoint Presentation</vt:lpstr>
      <vt:lpstr>Problem Statement</vt:lpstr>
      <vt:lpstr>Objectives</vt:lpstr>
      <vt:lpstr>Dataset: UTA-RLDD</vt:lpstr>
      <vt:lpstr>Methodology: How It Works</vt:lpstr>
      <vt:lpstr>Computer Vision Features (OpenCV)</vt:lpstr>
      <vt:lpstr>Model and Training</vt:lpstr>
      <vt:lpstr>Implementation: System Setup</vt:lpstr>
      <vt:lpstr>Implementation: Deciding When to Alert</vt:lpstr>
      <vt:lpstr>Results: Training Progress</vt:lpstr>
      <vt:lpstr>Results: Where the Model Gets It Right and Wrong</vt:lpstr>
      <vt:lpstr>Outputs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suragouni sahithi</cp:lastModifiedBy>
  <cp:revision>1</cp:revision>
  <dcterms:created xsi:type="dcterms:W3CDTF">2026-10-15T10:00:10Z</dcterms:created>
  <dcterms:modified xsi:type="dcterms:W3CDTF">2026-10-15T10:25:20Z</dcterms:modified>
</cp:coreProperties>
</file>