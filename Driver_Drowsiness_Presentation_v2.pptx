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42b2bb4-af30-f403-05e9-5a14d41a9a37}">
          <p14:sldIdLst>
            <p14:sldId id="256"/>
          </p14:sldIdLst>
        </p14:section>
        <p14:section name="Problem &amp; Objectives" id="{28b8b451-dc5b-c371-ccdb-68dd08271328}">
          <p14:sldIdLst>
            <p14:sldId id="257"/>
            <p14:sldId id="258"/>
          </p14:sldIdLst>
        </p14:section>
        <p14:section name="Methodology" id="{6b274730-fe33-0c50-d883-5a49d2263819}">
          <p14:sldIdLst>
            <p14:sldId id="259"/>
            <p14:sldId id="260"/>
            <p14:sldId id="261"/>
            <p14:sldId id="262"/>
          </p14:sldIdLst>
        </p14:section>
        <p14:section name="Implementation" id="{a50b2409-eb2a-fe7b-d0b3-4ce2b281a49c}">
          <p14:sldIdLst>
            <p14:sldId id="263"/>
            <p14:sldId id="264"/>
          </p14:sldIdLst>
        </p14:section>
        <p14:section name="Results" id="{97ad9c9f-9d41-ed84-8d69-2c863a85060c}">
          <p14:sldIdLst>
            <p14:sldId id="265"/>
            <p14:sldId id="266"/>
            <p14:sldId id="267"/>
          </p14:sldIdLst>
        </p14:section>
        <p14:section name="Conclusion" id="{0ca492bc-b781-8a18-41b5-d5fe0dfa62c1}">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831"/>
                </a:solidFill>
                <a:latin typeface="+mn-lt"/>
              </a:defRPr>
            </a:pPr>
            <a:r>
              <a:rPr sz="1200" b="0" i="0" u="none" strike="noStrike">
                <a:solidFill>
                  <a:srgbClr val="222831"/>
                </a:solidFill>
                <a:latin typeface="+mn-lt"/>
              </a:rPr>
              <a:t>Validation accuracy per epoch (%)</a:t>
            </a:r>
          </a:p>
        </c:rich>
      </c:tx>
      <c:layout/>
      <c:overlay val="0"/>
    </c:title>
    <c:autoTitleDeleted val="0"/>
    <c:plotArea>
      <c:layout/>
      <c:lineChart>
        <c:varyColors val="0"/>
        <c:ser>
          <c:idx val="0"/>
          <c:order val="0"/>
          <c:tx>
            <c:strRef>
              <c:f>Sheet1!$B$1</c:f>
              <c:strCache>
                <c:ptCount val="1"/>
                <c:pt idx="0">
                  <c:v>Validation accuracy (%)</c:v>
                </c:pt>
              </c:strCache>
            </c:strRef>
          </c:tx>
          <c:spPr>
            <a:solidFill>
              <a:srgbClr val="1F2A36"/>
            </a:solidFill>
            <a:ln w="25400" cap="flat">
              <a:solidFill>
                <a:srgbClr val="1F2A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F2A36"/>
              </a:solidFill>
              <a:ln w="9525" cap="flat">
                <a:solidFill>
                  <a:srgbClr val="1F2A36"/>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Sheet1!$B$2:$B$26</c:f>
              <c:numCache>
                <c:formatCode>General</c:formatCode>
                <c:ptCount val="25"/>
                <c:pt idx="0">
                  <c:v>77</c:v>
                </c:pt>
                <c:pt idx="1">
                  <c:v>67.7</c:v>
                </c:pt>
                <c:pt idx="2">
                  <c:v>66</c:v>
                </c:pt>
                <c:pt idx="3">
                  <c:v>72.8</c:v>
                </c:pt>
                <c:pt idx="4">
                  <c:v>82.7</c:v>
                </c:pt>
                <c:pt idx="5">
                  <c:v>84.7</c:v>
                </c:pt>
                <c:pt idx="6">
                  <c:v>62.3</c:v>
                </c:pt>
                <c:pt idx="7">
                  <c:v>82.1</c:v>
                </c:pt>
                <c:pt idx="8">
                  <c:v>84.9</c:v>
                </c:pt>
                <c:pt idx="9">
                  <c:v>84</c:v>
                </c:pt>
                <c:pt idx="10">
                  <c:v>81</c:v>
                </c:pt>
                <c:pt idx="11">
                  <c:v>72.7</c:v>
                </c:pt>
                <c:pt idx="12">
                  <c:v>66.3</c:v>
                </c:pt>
                <c:pt idx="13">
                  <c:v>70.7</c:v>
                </c:pt>
                <c:pt idx="14">
                  <c:v>85.4</c:v>
                </c:pt>
                <c:pt idx="15">
                  <c:v>83.9</c:v>
                </c:pt>
                <c:pt idx="16">
                  <c:v>68.5</c:v>
                </c:pt>
                <c:pt idx="17">
                  <c:v>82</c:v>
                </c:pt>
                <c:pt idx="18">
                  <c:v>78.2</c:v>
                </c:pt>
                <c:pt idx="19">
                  <c:v>82.1</c:v>
                </c:pt>
                <c:pt idx="20">
                  <c:v>64.9</c:v>
                </c:pt>
                <c:pt idx="21">
                  <c:v>85.2</c:v>
                </c:pt>
                <c:pt idx="22">
                  <c:v>83.2</c:v>
                </c:pt>
                <c:pt idx="23">
                  <c:v>80.7</c:v>
                </c:pt>
                <c:pt idx="24">
                  <c:v>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F6B7A"/>
                    </a:solidFill>
                    <a:latin typeface="Arial"/>
                  </a:defRPr>
                </a:pPr>
                <a:r>
                  <a:rPr sz="1000" b="0" i="0" u="none" strike="noStrike">
                    <a:solidFill>
                      <a:srgbClr val="5F6B7A"/>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line: we built a system that uses a normal webcam to check if a driver looks drowsy and warns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matters. Drowsy driving is common and dangerous, and most people can't afford cars with driver monitoring. That's what pushed us to try a low-cost webcam based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goals. The main idea: a model for single frames, plus logic on top so we don't beep every time someone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UTA Real-Life Drowsiness Dataset from Kaggle. The good thing is it's real people in real settings, not actors. We kept only two classes to make it a clean yes/no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in five steps. Stress step 4: one frame can be wrong (blinking, looking down), so we decide based on a short history of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classic CV techniques in our project, all done with OpenCV in cv_features.py. HOG describes the shape of the face using edge directions. Sobel finds edges and Otsu thresholding turns them into a binary map. Morphology cleans that map. Optical flow compares two frames in a row to measure movement, for example head nodding. The frontend sends the previous frame along with the current one so optical flow can be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the smallest YOLOv8 classification model because it has to run in real time. Training ran for 25 epochs and the best checkpoint was saved and copied into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Frontend in the browser, backend API in Python, and the trained model inside the backend. Frontend sends a picture, backend replies with the result in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spent time tuning. The model alone gives a number per frame. We lowered the cut-off so we catch more drowsy cases, then used the history of frames to decide the alert level, so it doesn't beep on a single blink.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noisy from epoch to epoch because many frames come from the same videos and look similar. The best checkpoint was around 85 percent, and that's the one we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897 alert frames correct, 659 drowsy correct. The weak spot is 253 drowsy frames called alert. That's the reason for the 0.20 threshold and the multi-frame logic from the earlier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straight from training: each face with the model's guess and confidence. On the right, show the app screenshot, or switch to the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it works, but single-frame recall on drowsy faces is the weak point, and we have only tested on the dataset split, not in a real car. Future work is about adding more signals and real-world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rgbClr val="1F2A36"/>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3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kaggle.com/datasets/minhngt02/uta-rldd"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8046720" cy="822960"/>
          </a:xfrm>
          <a:prstGeom prst="rect">
            <a:avLst/>
          </a:prstGeom>
          <a:noFill/>
          <a:ln/>
        </p:spPr>
        <p:txBody>
          <a:bodyPr wrap="square" lIns="0" tIns="0" rIns="0" bIns="0" rtlCol="0" anchor="t"/>
          <a:lstStyle/>
          <a:p>
            <a:pPr indent="0" marL="0">
              <a:buNone/>
            </a:pPr>
            <a:r>
              <a:rPr lang="en-US" sz="4000" b="1" dirty="0">
                <a:solidFill>
                  <a:srgbClr val="FFFFFF"/>
                </a:solidFill>
              </a:rPr>
              <a:t>Driver Drowsiness Detection</a:t>
            </a:r>
            <a:endParaRPr lang="en-US" sz="4000" dirty="0"/>
          </a:p>
        </p:txBody>
      </p:sp>
      <p:sp>
        <p:nvSpPr>
          <p:cNvPr id="3" name="Text 1"/>
          <p:cNvSpPr txBox="1"/>
          <p:nvPr/>
        </p:nvSpPr>
        <p:spPr>
          <a:xfrm>
            <a:off x="548640" y="2148840"/>
            <a:ext cx="7680960" cy="640080"/>
          </a:xfrm>
          <a:prstGeom prst="rect">
            <a:avLst/>
          </a:prstGeom>
          <a:noFill/>
          <a:ln/>
        </p:spPr>
        <p:txBody>
          <a:bodyPr wrap="square" lIns="0" tIns="0" rIns="0" bIns="0" rtlCol="0" anchor="t"/>
          <a:lstStyle/>
          <a:p>
            <a:pPr indent="0" marL="0">
              <a:buNone/>
            </a:pPr>
            <a:r>
              <a:rPr lang="en-US" sz="1800" dirty="0">
                <a:solidFill>
                  <a:srgbClr val="C9D1DA"/>
                </a:solidFill>
              </a:rPr>
              <a:t>Watching the driver through a webcam and raising an alarm when they get sleepy</a:t>
            </a:r>
            <a:endParaRPr lang="en-US" sz="1800" dirty="0"/>
          </a:p>
        </p:txBody>
      </p:sp>
      <p:sp>
        <p:nvSpPr>
          <p:cNvPr id="4" name="Shape 2"/>
          <p:cNvSpPr/>
          <p:nvPr/>
        </p:nvSpPr>
        <p:spPr>
          <a:xfrm>
            <a:off x="548640" y="3154680"/>
            <a:ext cx="1463040" cy="384048"/>
          </a:xfrm>
          <a:prstGeom prst="roundRect">
            <a:avLst>
              <a:gd name="adj" fmla="val 19048"/>
            </a:avLst>
          </a:prstGeom>
          <a:solidFill>
            <a:srgbClr val="F2A900"/>
          </a:solidFill>
          <a:ln w="12700">
            <a:solidFill>
              <a:srgbClr val="F2A900"/>
            </a:solidFill>
            <a:prstDash val="solid"/>
          </a:ln>
        </p:spPr>
      </p:sp>
      <p:sp>
        <p:nvSpPr>
          <p:cNvPr id="5" name="Text 3"/>
          <p:cNvSpPr txBox="1"/>
          <p:nvPr/>
        </p:nvSpPr>
        <p:spPr>
          <a:xfrm>
            <a:off x="548640" y="3154680"/>
            <a:ext cx="1463040" cy="384048"/>
          </a:xfrm>
          <a:prstGeom prst="rect">
            <a:avLst/>
          </a:prstGeom>
          <a:noFill/>
          <a:ln/>
        </p:spPr>
        <p:txBody>
          <a:bodyPr wrap="square" lIns="0" tIns="0" rIns="0" bIns="0" rtlCol="0" anchor="ctr"/>
          <a:lstStyle/>
          <a:p>
            <a:pPr algn="ctr" indent="0" marL="0">
              <a:buNone/>
            </a:pPr>
            <a:r>
              <a:rPr lang="en-US" sz="1300" b="1" dirty="0">
                <a:solidFill>
                  <a:srgbClr val="1F2A36"/>
                </a:solidFill>
              </a:rPr>
              <a:t>Project Review</a:t>
            </a:r>
            <a:endParaRPr lang="en-US" sz="1300" dirty="0"/>
          </a:p>
        </p:txBody>
      </p:sp>
      <p:sp>
        <p:nvSpPr>
          <p:cNvPr id="6" name="Text 4"/>
          <p:cNvSpPr txBox="1"/>
          <p:nvPr/>
        </p:nvSpPr>
        <p:spPr>
          <a:xfrm>
            <a:off x="548640" y="3749040"/>
            <a:ext cx="7315200" cy="914400"/>
          </a:xfrm>
          <a:prstGeom prst="rect">
            <a:avLst/>
          </a:prstGeom>
          <a:noFill/>
          <a:ln/>
        </p:spPr>
        <p:txBody>
          <a:bodyPr wrap="square" lIns="0" tIns="0" rIns="0" bIns="0" rtlCol="0" anchor="t"/>
          <a:lstStyle/>
          <a:p>
            <a:pPr indent="0" marL="0">
              <a:spcAft>
                <a:spcPts val="200"/>
              </a:spcAft>
              <a:buNone/>
            </a:pPr>
            <a:r>
              <a:rPr lang="en-US" sz="1300" dirty="0">
                <a:solidFill>
                  <a:srgbClr val="C9D1DA"/>
                </a:solidFill>
              </a:rPr>
              <a:t>Team members: Name 1, Name 2, Name 3, Name 4</a:t>
            </a:r>
            <a:endParaRPr lang="en-US" sz="1300" dirty="0"/>
          </a:p>
          <a:p>
            <a:pPr indent="0" marL="0">
              <a:spcAft>
                <a:spcPts val="200"/>
              </a:spcAft>
              <a:buNone/>
            </a:pPr>
            <a:r>
              <a:rPr lang="en-US" sz="1300" dirty="0">
                <a:solidFill>
                  <a:srgbClr val="C9D1DA"/>
                </a:solidFill>
              </a:rPr>
              <a:t>Guide: Prof. Name</a:t>
            </a:r>
            <a:endParaRPr lang="en-US" sz="1300" dirty="0"/>
          </a:p>
          <a:p>
            <a:pPr indent="0" marL="0">
              <a:spcAft>
                <a:spcPts val="200"/>
              </a:spcAft>
              <a:buNone/>
            </a:pPr>
            <a:r>
              <a:rPr lang="en-US" sz="1300" dirty="0">
                <a:solidFill>
                  <a:srgbClr val="C9D1DA"/>
                </a:solidFill>
              </a:rPr>
              <a:t>Department, College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Problem Statement</a:t>
            </a:r>
            <a:endParaRPr lang="en-US" sz="3000" dirty="0"/>
          </a:p>
        </p:txBody>
      </p:sp>
      <p:sp>
        <p:nvSpPr>
          <p:cNvPr id="3" name="Text 1"/>
          <p:cNvSpPr txBox="1"/>
          <p:nvPr/>
        </p:nvSpPr>
        <p:spPr>
          <a:xfrm>
            <a:off x="457200" y="118872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831"/>
                </a:solidFill>
              </a:rPr>
              <a:t>Tired drivers often don't notice they are getting sleepy until it is too late.</a:t>
            </a:r>
            <a:endParaRPr lang="en-US" sz="1600" dirty="0"/>
          </a:p>
          <a:p>
            <a:pPr marL="342900" indent="-342900">
              <a:spcAft>
                <a:spcPts val="1000"/>
              </a:spcAft>
              <a:buSzPct val="100000"/>
              <a:buChar char="•"/>
            </a:pPr>
            <a:r>
              <a:rPr lang="en-US" sz="1600" dirty="0">
                <a:solidFill>
                  <a:srgbClr val="222831"/>
                </a:solidFill>
              </a:rPr>
              <a:t>Long highway trips, night shifts and truck driving make it worse.</a:t>
            </a:r>
            <a:endParaRPr lang="en-US" sz="1600" dirty="0"/>
          </a:p>
          <a:p>
            <a:pPr marL="342900" indent="-342900">
              <a:spcAft>
                <a:spcPts val="1000"/>
              </a:spcAft>
              <a:buSzPct val="100000"/>
              <a:buChar char="•"/>
            </a:pPr>
            <a:r>
              <a:rPr lang="en-US" sz="1600" dirty="0">
                <a:solidFill>
                  <a:srgbClr val="222831"/>
                </a:solidFill>
              </a:rPr>
              <a:t>Most cars on the road have no system that keeps an eye on the driver.</a:t>
            </a:r>
            <a:endParaRPr lang="en-US" sz="1600" dirty="0"/>
          </a:p>
          <a:p>
            <a:pPr marL="342900" indent="-342900">
              <a:spcAft>
                <a:spcPts val="1000"/>
              </a:spcAft>
              <a:buSzPct val="100000"/>
              <a:buChar char="•"/>
            </a:pPr>
            <a:r>
              <a:rPr lang="en-US" sz="1600" dirty="0">
                <a:solidFill>
                  <a:srgbClr val="222831"/>
                </a:solidFill>
              </a:rPr>
              <a:t>Existing solutions are mostly built into expensive cars.</a:t>
            </a:r>
            <a:endParaRPr lang="en-US" sz="1600" dirty="0"/>
          </a:p>
        </p:txBody>
      </p:sp>
      <p:sp>
        <p:nvSpPr>
          <p:cNvPr id="4" name="Text 2"/>
          <p:cNvSpPr txBox="1"/>
          <p:nvPr/>
        </p:nvSpPr>
        <p:spPr>
          <a:xfrm>
            <a:off x="457200" y="3749040"/>
            <a:ext cx="4846320" cy="731520"/>
          </a:xfrm>
          <a:prstGeom prst="rect">
            <a:avLst/>
          </a:prstGeom>
          <a:noFill/>
          <a:ln/>
        </p:spPr>
        <p:txBody>
          <a:bodyPr wrap="square" lIns="0" tIns="0" rIns="0" bIns="0" rtlCol="0" anchor="t"/>
          <a:lstStyle/>
          <a:p>
            <a:pPr indent="0" marL="0">
              <a:buNone/>
            </a:pPr>
            <a:r>
              <a:rPr lang="en-US" sz="1500" b="1" i="1" dirty="0">
                <a:solidFill>
                  <a:srgbClr val="1F2A36"/>
                </a:solidFill>
              </a:rPr>
              <a:t>Our question: can we spot drowsiness using just a normal webcam and a small ML model?</a:t>
            </a:r>
            <a:endParaRPr lang="en-US" sz="1500" dirty="0"/>
          </a:p>
        </p:txBody>
      </p:sp>
      <p:sp>
        <p:nvSpPr>
          <p:cNvPr id="5" name="Shape 3"/>
          <p:cNvSpPr/>
          <p:nvPr/>
        </p:nvSpPr>
        <p:spPr>
          <a:xfrm>
            <a:off x="5760720" y="1188720"/>
            <a:ext cx="2926080" cy="3108960"/>
          </a:xfrm>
          <a:prstGeom prst="roundRect">
            <a:avLst>
              <a:gd name="adj" fmla="val 3125"/>
            </a:avLst>
          </a:prstGeom>
          <a:solidFill>
            <a:srgbClr val="F1F3F5"/>
          </a:solidFill>
          <a:ln w="12700">
            <a:solidFill>
              <a:srgbClr val="F1F3F5"/>
            </a:solidFill>
            <a:prstDash val="solid"/>
          </a:ln>
        </p:spPr>
      </p:sp>
      <p:sp>
        <p:nvSpPr>
          <p:cNvPr id="6" name="Text 4"/>
          <p:cNvSpPr txBox="1"/>
          <p:nvPr/>
        </p:nvSpPr>
        <p:spPr>
          <a:xfrm>
            <a:off x="5760720" y="1600200"/>
            <a:ext cx="2926080" cy="822960"/>
          </a:xfrm>
          <a:prstGeom prst="rect">
            <a:avLst/>
          </a:prstGeom>
          <a:noFill/>
          <a:ln/>
        </p:spPr>
        <p:txBody>
          <a:bodyPr wrap="square" lIns="0" tIns="0" rIns="0" bIns="0" rtlCol="0" anchor="t"/>
          <a:lstStyle/>
          <a:p>
            <a:pPr algn="ctr" indent="0" marL="0">
              <a:buNone/>
            </a:pPr>
            <a:r>
              <a:rPr lang="en-US" sz="4800" b="1" dirty="0">
                <a:solidFill>
                  <a:srgbClr val="C0392B"/>
                </a:solidFill>
              </a:rPr>
              <a:t>91,000</a:t>
            </a:r>
            <a:endParaRPr lang="en-US" sz="4800" dirty="0"/>
          </a:p>
        </p:txBody>
      </p:sp>
      <p:sp>
        <p:nvSpPr>
          <p:cNvPr id="7" name="Text 5"/>
          <p:cNvSpPr txBox="1"/>
          <p:nvPr/>
        </p:nvSpPr>
        <p:spPr>
          <a:xfrm>
            <a:off x="6035040" y="2514600"/>
            <a:ext cx="2377440" cy="914400"/>
          </a:xfrm>
          <a:prstGeom prst="rect">
            <a:avLst/>
          </a:prstGeom>
          <a:noFill/>
          <a:ln/>
        </p:spPr>
        <p:txBody>
          <a:bodyPr wrap="square" lIns="0" tIns="0" rIns="0" bIns="0" rtlCol="0" anchor="t"/>
          <a:lstStyle/>
          <a:p>
            <a:pPr algn="ctr" indent="0" marL="0">
              <a:buNone/>
            </a:pPr>
            <a:r>
              <a:rPr lang="en-US" sz="1400" dirty="0">
                <a:solidFill>
                  <a:srgbClr val="222831"/>
                </a:solidFill>
              </a:rPr>
              <a:t>police-reported crashes in the US in 2017 involved drowsy drivers</a:t>
            </a:r>
            <a:endParaRPr lang="en-US" sz="1400" dirty="0"/>
          </a:p>
        </p:txBody>
      </p:sp>
      <p:sp>
        <p:nvSpPr>
          <p:cNvPr id="8" name="Text 6"/>
          <p:cNvSpPr txBox="1"/>
          <p:nvPr/>
        </p:nvSpPr>
        <p:spPr>
          <a:xfrm>
            <a:off x="6035040" y="3749040"/>
            <a:ext cx="2377440" cy="274320"/>
          </a:xfrm>
          <a:prstGeom prst="rect">
            <a:avLst/>
          </a:prstGeom>
          <a:noFill/>
          <a:ln/>
        </p:spPr>
        <p:txBody>
          <a:bodyPr wrap="square" lIns="0" tIns="0" rIns="0" bIns="0" rtlCol="0" anchor="t"/>
          <a:lstStyle/>
          <a:p>
            <a:pPr algn="ctr" indent="0" marL="0">
              <a:buNone/>
            </a:pPr>
            <a:r>
              <a:rPr lang="en-US" sz="1000" dirty="0">
                <a:solidFill>
                  <a:srgbClr val="5F6B7A"/>
                </a:solidFill>
              </a:rPr>
              <a:t>Source: NHTSA</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Objectives</a:t>
            </a:r>
            <a:endParaRPr lang="en-US" sz="3000" dirty="0"/>
          </a:p>
        </p:txBody>
      </p:sp>
      <p:sp>
        <p:nvSpPr>
          <p:cNvPr id="3" name="Shape 1"/>
          <p:cNvSpPr/>
          <p:nvPr/>
        </p:nvSpPr>
        <p:spPr>
          <a:xfrm>
            <a:off x="457200" y="1234440"/>
            <a:ext cx="4023360" cy="1463040"/>
          </a:xfrm>
          <a:prstGeom prst="roundRect">
            <a:avLst>
              <a:gd name="adj" fmla="val 6250"/>
            </a:avLst>
          </a:prstGeom>
          <a:solidFill>
            <a:srgbClr val="F1F3F5"/>
          </a:solidFill>
          <a:ln w="12700">
            <a:solidFill>
              <a:srgbClr val="F1F3F5"/>
            </a:solidFill>
            <a:prstDash val="solid"/>
          </a:ln>
        </p:spPr>
      </p:sp>
      <p:sp>
        <p:nvSpPr>
          <p:cNvPr id="4" name="Shape 2"/>
          <p:cNvSpPr/>
          <p:nvPr/>
        </p:nvSpPr>
        <p:spPr>
          <a:xfrm>
            <a:off x="731520" y="1645920"/>
            <a:ext cx="640080" cy="640080"/>
          </a:xfrm>
          <a:prstGeom prst="ellipse">
            <a:avLst/>
          </a:prstGeom>
          <a:solidFill>
            <a:srgbClr val="F2A900"/>
          </a:solidFill>
          <a:ln w="12700">
            <a:solidFill>
              <a:srgbClr val="F2A900"/>
            </a:solidFill>
            <a:prstDash val="solid"/>
          </a:ln>
        </p:spPr>
      </p:sp>
      <p:sp>
        <p:nvSpPr>
          <p:cNvPr id="5" name="Text 3"/>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1</a:t>
            </a:r>
            <a:endParaRPr lang="en-US" sz="2200" dirty="0"/>
          </a:p>
        </p:txBody>
      </p:sp>
      <p:sp>
        <p:nvSpPr>
          <p:cNvPr id="6" name="Text 4"/>
          <p:cNvSpPr txBox="1"/>
          <p:nvPr/>
        </p:nvSpPr>
        <p:spPr>
          <a:xfrm>
            <a:off x="1600200" y="155448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Train a model</a:t>
            </a:r>
            <a:endParaRPr lang="en-US" sz="1800" dirty="0"/>
          </a:p>
        </p:txBody>
      </p:sp>
      <p:sp>
        <p:nvSpPr>
          <p:cNvPr id="7" name="Text 5"/>
          <p:cNvSpPr txBox="1"/>
          <p:nvPr/>
        </p:nvSpPr>
        <p:spPr>
          <a:xfrm>
            <a:off x="1600200" y="1947672"/>
            <a:ext cx="2697480" cy="594360"/>
          </a:xfrm>
          <a:prstGeom prst="rect">
            <a:avLst/>
          </a:prstGeom>
          <a:noFill/>
          <a:ln/>
        </p:spPr>
        <p:txBody>
          <a:bodyPr wrap="square" lIns="0" tIns="0" rIns="0" bIns="0" rtlCol="0" anchor="t"/>
          <a:lstStyle/>
          <a:p>
            <a:pPr indent="0" marL="0">
              <a:buNone/>
            </a:pPr>
            <a:r>
              <a:rPr lang="en-US" sz="1400" dirty="0">
                <a:solidFill>
                  <a:srgbClr val="222831"/>
                </a:solidFill>
              </a:rPr>
              <a:t>that looks at a face and says Alert or Drowsy</a:t>
            </a:r>
            <a:endParaRPr lang="en-US" sz="1400" dirty="0"/>
          </a:p>
        </p:txBody>
      </p:sp>
      <p:sp>
        <p:nvSpPr>
          <p:cNvPr id="8" name="Shape 6"/>
          <p:cNvSpPr/>
          <p:nvPr/>
        </p:nvSpPr>
        <p:spPr>
          <a:xfrm>
            <a:off x="4663440" y="1234440"/>
            <a:ext cx="4023360" cy="1463040"/>
          </a:xfrm>
          <a:prstGeom prst="roundRect">
            <a:avLst>
              <a:gd name="adj" fmla="val 6250"/>
            </a:avLst>
          </a:prstGeom>
          <a:solidFill>
            <a:srgbClr val="F1F3F5"/>
          </a:solidFill>
          <a:ln w="12700">
            <a:solidFill>
              <a:srgbClr val="F1F3F5"/>
            </a:solidFill>
            <a:prstDash val="solid"/>
          </a:ln>
        </p:spPr>
      </p:sp>
      <p:sp>
        <p:nvSpPr>
          <p:cNvPr id="9" name="Shape 7"/>
          <p:cNvSpPr/>
          <p:nvPr/>
        </p:nvSpPr>
        <p:spPr>
          <a:xfrm>
            <a:off x="4937760" y="1645920"/>
            <a:ext cx="640080" cy="640080"/>
          </a:xfrm>
          <a:prstGeom prst="ellipse">
            <a:avLst/>
          </a:prstGeom>
          <a:solidFill>
            <a:srgbClr val="F2A900"/>
          </a:solidFill>
          <a:ln w="12700">
            <a:solidFill>
              <a:srgbClr val="F2A900"/>
            </a:solidFill>
            <a:prstDash val="solid"/>
          </a:ln>
        </p:spPr>
      </p:sp>
      <p:sp>
        <p:nvSpPr>
          <p:cNvPr id="10" name="Text 8"/>
          <p:cNvSpPr txBox="1"/>
          <p:nvPr/>
        </p:nvSpPr>
        <p:spPr>
          <a:xfrm>
            <a:off x="4937760" y="164592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2</a:t>
            </a:r>
            <a:endParaRPr lang="en-US" sz="2200" dirty="0"/>
          </a:p>
        </p:txBody>
      </p:sp>
      <p:sp>
        <p:nvSpPr>
          <p:cNvPr id="11" name="Text 9"/>
          <p:cNvSpPr txBox="1"/>
          <p:nvPr/>
        </p:nvSpPr>
        <p:spPr>
          <a:xfrm>
            <a:off x="5806440" y="155448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Build a web app</a:t>
            </a:r>
            <a:endParaRPr lang="en-US" sz="1800" dirty="0"/>
          </a:p>
        </p:txBody>
      </p:sp>
      <p:sp>
        <p:nvSpPr>
          <p:cNvPr id="12" name="Text 10"/>
          <p:cNvSpPr txBox="1"/>
          <p:nvPr/>
        </p:nvSpPr>
        <p:spPr>
          <a:xfrm>
            <a:off x="5806440" y="1947672"/>
            <a:ext cx="2697480" cy="594360"/>
          </a:xfrm>
          <a:prstGeom prst="rect">
            <a:avLst/>
          </a:prstGeom>
          <a:noFill/>
          <a:ln/>
        </p:spPr>
        <p:txBody>
          <a:bodyPr wrap="square" lIns="0" tIns="0" rIns="0" bIns="0" rtlCol="0" anchor="t"/>
          <a:lstStyle/>
          <a:p>
            <a:pPr indent="0" marL="0">
              <a:buNone/>
            </a:pPr>
            <a:r>
              <a:rPr lang="en-US" sz="1400" dirty="0">
                <a:solidFill>
                  <a:srgbClr val="222831"/>
                </a:solidFill>
              </a:rPr>
              <a:t>that checks the webcam feed live, in the browser</a:t>
            </a:r>
            <a:endParaRPr lang="en-US" sz="1400" dirty="0"/>
          </a:p>
        </p:txBody>
      </p:sp>
      <p:sp>
        <p:nvSpPr>
          <p:cNvPr id="13" name="Shape 11"/>
          <p:cNvSpPr/>
          <p:nvPr/>
        </p:nvSpPr>
        <p:spPr>
          <a:xfrm>
            <a:off x="457200" y="2926080"/>
            <a:ext cx="4023360" cy="1463040"/>
          </a:xfrm>
          <a:prstGeom prst="roundRect">
            <a:avLst>
              <a:gd name="adj" fmla="val 6250"/>
            </a:avLst>
          </a:prstGeom>
          <a:solidFill>
            <a:srgbClr val="F1F3F5"/>
          </a:solidFill>
          <a:ln w="12700">
            <a:solidFill>
              <a:srgbClr val="F1F3F5"/>
            </a:solidFill>
            <a:prstDash val="solid"/>
          </a:ln>
        </p:spPr>
      </p:sp>
      <p:sp>
        <p:nvSpPr>
          <p:cNvPr id="14" name="Shape 12"/>
          <p:cNvSpPr/>
          <p:nvPr/>
        </p:nvSpPr>
        <p:spPr>
          <a:xfrm>
            <a:off x="731520" y="3337560"/>
            <a:ext cx="640080" cy="640080"/>
          </a:xfrm>
          <a:prstGeom prst="ellipse">
            <a:avLst/>
          </a:prstGeom>
          <a:solidFill>
            <a:srgbClr val="F2A900"/>
          </a:solidFill>
          <a:ln w="12700">
            <a:solidFill>
              <a:srgbClr val="F2A900"/>
            </a:solidFill>
            <a:prstDash val="solid"/>
          </a:ln>
        </p:spPr>
      </p:sp>
      <p:sp>
        <p:nvSpPr>
          <p:cNvPr id="15" name="Text 13"/>
          <p:cNvSpPr txBox="1"/>
          <p:nvPr/>
        </p:nvSpPr>
        <p:spPr>
          <a:xfrm>
            <a:off x="731520" y="333756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3</a:t>
            </a:r>
            <a:endParaRPr lang="en-US" sz="2200" dirty="0"/>
          </a:p>
        </p:txBody>
      </p:sp>
      <p:sp>
        <p:nvSpPr>
          <p:cNvPr id="16" name="Text 14"/>
          <p:cNvSpPr txBox="1"/>
          <p:nvPr/>
        </p:nvSpPr>
        <p:spPr>
          <a:xfrm>
            <a:off x="1600200" y="324612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Cut false alarms</a:t>
            </a:r>
            <a:endParaRPr lang="en-US" sz="1800" dirty="0"/>
          </a:p>
        </p:txBody>
      </p:sp>
      <p:sp>
        <p:nvSpPr>
          <p:cNvPr id="17" name="Text 15"/>
          <p:cNvSpPr txBox="1"/>
          <p:nvPr/>
        </p:nvSpPr>
        <p:spPr>
          <a:xfrm>
            <a:off x="1600200" y="3639312"/>
            <a:ext cx="2697480" cy="594360"/>
          </a:xfrm>
          <a:prstGeom prst="rect">
            <a:avLst/>
          </a:prstGeom>
          <a:noFill/>
          <a:ln/>
        </p:spPr>
        <p:txBody>
          <a:bodyPr wrap="square" lIns="0" tIns="0" rIns="0" bIns="0" rtlCol="0" anchor="t"/>
          <a:lstStyle/>
          <a:p>
            <a:pPr indent="0" marL="0">
              <a:buNone/>
            </a:pPr>
            <a:r>
              <a:rPr lang="en-US" sz="1400" dirty="0">
                <a:solidFill>
                  <a:srgbClr val="222831"/>
                </a:solidFill>
              </a:rPr>
              <a:t>by looking at the last few frames, not just one</a:t>
            </a:r>
            <a:endParaRPr lang="en-US" sz="1400" dirty="0"/>
          </a:p>
        </p:txBody>
      </p:sp>
      <p:sp>
        <p:nvSpPr>
          <p:cNvPr id="18" name="Shape 16"/>
          <p:cNvSpPr/>
          <p:nvPr/>
        </p:nvSpPr>
        <p:spPr>
          <a:xfrm>
            <a:off x="4663440" y="2926080"/>
            <a:ext cx="4023360" cy="1463040"/>
          </a:xfrm>
          <a:prstGeom prst="roundRect">
            <a:avLst>
              <a:gd name="adj" fmla="val 6250"/>
            </a:avLst>
          </a:prstGeom>
          <a:solidFill>
            <a:srgbClr val="F1F3F5"/>
          </a:solidFill>
          <a:ln w="12700">
            <a:solidFill>
              <a:srgbClr val="F1F3F5"/>
            </a:solidFill>
            <a:prstDash val="solid"/>
          </a:ln>
        </p:spPr>
      </p:sp>
      <p:sp>
        <p:nvSpPr>
          <p:cNvPr id="19" name="Shape 17"/>
          <p:cNvSpPr/>
          <p:nvPr/>
        </p:nvSpPr>
        <p:spPr>
          <a:xfrm>
            <a:off x="4937760" y="3337560"/>
            <a:ext cx="640080" cy="640080"/>
          </a:xfrm>
          <a:prstGeom prst="ellipse">
            <a:avLst/>
          </a:prstGeom>
          <a:solidFill>
            <a:srgbClr val="F2A900"/>
          </a:solidFill>
          <a:ln w="12700">
            <a:solidFill>
              <a:srgbClr val="F2A900"/>
            </a:solidFill>
            <a:prstDash val="solid"/>
          </a:ln>
        </p:spPr>
      </p:sp>
      <p:sp>
        <p:nvSpPr>
          <p:cNvPr id="20" name="Text 18"/>
          <p:cNvSpPr txBox="1"/>
          <p:nvPr/>
        </p:nvSpPr>
        <p:spPr>
          <a:xfrm>
            <a:off x="4937760" y="333756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4</a:t>
            </a:r>
            <a:endParaRPr lang="en-US" sz="2200" dirty="0"/>
          </a:p>
        </p:txBody>
      </p:sp>
      <p:sp>
        <p:nvSpPr>
          <p:cNvPr id="21" name="Text 19"/>
          <p:cNvSpPr txBox="1"/>
          <p:nvPr/>
        </p:nvSpPr>
        <p:spPr>
          <a:xfrm>
            <a:off x="5806440" y="324612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Warn the driver</a:t>
            </a:r>
            <a:endParaRPr lang="en-US" sz="1800" dirty="0"/>
          </a:p>
        </p:txBody>
      </p:sp>
      <p:sp>
        <p:nvSpPr>
          <p:cNvPr id="22" name="Text 20"/>
          <p:cNvSpPr txBox="1"/>
          <p:nvPr/>
        </p:nvSpPr>
        <p:spPr>
          <a:xfrm>
            <a:off x="5806440" y="3639312"/>
            <a:ext cx="2697480" cy="594360"/>
          </a:xfrm>
          <a:prstGeom prst="rect">
            <a:avLst/>
          </a:prstGeom>
          <a:noFill/>
          <a:ln/>
        </p:spPr>
        <p:txBody>
          <a:bodyPr wrap="square" lIns="0" tIns="0" rIns="0" bIns="0" rtlCol="0" anchor="t"/>
          <a:lstStyle/>
          <a:p>
            <a:pPr indent="0" marL="0">
              <a:buNone/>
            </a:pPr>
            <a:r>
              <a:rPr lang="en-US" sz="1400" dirty="0">
                <a:solidFill>
                  <a:srgbClr val="222831"/>
                </a:solidFill>
              </a:rPr>
              <a:t>with a beeping alarm if drowsiness lasts 5 seconds</a:t>
            </a:r>
            <a:endParaRPr lang="en-US" sz="1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Dataset: UTA-RLDD</a:t>
            </a:r>
            <a:endParaRPr lang="en-US" sz="3000" dirty="0"/>
          </a:p>
        </p:txBody>
      </p:sp>
      <p:sp>
        <p:nvSpPr>
          <p:cNvPr id="3" name="Shape 1"/>
          <p:cNvSpPr/>
          <p:nvPr/>
        </p:nvSpPr>
        <p:spPr>
          <a:xfrm>
            <a:off x="457200" y="1188720"/>
            <a:ext cx="2606040" cy="1325880"/>
          </a:xfrm>
          <a:prstGeom prst="roundRect">
            <a:avLst>
              <a:gd name="adj" fmla="val 6897"/>
            </a:avLst>
          </a:prstGeom>
          <a:solidFill>
            <a:srgbClr val="F1F3F5"/>
          </a:solidFill>
          <a:ln w="12700">
            <a:solidFill>
              <a:srgbClr val="F1F3F5"/>
            </a:solidFill>
            <a:prstDash val="solid"/>
          </a:ln>
        </p:spPr>
      </p:sp>
      <p:sp>
        <p:nvSpPr>
          <p:cNvPr id="4" name="Text 2"/>
          <p:cNvSpPr txBox="1"/>
          <p:nvPr/>
        </p:nvSpPr>
        <p:spPr>
          <a:xfrm>
            <a:off x="45720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60</a:t>
            </a:r>
            <a:endParaRPr lang="en-US" sz="3600" dirty="0"/>
          </a:p>
        </p:txBody>
      </p:sp>
      <p:sp>
        <p:nvSpPr>
          <p:cNvPr id="5" name="Text 3"/>
          <p:cNvSpPr txBox="1"/>
          <p:nvPr/>
        </p:nvSpPr>
        <p:spPr>
          <a:xfrm>
            <a:off x="45720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people recorded</a:t>
            </a:r>
            <a:endParaRPr lang="en-US" sz="1400" dirty="0"/>
          </a:p>
        </p:txBody>
      </p:sp>
      <p:sp>
        <p:nvSpPr>
          <p:cNvPr id="6" name="Shape 4"/>
          <p:cNvSpPr/>
          <p:nvPr/>
        </p:nvSpPr>
        <p:spPr>
          <a:xfrm>
            <a:off x="3246120" y="1188720"/>
            <a:ext cx="2606040" cy="1325880"/>
          </a:xfrm>
          <a:prstGeom prst="roundRect">
            <a:avLst>
              <a:gd name="adj" fmla="val 6897"/>
            </a:avLst>
          </a:prstGeom>
          <a:solidFill>
            <a:srgbClr val="F1F3F5"/>
          </a:solidFill>
          <a:ln w="12700">
            <a:solidFill>
              <a:srgbClr val="F1F3F5"/>
            </a:solidFill>
            <a:prstDash val="solid"/>
          </a:ln>
        </p:spPr>
      </p:sp>
      <p:sp>
        <p:nvSpPr>
          <p:cNvPr id="7" name="Text 5"/>
          <p:cNvSpPr txBox="1"/>
          <p:nvPr/>
        </p:nvSpPr>
        <p:spPr>
          <a:xfrm>
            <a:off x="324612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~30 hrs</a:t>
            </a:r>
            <a:endParaRPr lang="en-US" sz="3600" dirty="0"/>
          </a:p>
        </p:txBody>
      </p:sp>
      <p:sp>
        <p:nvSpPr>
          <p:cNvPr id="8" name="Text 6"/>
          <p:cNvSpPr txBox="1"/>
          <p:nvPr/>
        </p:nvSpPr>
        <p:spPr>
          <a:xfrm>
            <a:off x="324612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of real video</a:t>
            </a:r>
            <a:endParaRPr lang="en-US" sz="1400" dirty="0"/>
          </a:p>
        </p:txBody>
      </p:sp>
      <p:sp>
        <p:nvSpPr>
          <p:cNvPr id="9" name="Shape 7"/>
          <p:cNvSpPr/>
          <p:nvPr/>
        </p:nvSpPr>
        <p:spPr>
          <a:xfrm>
            <a:off x="6035040" y="1188720"/>
            <a:ext cx="2606040" cy="1325880"/>
          </a:xfrm>
          <a:prstGeom prst="roundRect">
            <a:avLst>
              <a:gd name="adj" fmla="val 6897"/>
            </a:avLst>
          </a:prstGeom>
          <a:solidFill>
            <a:srgbClr val="F1F3F5"/>
          </a:solidFill>
          <a:ln w="12700">
            <a:solidFill>
              <a:srgbClr val="F1F3F5"/>
            </a:solidFill>
            <a:prstDash val="solid"/>
          </a:ln>
        </p:spPr>
      </p:sp>
      <p:sp>
        <p:nvSpPr>
          <p:cNvPr id="10" name="Text 8"/>
          <p:cNvSpPr txBox="1"/>
          <p:nvPr/>
        </p:nvSpPr>
        <p:spPr>
          <a:xfrm>
            <a:off x="603504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2</a:t>
            </a:r>
            <a:endParaRPr lang="en-US" sz="3600" dirty="0"/>
          </a:p>
        </p:txBody>
      </p:sp>
      <p:sp>
        <p:nvSpPr>
          <p:cNvPr id="11" name="Text 9"/>
          <p:cNvSpPr txBox="1"/>
          <p:nvPr/>
        </p:nvSpPr>
        <p:spPr>
          <a:xfrm>
            <a:off x="603504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classes we used</a:t>
            </a:r>
            <a:endParaRPr lang="en-US" sz="1400" dirty="0"/>
          </a:p>
        </p:txBody>
      </p:sp>
      <p:sp>
        <p:nvSpPr>
          <p:cNvPr id="12" name="Text 10"/>
          <p:cNvSpPr txBox="1"/>
          <p:nvPr/>
        </p:nvSpPr>
        <p:spPr>
          <a:xfrm>
            <a:off x="457200" y="2743200"/>
            <a:ext cx="8229600" cy="1417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831"/>
                </a:solidFill>
              </a:rPr>
              <a:t>Real people filmed with their own phones/webcams at home and in cars</a:t>
            </a:r>
            <a:endParaRPr lang="en-US" sz="1500" dirty="0"/>
          </a:p>
          <a:p>
            <a:pPr marL="342900" indent="-342900">
              <a:spcAft>
                <a:spcPts val="600"/>
              </a:spcAft>
              <a:buSzPct val="100000"/>
              <a:buChar char="•"/>
            </a:pPr>
            <a:r>
              <a:rPr lang="en-US" sz="1500" dirty="0">
                <a:solidFill>
                  <a:srgbClr val="222831"/>
                </a:solidFill>
              </a:rPr>
              <a:t>"Active" videos → Alert,  "Fatigue" videos → Drowsy  (we dropped the middle "low vigilance" class)</a:t>
            </a:r>
            <a:endParaRPr lang="en-US" sz="1500" dirty="0"/>
          </a:p>
          <a:p>
            <a:pPr marL="342900" indent="-342900">
              <a:spcAft>
                <a:spcPts val="600"/>
              </a:spcAft>
              <a:buSzPct val="100000"/>
              <a:buChar char="•"/>
            </a:pPr>
            <a:r>
              <a:rPr lang="en-US" sz="1500" dirty="0">
                <a:solidFill>
                  <a:srgbClr val="222831"/>
                </a:solidFill>
              </a:rPr>
              <a:t>Frames taken from the videos and split into train / validation / test folders</a:t>
            </a:r>
            <a:endParaRPr lang="en-US" sz="1500" dirty="0"/>
          </a:p>
          <a:p>
            <a:pPr marL="342900" indent="-342900">
              <a:spcAft>
                <a:spcPts val="600"/>
              </a:spcAft>
              <a:buSzPct val="100000"/>
              <a:buChar char="•"/>
            </a:pPr>
            <a:r>
              <a:rPr lang="en-US" sz="1500" dirty="0">
                <a:solidFill>
                  <a:srgbClr val="222831"/>
                </a:solidFill>
              </a:rPr>
              <a:t>About 65% Alert and 35% Drowsy, so the data is a bit unbalanced</a:t>
            </a:r>
            <a:endParaRPr lang="en-US" sz="1500" dirty="0"/>
          </a:p>
        </p:txBody>
      </p:sp>
      <p:sp>
        <p:nvSpPr>
          <p:cNvPr id="13" name="Text 11"/>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400" b="1" dirty="0">
                <a:solidFill>
                  <a:srgbClr val="1F2A36"/>
                </a:solidFill>
              </a:rPr>
              <a:t>Dataset link:  </a:t>
            </a:r>
            <a:pPr indent="0" marL="0">
              <a:buNone/>
            </a:pPr>
            <a:r>
              <a:rPr lang="en-US" sz="1400" u="sng" dirty="0">
                <a:solidFill>
                  <a:srgbClr val="3B6E8F"/>
                </a:solidFill>
                <a:hlinkClick r:id="rId1" invalidUrl="" action="" tgtFrame="" tooltip="" history="1" highlightClick="0" endSnd="0">
                  <a:extLst>
                    <a:ext uri="{A12FA001-AC4F-418D-AE19-62706E023703}">
                      <ahyp:hlinkClr xmlns:ahyp="http://schemas.microsoft.com/office/drawing/2018/hyperlinkcolor" val="tx"/>
                    </a:ext>
                  </a:extLst>
                </a:hlinkClick>
              </a:rPr>
              <a:t>kaggle.com/datasets/minhngt02/uta-rldd</a:t>
            </a:r>
            <a:endParaRPr lang="en-US" sz="1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Methodology: How It Works</a:t>
            </a:r>
            <a:endParaRPr lang="en-US" sz="3000" dirty="0"/>
          </a:p>
        </p:txBody>
      </p:sp>
      <p:sp>
        <p:nvSpPr>
          <p:cNvPr id="3" name="Shape 1"/>
          <p:cNvSpPr/>
          <p:nvPr/>
        </p:nvSpPr>
        <p:spPr>
          <a:xfrm>
            <a:off x="457200" y="1508760"/>
            <a:ext cx="1463040" cy="2011680"/>
          </a:xfrm>
          <a:prstGeom prst="roundRect">
            <a:avLst>
              <a:gd name="adj" fmla="val 6250"/>
            </a:avLst>
          </a:prstGeom>
          <a:solidFill>
            <a:srgbClr val="F1F3F5"/>
          </a:solidFill>
          <a:ln w="12700">
            <a:solidFill>
              <a:srgbClr val="F1F3F5"/>
            </a:solidFill>
            <a:prstDash val="solid"/>
          </a:ln>
        </p:spPr>
      </p:sp>
      <p:sp>
        <p:nvSpPr>
          <p:cNvPr id="4" name="Text 2"/>
          <p:cNvSpPr txBox="1"/>
          <p:nvPr/>
        </p:nvSpPr>
        <p:spPr>
          <a:xfrm>
            <a:off x="59436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1</a:t>
            </a:r>
            <a:endParaRPr lang="en-US" sz="1100" dirty="0"/>
          </a:p>
        </p:txBody>
      </p:sp>
      <p:sp>
        <p:nvSpPr>
          <p:cNvPr id="5" name="Text 3"/>
          <p:cNvSpPr txBox="1"/>
          <p:nvPr/>
        </p:nvSpPr>
        <p:spPr>
          <a:xfrm>
            <a:off x="59436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Webcam frame</a:t>
            </a:r>
            <a:endParaRPr lang="en-US" sz="1500" dirty="0"/>
          </a:p>
        </p:txBody>
      </p:sp>
      <p:sp>
        <p:nvSpPr>
          <p:cNvPr id="6" name="Text 4"/>
          <p:cNvSpPr txBox="1"/>
          <p:nvPr/>
        </p:nvSpPr>
        <p:spPr>
          <a:xfrm>
            <a:off x="59436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Browser grabs a picture from the camera</a:t>
            </a:r>
            <a:endParaRPr lang="en-US" sz="1200" dirty="0"/>
          </a:p>
        </p:txBody>
      </p:sp>
      <p:sp>
        <p:nvSpPr>
          <p:cNvPr id="7" name="Shape 5"/>
          <p:cNvSpPr/>
          <p:nvPr/>
        </p:nvSpPr>
        <p:spPr>
          <a:xfrm>
            <a:off x="1947672" y="2377440"/>
            <a:ext cx="173736" cy="274320"/>
          </a:xfrm>
          <a:prstGeom prst="rightArrow">
            <a:avLst/>
          </a:prstGeom>
          <a:solidFill>
            <a:srgbClr val="F2A900"/>
          </a:solidFill>
          <a:ln w="12700">
            <a:solidFill>
              <a:srgbClr val="F2A900"/>
            </a:solidFill>
            <a:prstDash val="solid"/>
          </a:ln>
        </p:spPr>
      </p:sp>
      <p:sp>
        <p:nvSpPr>
          <p:cNvPr id="8" name="Shape 6"/>
          <p:cNvSpPr/>
          <p:nvPr/>
        </p:nvSpPr>
        <p:spPr>
          <a:xfrm>
            <a:off x="2148840" y="1508760"/>
            <a:ext cx="1463040" cy="2011680"/>
          </a:xfrm>
          <a:prstGeom prst="roundRect">
            <a:avLst>
              <a:gd name="adj" fmla="val 6250"/>
            </a:avLst>
          </a:prstGeom>
          <a:solidFill>
            <a:srgbClr val="F1F3F5"/>
          </a:solidFill>
          <a:ln w="12700">
            <a:solidFill>
              <a:srgbClr val="F1F3F5"/>
            </a:solidFill>
            <a:prstDash val="solid"/>
          </a:ln>
        </p:spPr>
      </p:sp>
      <p:sp>
        <p:nvSpPr>
          <p:cNvPr id="9" name="Text 7"/>
          <p:cNvSpPr txBox="1"/>
          <p:nvPr/>
        </p:nvSpPr>
        <p:spPr>
          <a:xfrm>
            <a:off x="228600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2</a:t>
            </a:r>
            <a:endParaRPr lang="en-US" sz="1100" dirty="0"/>
          </a:p>
        </p:txBody>
      </p:sp>
      <p:sp>
        <p:nvSpPr>
          <p:cNvPr id="10" name="Text 8"/>
          <p:cNvSpPr txBox="1"/>
          <p:nvPr/>
        </p:nvSpPr>
        <p:spPr>
          <a:xfrm>
            <a:off x="228600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Preprocess + CV</a:t>
            </a:r>
            <a:endParaRPr lang="en-US" sz="1500" dirty="0"/>
          </a:p>
        </p:txBody>
      </p:sp>
      <p:sp>
        <p:nvSpPr>
          <p:cNvPr id="11" name="Text 9"/>
          <p:cNvSpPr txBox="1"/>
          <p:nvPr/>
        </p:nvSpPr>
        <p:spPr>
          <a:xfrm>
            <a:off x="228600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OpenCV decode, resize, plus HOG / Sobel / flow features</a:t>
            </a:r>
            <a:endParaRPr lang="en-US" sz="1200" dirty="0"/>
          </a:p>
        </p:txBody>
      </p:sp>
      <p:sp>
        <p:nvSpPr>
          <p:cNvPr id="12" name="Shape 10"/>
          <p:cNvSpPr/>
          <p:nvPr/>
        </p:nvSpPr>
        <p:spPr>
          <a:xfrm>
            <a:off x="3639312" y="2377440"/>
            <a:ext cx="173736" cy="274320"/>
          </a:xfrm>
          <a:prstGeom prst="rightArrow">
            <a:avLst/>
          </a:prstGeom>
          <a:solidFill>
            <a:srgbClr val="F2A900"/>
          </a:solidFill>
          <a:ln w="12700">
            <a:solidFill>
              <a:srgbClr val="F2A900"/>
            </a:solidFill>
            <a:prstDash val="solid"/>
          </a:ln>
        </p:spPr>
      </p:sp>
      <p:sp>
        <p:nvSpPr>
          <p:cNvPr id="13" name="Shape 11"/>
          <p:cNvSpPr/>
          <p:nvPr/>
        </p:nvSpPr>
        <p:spPr>
          <a:xfrm>
            <a:off x="3840480" y="1508760"/>
            <a:ext cx="1463040" cy="2011680"/>
          </a:xfrm>
          <a:prstGeom prst="roundRect">
            <a:avLst>
              <a:gd name="adj" fmla="val 6250"/>
            </a:avLst>
          </a:prstGeom>
          <a:solidFill>
            <a:srgbClr val="F1F3F5"/>
          </a:solidFill>
          <a:ln w="12700">
            <a:solidFill>
              <a:srgbClr val="F1F3F5"/>
            </a:solidFill>
            <a:prstDash val="solid"/>
          </a:ln>
        </p:spPr>
      </p:sp>
      <p:sp>
        <p:nvSpPr>
          <p:cNvPr id="14" name="Text 12"/>
          <p:cNvSpPr txBox="1"/>
          <p:nvPr/>
        </p:nvSpPr>
        <p:spPr>
          <a:xfrm>
            <a:off x="397764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3</a:t>
            </a:r>
            <a:endParaRPr lang="en-US" sz="1100" dirty="0"/>
          </a:p>
        </p:txBody>
      </p:sp>
      <p:sp>
        <p:nvSpPr>
          <p:cNvPr id="15" name="Text 13"/>
          <p:cNvSpPr txBox="1"/>
          <p:nvPr/>
        </p:nvSpPr>
        <p:spPr>
          <a:xfrm>
            <a:off x="397764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YOLOv8 classifier</a:t>
            </a:r>
            <a:endParaRPr lang="en-US" sz="1500" dirty="0"/>
          </a:p>
        </p:txBody>
      </p:sp>
      <p:sp>
        <p:nvSpPr>
          <p:cNvPr id="16" name="Text 14"/>
          <p:cNvSpPr txBox="1"/>
          <p:nvPr/>
        </p:nvSpPr>
        <p:spPr>
          <a:xfrm>
            <a:off x="397764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Gives a probability of Alert vs Drowsy</a:t>
            </a:r>
            <a:endParaRPr lang="en-US" sz="1200" dirty="0"/>
          </a:p>
        </p:txBody>
      </p:sp>
      <p:sp>
        <p:nvSpPr>
          <p:cNvPr id="17" name="Shape 15"/>
          <p:cNvSpPr/>
          <p:nvPr/>
        </p:nvSpPr>
        <p:spPr>
          <a:xfrm>
            <a:off x="5330952" y="2377440"/>
            <a:ext cx="173736" cy="274320"/>
          </a:xfrm>
          <a:prstGeom prst="rightArrow">
            <a:avLst/>
          </a:prstGeom>
          <a:solidFill>
            <a:srgbClr val="F2A900"/>
          </a:solidFill>
          <a:ln w="12700">
            <a:solidFill>
              <a:srgbClr val="F2A900"/>
            </a:solidFill>
            <a:prstDash val="solid"/>
          </a:ln>
        </p:spPr>
      </p:sp>
      <p:sp>
        <p:nvSpPr>
          <p:cNvPr id="18" name="Shape 16"/>
          <p:cNvSpPr/>
          <p:nvPr/>
        </p:nvSpPr>
        <p:spPr>
          <a:xfrm>
            <a:off x="5532120" y="1508760"/>
            <a:ext cx="1463040" cy="2011680"/>
          </a:xfrm>
          <a:prstGeom prst="roundRect">
            <a:avLst>
              <a:gd name="adj" fmla="val 6250"/>
            </a:avLst>
          </a:prstGeom>
          <a:solidFill>
            <a:srgbClr val="F1F3F5"/>
          </a:solidFill>
          <a:ln w="12700">
            <a:solidFill>
              <a:srgbClr val="F1F3F5"/>
            </a:solidFill>
            <a:prstDash val="solid"/>
          </a:ln>
        </p:spPr>
      </p:sp>
      <p:sp>
        <p:nvSpPr>
          <p:cNvPr id="19" name="Text 17"/>
          <p:cNvSpPr txBox="1"/>
          <p:nvPr/>
        </p:nvSpPr>
        <p:spPr>
          <a:xfrm>
            <a:off x="566928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4</a:t>
            </a:r>
            <a:endParaRPr lang="en-US" sz="1100" dirty="0"/>
          </a:p>
        </p:txBody>
      </p:sp>
      <p:sp>
        <p:nvSpPr>
          <p:cNvPr id="20" name="Text 18"/>
          <p:cNvSpPr txBox="1"/>
          <p:nvPr/>
        </p:nvSpPr>
        <p:spPr>
          <a:xfrm>
            <a:off x="566928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Check recent frames</a:t>
            </a:r>
            <a:endParaRPr lang="en-US" sz="1500" dirty="0"/>
          </a:p>
        </p:txBody>
      </p:sp>
      <p:sp>
        <p:nvSpPr>
          <p:cNvPr id="21" name="Text 19"/>
          <p:cNvSpPr txBox="1"/>
          <p:nvPr/>
        </p:nvSpPr>
        <p:spPr>
          <a:xfrm>
            <a:off x="566928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Look at the last 10 results, not just one</a:t>
            </a:r>
            <a:endParaRPr lang="en-US" sz="1200" dirty="0"/>
          </a:p>
        </p:txBody>
      </p:sp>
      <p:sp>
        <p:nvSpPr>
          <p:cNvPr id="22" name="Shape 20"/>
          <p:cNvSpPr/>
          <p:nvPr/>
        </p:nvSpPr>
        <p:spPr>
          <a:xfrm>
            <a:off x="7022592" y="2377440"/>
            <a:ext cx="173736" cy="274320"/>
          </a:xfrm>
          <a:prstGeom prst="rightArrow">
            <a:avLst/>
          </a:prstGeom>
          <a:solidFill>
            <a:srgbClr val="F2A900"/>
          </a:solidFill>
          <a:ln w="12700">
            <a:solidFill>
              <a:srgbClr val="F2A900"/>
            </a:solidFill>
            <a:prstDash val="solid"/>
          </a:ln>
        </p:spPr>
      </p:sp>
      <p:sp>
        <p:nvSpPr>
          <p:cNvPr id="23" name="Shape 21"/>
          <p:cNvSpPr/>
          <p:nvPr/>
        </p:nvSpPr>
        <p:spPr>
          <a:xfrm>
            <a:off x="7223760" y="1508760"/>
            <a:ext cx="1463040" cy="2011680"/>
          </a:xfrm>
          <a:prstGeom prst="roundRect">
            <a:avLst>
              <a:gd name="adj" fmla="val 6250"/>
            </a:avLst>
          </a:prstGeom>
          <a:solidFill>
            <a:srgbClr val="1F2A36"/>
          </a:solidFill>
          <a:ln w="12700">
            <a:solidFill>
              <a:srgbClr val="1F2A36"/>
            </a:solidFill>
            <a:prstDash val="solid"/>
          </a:ln>
        </p:spPr>
      </p:sp>
      <p:sp>
        <p:nvSpPr>
          <p:cNvPr id="24" name="Text 22"/>
          <p:cNvSpPr txBox="1"/>
          <p:nvPr/>
        </p:nvSpPr>
        <p:spPr>
          <a:xfrm>
            <a:off x="7360920" y="1691640"/>
            <a:ext cx="1188720" cy="274320"/>
          </a:xfrm>
          <a:prstGeom prst="rect">
            <a:avLst/>
          </a:prstGeom>
          <a:noFill/>
          <a:ln/>
        </p:spPr>
        <p:txBody>
          <a:bodyPr wrap="square" lIns="0" tIns="0" rIns="0" bIns="0" rtlCol="0" anchor="t"/>
          <a:lstStyle/>
          <a:p>
            <a:pPr indent="0" marL="0">
              <a:buNone/>
            </a:pPr>
            <a:r>
              <a:rPr lang="en-US" sz="1100" b="1" dirty="0">
                <a:solidFill>
                  <a:srgbClr val="F2A900"/>
                </a:solidFill>
              </a:rPr>
              <a:t>Step 5</a:t>
            </a:r>
            <a:endParaRPr lang="en-US" sz="1100" dirty="0"/>
          </a:p>
        </p:txBody>
      </p:sp>
      <p:sp>
        <p:nvSpPr>
          <p:cNvPr id="25" name="Text 23"/>
          <p:cNvSpPr txBox="1"/>
          <p:nvPr/>
        </p:nvSpPr>
        <p:spPr>
          <a:xfrm>
            <a:off x="7360920" y="1965960"/>
            <a:ext cx="1188720" cy="594360"/>
          </a:xfrm>
          <a:prstGeom prst="rect">
            <a:avLst/>
          </a:prstGeom>
          <a:noFill/>
          <a:ln/>
        </p:spPr>
        <p:txBody>
          <a:bodyPr wrap="square" lIns="0" tIns="0" rIns="0" bIns="0" rtlCol="0" anchor="t"/>
          <a:lstStyle/>
          <a:p>
            <a:pPr indent="0" marL="0">
              <a:buNone/>
            </a:pPr>
            <a:r>
              <a:rPr lang="en-US" sz="1500" b="1" dirty="0">
                <a:solidFill>
                  <a:srgbClr val="FFFFFF"/>
                </a:solidFill>
              </a:rPr>
              <a:t>Alert driver</a:t>
            </a:r>
            <a:endParaRPr lang="en-US" sz="1500" dirty="0"/>
          </a:p>
        </p:txBody>
      </p:sp>
      <p:sp>
        <p:nvSpPr>
          <p:cNvPr id="26" name="Text 24"/>
          <p:cNvSpPr txBox="1"/>
          <p:nvPr/>
        </p:nvSpPr>
        <p:spPr>
          <a:xfrm>
            <a:off x="7360920" y="2560320"/>
            <a:ext cx="1188720" cy="868680"/>
          </a:xfrm>
          <a:prstGeom prst="rect">
            <a:avLst/>
          </a:prstGeom>
          <a:noFill/>
          <a:ln/>
        </p:spPr>
        <p:txBody>
          <a:bodyPr wrap="square" lIns="0" tIns="0" rIns="0" bIns="0" rtlCol="0" anchor="t"/>
          <a:lstStyle/>
          <a:p>
            <a:pPr indent="0" marL="0">
              <a:buNone/>
            </a:pPr>
            <a:r>
              <a:rPr lang="en-US" sz="1200" dirty="0">
                <a:solidFill>
                  <a:srgbClr val="D5DBE1"/>
                </a:solidFill>
              </a:rPr>
              <a:t>Show status and beep if drowsy for 5 s</a:t>
            </a:r>
            <a:endParaRPr lang="en-US" sz="1200" dirty="0"/>
          </a:p>
        </p:txBody>
      </p:sp>
      <p:sp>
        <p:nvSpPr>
          <p:cNvPr id="27" name="Text 25"/>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i="1" dirty="0">
                <a:solidFill>
                  <a:srgbClr val="5F6B7A"/>
                </a:solidFill>
              </a:rPr>
              <a:t>Step 2 runs four classic computer vision techniques on every frame. They are explained on the next slide.</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Computer Vision Features (OpenCV)</a:t>
            </a:r>
            <a:endParaRPr lang="en-US" sz="3000" dirty="0"/>
          </a:p>
        </p:txBody>
      </p:sp>
      <p:sp>
        <p:nvSpPr>
          <p:cNvPr id="3" name="Shape 1"/>
          <p:cNvSpPr/>
          <p:nvPr/>
        </p:nvSpPr>
        <p:spPr>
          <a:xfrm>
            <a:off x="457200" y="1143000"/>
            <a:ext cx="1920240" cy="3063240"/>
          </a:xfrm>
          <a:prstGeom prst="roundRect">
            <a:avLst>
              <a:gd name="adj" fmla="val 4762"/>
            </a:avLst>
          </a:prstGeom>
          <a:solidFill>
            <a:srgbClr val="F1F3F5"/>
          </a:solidFill>
          <a:ln w="12700">
            <a:solidFill>
              <a:srgbClr val="F1F3F5"/>
            </a:solidFill>
            <a:prstDash val="solid"/>
          </a:ln>
        </p:spPr>
      </p:sp>
      <p:sp>
        <p:nvSpPr>
          <p:cNvPr id="4" name="Text 2"/>
          <p:cNvSpPr txBox="1"/>
          <p:nvPr/>
        </p:nvSpPr>
        <p:spPr>
          <a:xfrm>
            <a:off x="59436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HOG</a:t>
            </a:r>
            <a:endParaRPr lang="en-US" sz="1800" dirty="0"/>
          </a:p>
        </p:txBody>
      </p:sp>
      <p:sp>
        <p:nvSpPr>
          <p:cNvPr id="5" name="Text 3"/>
          <p:cNvSpPr txBox="1"/>
          <p:nvPr/>
        </p:nvSpPr>
        <p:spPr>
          <a:xfrm>
            <a:off x="59436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Oriented gradients</a:t>
            </a:r>
            <a:endParaRPr lang="en-US" sz="1100" dirty="0"/>
          </a:p>
        </p:txBody>
      </p:sp>
      <p:sp>
        <p:nvSpPr>
          <p:cNvPr id="6" name="Text 4"/>
          <p:cNvSpPr txBox="1"/>
          <p:nvPr/>
        </p:nvSpPr>
        <p:spPr>
          <a:xfrm>
            <a:off x="59436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Histogram of Oriented Gradients: turns the face into a pattern of edge directions. Frame resized to 128×128, 8×8 cells, 9 direction bins.</a:t>
            </a:r>
            <a:endParaRPr lang="en-US" sz="1200" dirty="0"/>
          </a:p>
        </p:txBody>
      </p:sp>
      <p:sp>
        <p:nvSpPr>
          <p:cNvPr id="7" name="Shape 5"/>
          <p:cNvSpPr/>
          <p:nvPr/>
        </p:nvSpPr>
        <p:spPr>
          <a:xfrm>
            <a:off x="566928" y="3520440"/>
            <a:ext cx="1700784" cy="548640"/>
          </a:xfrm>
          <a:prstGeom prst="roundRect">
            <a:avLst>
              <a:gd name="adj" fmla="val 10000"/>
            </a:avLst>
          </a:prstGeom>
          <a:solidFill>
            <a:srgbClr val="FFFFFF"/>
          </a:solidFill>
          <a:ln w="9525">
            <a:solidFill>
              <a:srgbClr val="D5DBE1"/>
            </a:solidFill>
            <a:prstDash val="solid"/>
          </a:ln>
        </p:spPr>
      </p:sp>
      <p:sp>
        <p:nvSpPr>
          <p:cNvPr id="8" name="Text 6"/>
          <p:cNvSpPr txBox="1"/>
          <p:nvPr/>
        </p:nvSpPr>
        <p:spPr>
          <a:xfrm>
            <a:off x="65836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8,100-value feature vector</a:t>
            </a:r>
            <a:endParaRPr lang="en-US" sz="1100" dirty="0"/>
          </a:p>
        </p:txBody>
      </p:sp>
      <p:sp>
        <p:nvSpPr>
          <p:cNvPr id="9" name="Shape 7"/>
          <p:cNvSpPr/>
          <p:nvPr/>
        </p:nvSpPr>
        <p:spPr>
          <a:xfrm>
            <a:off x="2560320" y="1143000"/>
            <a:ext cx="1920240" cy="3063240"/>
          </a:xfrm>
          <a:prstGeom prst="roundRect">
            <a:avLst>
              <a:gd name="adj" fmla="val 4762"/>
            </a:avLst>
          </a:prstGeom>
          <a:solidFill>
            <a:srgbClr val="F1F3F5"/>
          </a:solidFill>
          <a:ln w="12700">
            <a:solidFill>
              <a:srgbClr val="F1F3F5"/>
            </a:solidFill>
            <a:prstDash val="solid"/>
          </a:ln>
        </p:spPr>
      </p:sp>
      <p:sp>
        <p:nvSpPr>
          <p:cNvPr id="10" name="Text 8"/>
          <p:cNvSpPr txBox="1"/>
          <p:nvPr/>
        </p:nvSpPr>
        <p:spPr>
          <a:xfrm>
            <a:off x="269748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Sobel + Otsu</a:t>
            </a:r>
            <a:endParaRPr lang="en-US" sz="1800" dirty="0"/>
          </a:p>
        </p:txBody>
      </p:sp>
      <p:sp>
        <p:nvSpPr>
          <p:cNvPr id="11" name="Text 9"/>
          <p:cNvSpPr txBox="1"/>
          <p:nvPr/>
        </p:nvSpPr>
        <p:spPr>
          <a:xfrm>
            <a:off x="269748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Edge detection</a:t>
            </a:r>
            <a:endParaRPr lang="en-US" sz="1100" dirty="0"/>
          </a:p>
        </p:txBody>
      </p:sp>
      <p:sp>
        <p:nvSpPr>
          <p:cNvPr id="12" name="Text 10"/>
          <p:cNvSpPr txBox="1"/>
          <p:nvPr/>
        </p:nvSpPr>
        <p:spPr>
          <a:xfrm>
            <a:off x="269748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Gaussian blur, then Sobel in x and y to find edges. Otsu picks the threshold automatically to make a black/white edge map.</a:t>
            </a:r>
            <a:endParaRPr lang="en-US" sz="1200" dirty="0"/>
          </a:p>
        </p:txBody>
      </p:sp>
      <p:sp>
        <p:nvSpPr>
          <p:cNvPr id="13" name="Shape 11"/>
          <p:cNvSpPr/>
          <p:nvPr/>
        </p:nvSpPr>
        <p:spPr>
          <a:xfrm>
            <a:off x="2670048" y="3520440"/>
            <a:ext cx="1700784" cy="548640"/>
          </a:xfrm>
          <a:prstGeom prst="roundRect">
            <a:avLst>
              <a:gd name="adj" fmla="val 10000"/>
            </a:avLst>
          </a:prstGeom>
          <a:solidFill>
            <a:srgbClr val="FFFFFF"/>
          </a:solidFill>
          <a:ln w="9525">
            <a:solidFill>
              <a:srgbClr val="D5DBE1"/>
            </a:solidFill>
            <a:prstDash val="solid"/>
          </a:ln>
        </p:spPr>
      </p:sp>
      <p:sp>
        <p:nvSpPr>
          <p:cNvPr id="14" name="Text 12"/>
          <p:cNvSpPr txBox="1"/>
          <p:nvPr/>
        </p:nvSpPr>
        <p:spPr>
          <a:xfrm>
            <a:off x="276148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Edge density (% of edge pixels)</a:t>
            </a:r>
            <a:endParaRPr lang="en-US" sz="1100" dirty="0"/>
          </a:p>
        </p:txBody>
      </p:sp>
      <p:sp>
        <p:nvSpPr>
          <p:cNvPr id="15" name="Shape 13"/>
          <p:cNvSpPr/>
          <p:nvPr/>
        </p:nvSpPr>
        <p:spPr>
          <a:xfrm>
            <a:off x="4663440" y="1143000"/>
            <a:ext cx="1920240" cy="3063240"/>
          </a:xfrm>
          <a:prstGeom prst="roundRect">
            <a:avLst>
              <a:gd name="adj" fmla="val 4762"/>
            </a:avLst>
          </a:prstGeom>
          <a:solidFill>
            <a:srgbClr val="F1F3F5"/>
          </a:solidFill>
          <a:ln w="12700">
            <a:solidFill>
              <a:srgbClr val="F1F3F5"/>
            </a:solidFill>
            <a:prstDash val="solid"/>
          </a:ln>
        </p:spPr>
      </p:sp>
      <p:sp>
        <p:nvSpPr>
          <p:cNvPr id="16" name="Text 14"/>
          <p:cNvSpPr txBox="1"/>
          <p:nvPr/>
        </p:nvSpPr>
        <p:spPr>
          <a:xfrm>
            <a:off x="480060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Morphology</a:t>
            </a:r>
            <a:endParaRPr lang="en-US" sz="1800" dirty="0"/>
          </a:p>
        </p:txBody>
      </p:sp>
      <p:sp>
        <p:nvSpPr>
          <p:cNvPr id="17" name="Text 15"/>
          <p:cNvSpPr txBox="1"/>
          <p:nvPr/>
        </p:nvSpPr>
        <p:spPr>
          <a:xfrm>
            <a:off x="480060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Cleaning the edge map</a:t>
            </a:r>
            <a:endParaRPr lang="en-US" sz="1100" dirty="0"/>
          </a:p>
        </p:txBody>
      </p:sp>
      <p:sp>
        <p:nvSpPr>
          <p:cNvPr id="18" name="Text 16"/>
          <p:cNvSpPr txBox="1"/>
          <p:nvPr/>
        </p:nvSpPr>
        <p:spPr>
          <a:xfrm>
            <a:off x="480060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Opening removes small noise dots, closing fills small gaps. Uses a 5×5 kernel on the Sobel output.</a:t>
            </a:r>
            <a:endParaRPr lang="en-US" sz="1200" dirty="0"/>
          </a:p>
        </p:txBody>
      </p:sp>
      <p:sp>
        <p:nvSpPr>
          <p:cNvPr id="19" name="Shape 17"/>
          <p:cNvSpPr/>
          <p:nvPr/>
        </p:nvSpPr>
        <p:spPr>
          <a:xfrm>
            <a:off x="4773168" y="3520440"/>
            <a:ext cx="1700784" cy="548640"/>
          </a:xfrm>
          <a:prstGeom prst="roundRect">
            <a:avLst>
              <a:gd name="adj" fmla="val 10000"/>
            </a:avLst>
          </a:prstGeom>
          <a:solidFill>
            <a:srgbClr val="FFFFFF"/>
          </a:solidFill>
          <a:ln w="9525">
            <a:solidFill>
              <a:srgbClr val="D5DBE1"/>
            </a:solidFill>
            <a:prstDash val="solid"/>
          </a:ln>
        </p:spPr>
      </p:sp>
      <p:sp>
        <p:nvSpPr>
          <p:cNvPr id="20" name="Text 18"/>
          <p:cNvSpPr txBox="1"/>
          <p:nvPr/>
        </p:nvSpPr>
        <p:spPr>
          <a:xfrm>
            <a:off x="486460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Cleaned edge density</a:t>
            </a:r>
            <a:endParaRPr lang="en-US" sz="1100" dirty="0"/>
          </a:p>
        </p:txBody>
      </p:sp>
      <p:sp>
        <p:nvSpPr>
          <p:cNvPr id="21" name="Shape 19"/>
          <p:cNvSpPr/>
          <p:nvPr/>
        </p:nvSpPr>
        <p:spPr>
          <a:xfrm>
            <a:off x="6766560" y="1143000"/>
            <a:ext cx="1920240" cy="3063240"/>
          </a:xfrm>
          <a:prstGeom prst="roundRect">
            <a:avLst>
              <a:gd name="adj" fmla="val 4762"/>
            </a:avLst>
          </a:prstGeom>
          <a:solidFill>
            <a:srgbClr val="F1F3F5"/>
          </a:solidFill>
          <a:ln w="12700">
            <a:solidFill>
              <a:srgbClr val="F1F3F5"/>
            </a:solidFill>
            <a:prstDash val="solid"/>
          </a:ln>
        </p:spPr>
      </p:sp>
      <p:sp>
        <p:nvSpPr>
          <p:cNvPr id="22" name="Text 20"/>
          <p:cNvSpPr txBox="1"/>
          <p:nvPr/>
        </p:nvSpPr>
        <p:spPr>
          <a:xfrm>
            <a:off x="690372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Optical Flow</a:t>
            </a:r>
            <a:endParaRPr lang="en-US" sz="1800" dirty="0"/>
          </a:p>
        </p:txBody>
      </p:sp>
      <p:sp>
        <p:nvSpPr>
          <p:cNvPr id="23" name="Text 21"/>
          <p:cNvSpPr txBox="1"/>
          <p:nvPr/>
        </p:nvSpPr>
        <p:spPr>
          <a:xfrm>
            <a:off x="690372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Farneback method</a:t>
            </a:r>
            <a:endParaRPr lang="en-US" sz="1100" dirty="0"/>
          </a:p>
        </p:txBody>
      </p:sp>
      <p:sp>
        <p:nvSpPr>
          <p:cNvPr id="24" name="Text 22"/>
          <p:cNvSpPr txBox="1"/>
          <p:nvPr/>
        </p:nvSpPr>
        <p:spPr>
          <a:xfrm>
            <a:off x="690372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Compares the current frame with the previous one to see how much the head and face moved.</a:t>
            </a:r>
            <a:endParaRPr lang="en-US" sz="1200" dirty="0"/>
          </a:p>
        </p:txBody>
      </p:sp>
      <p:sp>
        <p:nvSpPr>
          <p:cNvPr id="25" name="Shape 23"/>
          <p:cNvSpPr/>
          <p:nvPr/>
        </p:nvSpPr>
        <p:spPr>
          <a:xfrm>
            <a:off x="6876288" y="3520440"/>
            <a:ext cx="1700784" cy="548640"/>
          </a:xfrm>
          <a:prstGeom prst="roundRect">
            <a:avLst>
              <a:gd name="adj" fmla="val 10000"/>
            </a:avLst>
          </a:prstGeom>
          <a:solidFill>
            <a:srgbClr val="FFFFFF"/>
          </a:solidFill>
          <a:ln w="9525">
            <a:solidFill>
              <a:srgbClr val="D5DBE1"/>
            </a:solidFill>
            <a:prstDash val="solid"/>
          </a:ln>
        </p:spPr>
      </p:sp>
      <p:sp>
        <p:nvSpPr>
          <p:cNvPr id="26" name="Text 24"/>
          <p:cNvSpPr txBox="1"/>
          <p:nvPr/>
        </p:nvSpPr>
        <p:spPr>
          <a:xfrm>
            <a:off x="696772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Mean and max motion</a:t>
            </a:r>
            <a:endParaRPr lang="en-US" sz="1100" dirty="0"/>
          </a:p>
        </p:txBody>
      </p:sp>
      <p:sp>
        <p:nvSpPr>
          <p:cNvPr id="27" name="Text 25"/>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5F6B7A"/>
                </a:solidFill>
              </a:rPr>
              <a:t>All four run in the backend for every frame. Their values are sent back with the prediction and shown in the web app.</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Model and Training</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1800" b="1" dirty="0">
                <a:solidFill>
                  <a:srgbClr val="1F2A36"/>
                </a:solidFill>
              </a:rPr>
              <a:t>Why YOLOv8n-cls?</a:t>
            </a:r>
            <a:endParaRPr lang="en-US" sz="1800" dirty="0"/>
          </a:p>
        </p:txBody>
      </p:sp>
      <p:sp>
        <p:nvSpPr>
          <p:cNvPr id="4" name="Text 2"/>
          <p:cNvSpPr txBox="1"/>
          <p:nvPr/>
        </p:nvSpPr>
        <p:spPr>
          <a:xfrm>
            <a:off x="457200" y="1645920"/>
            <a:ext cx="393192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831"/>
                </a:solidFill>
              </a:rPr>
              <a:t>"n" = nano, the smallest YOLOv8 model</a:t>
            </a:r>
            <a:endParaRPr lang="en-US" sz="1500" dirty="0"/>
          </a:p>
          <a:p>
            <a:pPr marL="342900" indent="-342900">
              <a:spcAft>
                <a:spcPts val="800"/>
              </a:spcAft>
              <a:buSzPct val="100000"/>
              <a:buChar char="•"/>
            </a:pPr>
            <a:r>
              <a:rPr lang="en-US" sz="1500" dirty="0">
                <a:solidFill>
                  <a:srgbClr val="222831"/>
                </a:solidFill>
              </a:rPr>
              <a:t>Runs fast enough on a normal CPU</a:t>
            </a:r>
            <a:endParaRPr lang="en-US" sz="1500" dirty="0"/>
          </a:p>
          <a:p>
            <a:pPr marL="342900" indent="-342900">
              <a:spcAft>
                <a:spcPts val="800"/>
              </a:spcAft>
              <a:buSzPct val="100000"/>
              <a:buChar char="•"/>
            </a:pPr>
            <a:r>
              <a:rPr lang="en-US" sz="1500" dirty="0">
                <a:solidFill>
                  <a:srgbClr val="222831"/>
                </a:solidFill>
              </a:rPr>
              <a:t>Starts from pre-trained weights, so it learns faster with less data</a:t>
            </a:r>
            <a:endParaRPr lang="en-US" sz="1500" dirty="0"/>
          </a:p>
          <a:p>
            <a:pPr marL="342900" indent="-342900">
              <a:spcAft>
                <a:spcPts val="800"/>
              </a:spcAft>
              <a:buSzPct val="100000"/>
              <a:buChar char="•"/>
            </a:pPr>
            <a:r>
              <a:rPr lang="en-US" sz="1500" dirty="0">
                <a:solidFill>
                  <a:srgbClr val="222831"/>
                </a:solidFill>
              </a:rPr>
              <a:t>Ultralytics library makes training and saving the model simple</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234440"/>
          <a:ext cx="3840480" cy="914400"/>
        </p:xfrm>
        <a:graphic>
          <a:graphicData uri="http://schemas.openxmlformats.org/drawingml/2006/table">
            <a:tbl>
              <a:tblPr/>
              <a:tblGrid>
                <a:gridCol w="1554480"/>
                <a:gridCol w="22860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2A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2A36"/>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Base model</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yolov8n-cls.pt</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Image size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224 × 224</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Epochs run</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Classes</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Alert, Drowsy</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best.pt (used in backend)</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bl>
          </a:graphicData>
        </a:graphic>
      </p:graphicFrame>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Implementation: System Setup</a:t>
            </a:r>
            <a:endParaRPr lang="en-US" sz="3000" dirty="0"/>
          </a:p>
        </p:txBody>
      </p:sp>
      <p:sp>
        <p:nvSpPr>
          <p:cNvPr id="3" name="Shape 1"/>
          <p:cNvSpPr/>
          <p:nvPr/>
        </p:nvSpPr>
        <p:spPr>
          <a:xfrm>
            <a:off x="457200" y="1234440"/>
            <a:ext cx="2514600" cy="3017520"/>
          </a:xfrm>
          <a:prstGeom prst="roundRect">
            <a:avLst>
              <a:gd name="adj" fmla="val 3636"/>
            </a:avLst>
          </a:prstGeom>
          <a:solidFill>
            <a:srgbClr val="F1F3F5"/>
          </a:solidFill>
          <a:ln w="12700">
            <a:solidFill>
              <a:srgbClr val="F1F3F5"/>
            </a:solidFill>
            <a:prstDash val="solid"/>
          </a:ln>
        </p:spPr>
      </p:sp>
      <p:sp>
        <p:nvSpPr>
          <p:cNvPr id="4" name="Text 2"/>
          <p:cNvSpPr txBox="1"/>
          <p:nvPr/>
        </p:nvSpPr>
        <p:spPr>
          <a:xfrm>
            <a:off x="6400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Frontend</a:t>
            </a:r>
            <a:endParaRPr lang="en-US" sz="2000" dirty="0"/>
          </a:p>
        </p:txBody>
      </p:sp>
      <p:sp>
        <p:nvSpPr>
          <p:cNvPr id="5" name="Text 3"/>
          <p:cNvSpPr txBox="1"/>
          <p:nvPr/>
        </p:nvSpPr>
        <p:spPr>
          <a:xfrm>
            <a:off x="6400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Next.js 14 + React</a:t>
            </a:r>
            <a:endParaRPr lang="en-US" sz="1300" dirty="0"/>
          </a:p>
        </p:txBody>
      </p:sp>
      <p:sp>
        <p:nvSpPr>
          <p:cNvPr id="6" name="Text 4"/>
          <p:cNvSpPr txBox="1"/>
          <p:nvPr/>
        </p:nvSpPr>
        <p:spPr>
          <a:xfrm>
            <a:off x="6400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Opens the webcam</a:t>
            </a:r>
            <a:endParaRPr lang="en-US" sz="1300" dirty="0"/>
          </a:p>
          <a:p>
            <a:pPr marL="342900" indent="-342900">
              <a:spcAft>
                <a:spcPts val="500"/>
              </a:spcAft>
              <a:buSzPct val="100000"/>
              <a:buChar char="•"/>
            </a:pPr>
            <a:r>
              <a:rPr lang="en-US" sz="1300" dirty="0">
                <a:solidFill>
                  <a:srgbClr val="222831"/>
                </a:solidFill>
              </a:rPr>
              <a:t>Sends frames to the backend</a:t>
            </a:r>
            <a:endParaRPr lang="en-US" sz="1300" dirty="0"/>
          </a:p>
          <a:p>
            <a:pPr marL="342900" indent="-342900">
              <a:spcAft>
                <a:spcPts val="500"/>
              </a:spcAft>
              <a:buSzPct val="100000"/>
              <a:buChar char="•"/>
            </a:pPr>
            <a:r>
              <a:rPr lang="en-US" sz="1300" dirty="0">
                <a:solidFill>
                  <a:srgbClr val="222831"/>
                </a:solidFill>
              </a:rPr>
              <a:t>Shows status, confidence, alert level</a:t>
            </a:r>
            <a:endParaRPr lang="en-US" sz="1300" dirty="0"/>
          </a:p>
          <a:p>
            <a:pPr marL="342900" indent="-342900">
              <a:spcAft>
                <a:spcPts val="500"/>
              </a:spcAft>
              <a:buSzPct val="100000"/>
              <a:buChar char="•"/>
            </a:pPr>
            <a:r>
              <a:rPr lang="en-US" sz="1300" dirty="0">
                <a:solidFill>
                  <a:srgbClr val="222831"/>
                </a:solidFill>
              </a:rPr>
              <a:t>Plays the alarm sound</a:t>
            </a:r>
            <a:endParaRPr lang="en-US" sz="1300" dirty="0"/>
          </a:p>
        </p:txBody>
      </p:sp>
      <p:sp>
        <p:nvSpPr>
          <p:cNvPr id="7" name="Shape 5"/>
          <p:cNvSpPr/>
          <p:nvPr/>
        </p:nvSpPr>
        <p:spPr>
          <a:xfrm>
            <a:off x="2999232" y="2606040"/>
            <a:ext cx="288036" cy="274320"/>
          </a:xfrm>
          <a:prstGeom prst="leftRightArrow">
            <a:avLst/>
          </a:prstGeom>
          <a:solidFill>
            <a:srgbClr val="F2A900"/>
          </a:solidFill>
          <a:ln w="12700">
            <a:solidFill>
              <a:srgbClr val="F2A900"/>
            </a:solidFill>
            <a:prstDash val="solid"/>
          </a:ln>
        </p:spPr>
      </p:sp>
      <p:sp>
        <p:nvSpPr>
          <p:cNvPr id="8" name="Shape 6"/>
          <p:cNvSpPr/>
          <p:nvPr/>
        </p:nvSpPr>
        <p:spPr>
          <a:xfrm>
            <a:off x="3314700" y="1234440"/>
            <a:ext cx="2514600" cy="3017520"/>
          </a:xfrm>
          <a:prstGeom prst="roundRect">
            <a:avLst>
              <a:gd name="adj" fmla="val 3636"/>
            </a:avLst>
          </a:prstGeom>
          <a:solidFill>
            <a:srgbClr val="F1F3F5"/>
          </a:solidFill>
          <a:ln w="12700">
            <a:solidFill>
              <a:srgbClr val="F1F3F5"/>
            </a:solidFill>
            <a:prstDash val="solid"/>
          </a:ln>
        </p:spPr>
      </p:sp>
      <p:sp>
        <p:nvSpPr>
          <p:cNvPr id="9" name="Text 7"/>
          <p:cNvSpPr txBox="1"/>
          <p:nvPr/>
        </p:nvSpPr>
        <p:spPr>
          <a:xfrm>
            <a:off x="34975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Backend</a:t>
            </a:r>
            <a:endParaRPr lang="en-US" sz="2000" dirty="0"/>
          </a:p>
        </p:txBody>
      </p:sp>
      <p:sp>
        <p:nvSpPr>
          <p:cNvPr id="10" name="Text 8"/>
          <p:cNvSpPr txBox="1"/>
          <p:nvPr/>
        </p:nvSpPr>
        <p:spPr>
          <a:xfrm>
            <a:off x="34975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FastAPI (Python)</a:t>
            </a:r>
            <a:endParaRPr lang="en-US" sz="1300" dirty="0"/>
          </a:p>
        </p:txBody>
      </p:sp>
      <p:sp>
        <p:nvSpPr>
          <p:cNvPr id="11" name="Text 9"/>
          <p:cNvSpPr txBox="1"/>
          <p:nvPr/>
        </p:nvSpPr>
        <p:spPr>
          <a:xfrm>
            <a:off x="34975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/predict and /health APIs</a:t>
            </a:r>
            <a:endParaRPr lang="en-US" sz="1300" dirty="0"/>
          </a:p>
          <a:p>
            <a:pPr marL="342900" indent="-342900">
              <a:spcAft>
                <a:spcPts val="500"/>
              </a:spcAft>
              <a:buSzPct val="100000"/>
              <a:buChar char="•"/>
            </a:pPr>
            <a:r>
              <a:rPr lang="en-US" sz="1300" dirty="0">
                <a:solidFill>
                  <a:srgbClr val="222831"/>
                </a:solidFill>
              </a:rPr>
              <a:t>Image handling with OpenCV</a:t>
            </a:r>
            <a:endParaRPr lang="en-US" sz="1300" dirty="0"/>
          </a:p>
          <a:p>
            <a:pPr marL="342900" indent="-342900">
              <a:spcAft>
                <a:spcPts val="500"/>
              </a:spcAft>
              <a:buSzPct val="100000"/>
              <a:buChar char="•"/>
            </a:pPr>
            <a:r>
              <a:rPr lang="en-US" sz="1300" dirty="0">
                <a:solidFill>
                  <a:srgbClr val="222831"/>
                </a:solidFill>
              </a:rPr>
              <a:t>Keeps recent history per session</a:t>
            </a:r>
            <a:endParaRPr lang="en-US" sz="1300" dirty="0"/>
          </a:p>
          <a:p>
            <a:pPr marL="342900" indent="-342900">
              <a:spcAft>
                <a:spcPts val="500"/>
              </a:spcAft>
              <a:buSzPct val="100000"/>
              <a:buChar char="•"/>
            </a:pPr>
            <a:r>
              <a:rPr lang="en-US" sz="1300" dirty="0">
                <a:solidFill>
                  <a:srgbClr val="222831"/>
                </a:solidFill>
              </a:rPr>
              <a:t>Packaged with Docker</a:t>
            </a:r>
            <a:endParaRPr lang="en-US" sz="1300" dirty="0"/>
          </a:p>
        </p:txBody>
      </p:sp>
      <p:sp>
        <p:nvSpPr>
          <p:cNvPr id="12" name="Shape 10"/>
          <p:cNvSpPr/>
          <p:nvPr/>
        </p:nvSpPr>
        <p:spPr>
          <a:xfrm>
            <a:off x="5856732" y="2606040"/>
            <a:ext cx="288036" cy="274320"/>
          </a:xfrm>
          <a:prstGeom prst="leftRightArrow">
            <a:avLst/>
          </a:prstGeom>
          <a:solidFill>
            <a:srgbClr val="F2A900"/>
          </a:solidFill>
          <a:ln w="12700">
            <a:solidFill>
              <a:srgbClr val="F2A900"/>
            </a:solidFill>
            <a:prstDash val="solid"/>
          </a:ln>
        </p:spPr>
      </p:sp>
      <p:sp>
        <p:nvSpPr>
          <p:cNvPr id="13" name="Shape 11"/>
          <p:cNvSpPr/>
          <p:nvPr/>
        </p:nvSpPr>
        <p:spPr>
          <a:xfrm>
            <a:off x="6172200" y="1234440"/>
            <a:ext cx="2514600" cy="3017520"/>
          </a:xfrm>
          <a:prstGeom prst="roundRect">
            <a:avLst>
              <a:gd name="adj" fmla="val 3636"/>
            </a:avLst>
          </a:prstGeom>
          <a:solidFill>
            <a:srgbClr val="F1F3F5"/>
          </a:solidFill>
          <a:ln w="12700">
            <a:solidFill>
              <a:srgbClr val="F1F3F5"/>
            </a:solidFill>
            <a:prstDash val="solid"/>
          </a:ln>
        </p:spPr>
      </p:sp>
      <p:sp>
        <p:nvSpPr>
          <p:cNvPr id="14" name="Text 12"/>
          <p:cNvSpPr txBox="1"/>
          <p:nvPr/>
        </p:nvSpPr>
        <p:spPr>
          <a:xfrm>
            <a:off x="63550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Model</a:t>
            </a:r>
            <a:endParaRPr lang="en-US" sz="2000" dirty="0"/>
          </a:p>
        </p:txBody>
      </p:sp>
      <p:sp>
        <p:nvSpPr>
          <p:cNvPr id="15" name="Text 13"/>
          <p:cNvSpPr txBox="1"/>
          <p:nvPr/>
        </p:nvSpPr>
        <p:spPr>
          <a:xfrm>
            <a:off x="63550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YOLOv8n-cls (PyTorch)</a:t>
            </a:r>
            <a:endParaRPr lang="en-US" sz="1300" dirty="0"/>
          </a:p>
        </p:txBody>
      </p:sp>
      <p:sp>
        <p:nvSpPr>
          <p:cNvPr id="16" name="Text 14"/>
          <p:cNvSpPr txBox="1"/>
          <p:nvPr/>
        </p:nvSpPr>
        <p:spPr>
          <a:xfrm>
            <a:off x="63550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Loaded once at startup</a:t>
            </a:r>
            <a:endParaRPr lang="en-US" sz="1300" dirty="0"/>
          </a:p>
          <a:p>
            <a:pPr marL="342900" indent="-342900">
              <a:spcAft>
                <a:spcPts val="500"/>
              </a:spcAft>
              <a:buSzPct val="100000"/>
              <a:buChar char="•"/>
            </a:pPr>
            <a:r>
              <a:rPr lang="en-US" sz="1300" dirty="0">
                <a:solidFill>
                  <a:srgbClr val="222831"/>
                </a:solidFill>
              </a:rPr>
              <a:t>Returns Alert / Drowsy probability</a:t>
            </a:r>
            <a:endParaRPr lang="en-US" sz="1300" dirty="0"/>
          </a:p>
          <a:p>
            <a:pPr marL="342900" indent="-342900">
              <a:spcAft>
                <a:spcPts val="500"/>
              </a:spcAft>
              <a:buSzPct val="100000"/>
              <a:buChar char="•"/>
            </a:pPr>
            <a:r>
              <a:rPr lang="en-US" sz="1300" dirty="0">
                <a:solidFill>
                  <a:srgbClr val="222831"/>
                </a:solidFill>
              </a:rPr>
              <a:t>Trained weights: best.pt</a:t>
            </a:r>
            <a:endParaRPr lang="en-US" sz="1300" dirty="0"/>
          </a:p>
        </p:txBody>
      </p:sp>
      <p:sp>
        <p:nvSpPr>
          <p:cNvPr id="17" name="Text 15"/>
          <p:cNvSpPr txBox="1"/>
          <p:nvPr/>
        </p:nvSpPr>
        <p:spPr>
          <a:xfrm>
            <a:off x="457200" y="4389120"/>
            <a:ext cx="7772400" cy="274320"/>
          </a:xfrm>
          <a:prstGeom prst="rect">
            <a:avLst/>
          </a:prstGeom>
          <a:noFill/>
          <a:ln/>
        </p:spPr>
        <p:txBody>
          <a:bodyPr wrap="square" lIns="0" tIns="0" rIns="0" bIns="0" rtlCol="0" anchor="t"/>
          <a:lstStyle/>
          <a:p>
            <a:pPr indent="0" marL="0">
              <a:buNone/>
            </a:pPr>
            <a:r>
              <a:rPr lang="en-US" sz="1200" i="1" dirty="0">
                <a:solidFill>
                  <a:srgbClr val="5F6B7A"/>
                </a:solidFill>
              </a:rPr>
              <a:t>Image goes as a POST request → JSON result comes back</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Implementation: Deciding When to Alert</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1700" b="1" dirty="0">
                <a:solidFill>
                  <a:srgbClr val="1F2A36"/>
                </a:solidFill>
              </a:rPr>
              <a:t>1.  Lower threshold</a:t>
            </a:r>
            <a:endParaRPr lang="en-US" sz="1700" dirty="0"/>
          </a:p>
        </p:txBody>
      </p:sp>
      <p:sp>
        <p:nvSpPr>
          <p:cNvPr id="4" name="Text 2"/>
          <p:cNvSpPr txBox="1"/>
          <p:nvPr/>
        </p:nvSpPr>
        <p:spPr>
          <a:xfrm>
            <a:off x="457200" y="1600200"/>
            <a:ext cx="3931920" cy="1188720"/>
          </a:xfrm>
          <a:prstGeom prst="rect">
            <a:avLst/>
          </a:prstGeom>
          <a:noFill/>
          <a:ln/>
        </p:spPr>
        <p:txBody>
          <a:bodyPr wrap="square" lIns="0" tIns="0" rIns="0" bIns="0" rtlCol="0" anchor="t"/>
          <a:lstStyle/>
          <a:p>
            <a:pPr indent="0" marL="0">
              <a:buNone/>
            </a:pPr>
            <a:r>
              <a:rPr lang="en-US" sz="1400" dirty="0">
                <a:solidFill>
                  <a:srgbClr val="222831"/>
                </a:solidFill>
              </a:rPr>
              <a:t>A frame counts as drowsy if the drowsy probability is 0.20 or more (not the usual 0.50). Missing a sleepy driver is worse than an extra warning. We picked this value by testing on the validation set.</a:t>
            </a:r>
            <a:endParaRPr lang="en-US" sz="1400" dirty="0"/>
          </a:p>
        </p:txBody>
      </p:sp>
      <p:sp>
        <p:nvSpPr>
          <p:cNvPr id="5" name="Text 3"/>
          <p:cNvSpPr txBox="1"/>
          <p:nvPr/>
        </p:nvSpPr>
        <p:spPr>
          <a:xfrm>
            <a:off x="457200" y="2880360"/>
            <a:ext cx="3931920" cy="365760"/>
          </a:xfrm>
          <a:prstGeom prst="rect">
            <a:avLst/>
          </a:prstGeom>
          <a:noFill/>
          <a:ln/>
        </p:spPr>
        <p:txBody>
          <a:bodyPr wrap="square" lIns="0" tIns="0" rIns="0" bIns="0" rtlCol="0" anchor="t"/>
          <a:lstStyle/>
          <a:p>
            <a:pPr indent="0" marL="0">
              <a:buNone/>
            </a:pPr>
            <a:r>
              <a:rPr lang="en-US" sz="1700" b="1" dirty="0">
                <a:solidFill>
                  <a:srgbClr val="1F2A36"/>
                </a:solidFill>
              </a:rPr>
              <a:t>2.  Look at the last 10 frames</a:t>
            </a:r>
            <a:endParaRPr lang="en-US" sz="1700" dirty="0"/>
          </a:p>
        </p:txBody>
      </p:sp>
      <p:sp>
        <p:nvSpPr>
          <p:cNvPr id="6" name="Text 4"/>
          <p:cNvSpPr txBox="1"/>
          <p:nvPr/>
        </p:nvSpPr>
        <p:spPr>
          <a:xfrm>
            <a:off x="457200" y="3291840"/>
            <a:ext cx="3931920" cy="1280160"/>
          </a:xfrm>
          <a:prstGeom prst="rect">
            <a:avLst/>
          </a:prstGeom>
          <a:noFill/>
          <a:ln/>
        </p:spPr>
        <p:txBody>
          <a:bodyPr wrap="square" lIns="0" tIns="0" rIns="0" bIns="0" rtlCol="0" anchor="t"/>
          <a:lstStyle/>
          <a:p>
            <a:pPr indent="0" marL="0">
              <a:buNone/>
            </a:pPr>
            <a:r>
              <a:rPr lang="en-US" sz="1400" dirty="0">
                <a:solidFill>
                  <a:srgbClr val="222831"/>
                </a:solidFill>
              </a:rPr>
              <a:t>One bad frame (a blink, looking down) shouldn't trigger anything. We count how many recent frames were drowsy and how many came in a row. The browser beeps after 5 seconds of continuous drowsiness.</a:t>
            </a:r>
            <a:endParaRPr lang="en-US" sz="1400" dirty="0"/>
          </a:p>
        </p:txBody>
      </p:sp>
      <p:sp>
        <p:nvSpPr>
          <p:cNvPr id="7" name="Shape 5"/>
          <p:cNvSpPr/>
          <p:nvPr/>
        </p:nvSpPr>
        <p:spPr>
          <a:xfrm>
            <a:off x="4846320" y="1234440"/>
            <a:ext cx="3840480" cy="685800"/>
          </a:xfrm>
          <a:prstGeom prst="roundRect">
            <a:avLst>
              <a:gd name="adj" fmla="val 10667"/>
            </a:avLst>
          </a:prstGeom>
          <a:solidFill>
            <a:srgbClr val="F1F3F5"/>
          </a:solidFill>
          <a:ln w="12700">
            <a:solidFill>
              <a:srgbClr val="F1F3F5"/>
            </a:solidFill>
            <a:prstDash val="solid"/>
          </a:ln>
        </p:spPr>
      </p:sp>
      <p:sp>
        <p:nvSpPr>
          <p:cNvPr id="8" name="Shape 6"/>
          <p:cNvSpPr/>
          <p:nvPr/>
        </p:nvSpPr>
        <p:spPr>
          <a:xfrm>
            <a:off x="5010912" y="1417320"/>
            <a:ext cx="320040" cy="320040"/>
          </a:xfrm>
          <a:prstGeom prst="ellipse">
            <a:avLst/>
          </a:prstGeom>
          <a:solidFill>
            <a:srgbClr val="2E8B57"/>
          </a:solidFill>
          <a:ln w="12700">
            <a:solidFill>
              <a:srgbClr val="2E8B57"/>
            </a:solidFill>
            <a:prstDash val="solid"/>
          </a:ln>
        </p:spPr>
      </p:sp>
      <p:sp>
        <p:nvSpPr>
          <p:cNvPr id="9" name="Text 7"/>
          <p:cNvSpPr txBox="1"/>
          <p:nvPr/>
        </p:nvSpPr>
        <p:spPr>
          <a:xfrm>
            <a:off x="5486400" y="130759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0  Safe</a:t>
            </a:r>
            <a:endParaRPr lang="en-US" sz="1500" dirty="0"/>
          </a:p>
        </p:txBody>
      </p:sp>
      <p:sp>
        <p:nvSpPr>
          <p:cNvPr id="10" name="Text 8"/>
          <p:cNvSpPr txBox="1"/>
          <p:nvPr/>
        </p:nvSpPr>
        <p:spPr>
          <a:xfrm>
            <a:off x="5486400" y="1600200"/>
            <a:ext cx="3017520" cy="274320"/>
          </a:xfrm>
          <a:prstGeom prst="rect">
            <a:avLst/>
          </a:prstGeom>
          <a:noFill/>
          <a:ln/>
        </p:spPr>
        <p:txBody>
          <a:bodyPr wrap="square" lIns="0" tIns="0" rIns="0" bIns="0" rtlCol="0" anchor="t"/>
          <a:lstStyle/>
          <a:p>
            <a:pPr indent="0" marL="0">
              <a:buNone/>
            </a:pPr>
            <a:r>
              <a:rPr lang="en-US" sz="1200" dirty="0">
                <a:solidFill>
                  <a:srgbClr val="5F6B7A"/>
                </a:solidFill>
              </a:rPr>
              <a:t>Driver looks alert</a:t>
            </a:r>
            <a:endParaRPr lang="en-US" sz="1200" dirty="0"/>
          </a:p>
        </p:txBody>
      </p:sp>
      <p:sp>
        <p:nvSpPr>
          <p:cNvPr id="11" name="Shape 9"/>
          <p:cNvSpPr/>
          <p:nvPr/>
        </p:nvSpPr>
        <p:spPr>
          <a:xfrm>
            <a:off x="4846320" y="2057400"/>
            <a:ext cx="3840480" cy="685800"/>
          </a:xfrm>
          <a:prstGeom prst="roundRect">
            <a:avLst>
              <a:gd name="adj" fmla="val 10667"/>
            </a:avLst>
          </a:prstGeom>
          <a:solidFill>
            <a:srgbClr val="F1F3F5"/>
          </a:solidFill>
          <a:ln w="12700">
            <a:solidFill>
              <a:srgbClr val="F1F3F5"/>
            </a:solidFill>
            <a:prstDash val="solid"/>
          </a:ln>
        </p:spPr>
      </p:sp>
      <p:sp>
        <p:nvSpPr>
          <p:cNvPr id="12" name="Shape 10"/>
          <p:cNvSpPr/>
          <p:nvPr/>
        </p:nvSpPr>
        <p:spPr>
          <a:xfrm>
            <a:off x="5010912" y="2240280"/>
            <a:ext cx="320040" cy="320040"/>
          </a:xfrm>
          <a:prstGeom prst="ellipse">
            <a:avLst/>
          </a:prstGeom>
          <a:solidFill>
            <a:srgbClr val="F2A900"/>
          </a:solidFill>
          <a:ln w="12700">
            <a:solidFill>
              <a:srgbClr val="F2A900"/>
            </a:solidFill>
            <a:prstDash val="solid"/>
          </a:ln>
        </p:spPr>
      </p:sp>
      <p:sp>
        <p:nvSpPr>
          <p:cNvPr id="13" name="Text 11"/>
          <p:cNvSpPr txBox="1"/>
          <p:nvPr/>
        </p:nvSpPr>
        <p:spPr>
          <a:xfrm>
            <a:off x="5486400" y="213055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1  Caution</a:t>
            </a:r>
            <a:endParaRPr lang="en-US" sz="1500" dirty="0"/>
          </a:p>
        </p:txBody>
      </p:sp>
      <p:sp>
        <p:nvSpPr>
          <p:cNvPr id="14" name="Text 12"/>
          <p:cNvSpPr txBox="1"/>
          <p:nvPr/>
        </p:nvSpPr>
        <p:spPr>
          <a:xfrm>
            <a:off x="5486400" y="2423160"/>
            <a:ext cx="3017520" cy="274320"/>
          </a:xfrm>
          <a:prstGeom prst="rect">
            <a:avLst/>
          </a:prstGeom>
          <a:noFill/>
          <a:ln/>
        </p:spPr>
        <p:txBody>
          <a:bodyPr wrap="square" lIns="0" tIns="0" rIns="0" bIns="0" rtlCol="0" anchor="t"/>
          <a:lstStyle/>
          <a:p>
            <a:pPr indent="0" marL="0">
              <a:buNone/>
            </a:pPr>
            <a:r>
              <a:rPr lang="en-US" sz="1200" dirty="0">
                <a:solidFill>
                  <a:srgbClr val="5F6B7A"/>
                </a:solidFill>
              </a:rPr>
              <a:t>30%+ drowsy, or 2 in a row</a:t>
            </a:r>
            <a:endParaRPr lang="en-US" sz="1200" dirty="0"/>
          </a:p>
        </p:txBody>
      </p:sp>
      <p:sp>
        <p:nvSpPr>
          <p:cNvPr id="15" name="Shape 13"/>
          <p:cNvSpPr/>
          <p:nvPr/>
        </p:nvSpPr>
        <p:spPr>
          <a:xfrm>
            <a:off x="4846320" y="2880360"/>
            <a:ext cx="3840480" cy="685800"/>
          </a:xfrm>
          <a:prstGeom prst="roundRect">
            <a:avLst>
              <a:gd name="adj" fmla="val 10667"/>
            </a:avLst>
          </a:prstGeom>
          <a:solidFill>
            <a:srgbClr val="F1F3F5"/>
          </a:solidFill>
          <a:ln w="12700">
            <a:solidFill>
              <a:srgbClr val="F1F3F5"/>
            </a:solidFill>
            <a:prstDash val="solid"/>
          </a:ln>
        </p:spPr>
      </p:sp>
      <p:sp>
        <p:nvSpPr>
          <p:cNvPr id="16" name="Shape 14"/>
          <p:cNvSpPr/>
          <p:nvPr/>
        </p:nvSpPr>
        <p:spPr>
          <a:xfrm>
            <a:off x="5010912" y="3063240"/>
            <a:ext cx="320040" cy="320040"/>
          </a:xfrm>
          <a:prstGeom prst="ellipse">
            <a:avLst/>
          </a:prstGeom>
          <a:solidFill>
            <a:srgbClr val="E67E22"/>
          </a:solidFill>
          <a:ln w="12700">
            <a:solidFill>
              <a:srgbClr val="E67E22"/>
            </a:solidFill>
            <a:prstDash val="solid"/>
          </a:ln>
        </p:spPr>
      </p:sp>
      <p:sp>
        <p:nvSpPr>
          <p:cNvPr id="17" name="Text 15"/>
          <p:cNvSpPr txBox="1"/>
          <p:nvPr/>
        </p:nvSpPr>
        <p:spPr>
          <a:xfrm>
            <a:off x="5486400" y="295351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2  Warning</a:t>
            </a:r>
            <a:endParaRPr lang="en-US" sz="1500" dirty="0"/>
          </a:p>
        </p:txBody>
      </p:sp>
      <p:sp>
        <p:nvSpPr>
          <p:cNvPr id="18" name="Text 16"/>
          <p:cNvSpPr txBox="1"/>
          <p:nvPr/>
        </p:nvSpPr>
        <p:spPr>
          <a:xfrm>
            <a:off x="5486400" y="3246120"/>
            <a:ext cx="3017520" cy="274320"/>
          </a:xfrm>
          <a:prstGeom prst="rect">
            <a:avLst/>
          </a:prstGeom>
          <a:noFill/>
          <a:ln/>
        </p:spPr>
        <p:txBody>
          <a:bodyPr wrap="square" lIns="0" tIns="0" rIns="0" bIns="0" rtlCol="0" anchor="t"/>
          <a:lstStyle/>
          <a:p>
            <a:pPr indent="0" marL="0">
              <a:buNone/>
            </a:pPr>
            <a:r>
              <a:rPr lang="en-US" sz="1200" dirty="0">
                <a:solidFill>
                  <a:srgbClr val="5F6B7A"/>
                </a:solidFill>
              </a:rPr>
              <a:t>3 drowsy frames in a row</a:t>
            </a:r>
            <a:endParaRPr lang="en-US" sz="1200" dirty="0"/>
          </a:p>
        </p:txBody>
      </p:sp>
      <p:sp>
        <p:nvSpPr>
          <p:cNvPr id="19" name="Shape 17"/>
          <p:cNvSpPr/>
          <p:nvPr/>
        </p:nvSpPr>
        <p:spPr>
          <a:xfrm>
            <a:off x="4846320" y="3703320"/>
            <a:ext cx="3840480" cy="685800"/>
          </a:xfrm>
          <a:prstGeom prst="roundRect">
            <a:avLst>
              <a:gd name="adj" fmla="val 10667"/>
            </a:avLst>
          </a:prstGeom>
          <a:solidFill>
            <a:srgbClr val="F1F3F5"/>
          </a:solidFill>
          <a:ln w="12700">
            <a:solidFill>
              <a:srgbClr val="F1F3F5"/>
            </a:solidFill>
            <a:prstDash val="solid"/>
          </a:ln>
        </p:spPr>
      </p:sp>
      <p:sp>
        <p:nvSpPr>
          <p:cNvPr id="20" name="Shape 18"/>
          <p:cNvSpPr/>
          <p:nvPr/>
        </p:nvSpPr>
        <p:spPr>
          <a:xfrm>
            <a:off x="5010912" y="3886200"/>
            <a:ext cx="320040" cy="320040"/>
          </a:xfrm>
          <a:prstGeom prst="ellipse">
            <a:avLst/>
          </a:prstGeom>
          <a:solidFill>
            <a:srgbClr val="C0392B"/>
          </a:solidFill>
          <a:ln w="12700">
            <a:solidFill>
              <a:srgbClr val="C0392B"/>
            </a:solidFill>
            <a:prstDash val="solid"/>
          </a:ln>
        </p:spPr>
      </p:sp>
      <p:sp>
        <p:nvSpPr>
          <p:cNvPr id="21" name="Text 19"/>
          <p:cNvSpPr txBox="1"/>
          <p:nvPr/>
        </p:nvSpPr>
        <p:spPr>
          <a:xfrm>
            <a:off x="5486400" y="377647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3  Danger</a:t>
            </a:r>
            <a:endParaRPr lang="en-US" sz="1500" dirty="0"/>
          </a:p>
        </p:txBody>
      </p:sp>
      <p:sp>
        <p:nvSpPr>
          <p:cNvPr id="22" name="Text 20"/>
          <p:cNvSpPr txBox="1"/>
          <p:nvPr/>
        </p:nvSpPr>
        <p:spPr>
          <a:xfrm>
            <a:off x="5486400" y="4069080"/>
            <a:ext cx="3017520" cy="274320"/>
          </a:xfrm>
          <a:prstGeom prst="rect">
            <a:avLst/>
          </a:prstGeom>
          <a:noFill/>
          <a:ln/>
        </p:spPr>
        <p:txBody>
          <a:bodyPr wrap="square" lIns="0" tIns="0" rIns="0" bIns="0" rtlCol="0" anchor="t"/>
          <a:lstStyle/>
          <a:p>
            <a:pPr indent="0" marL="0">
              <a:buNone/>
            </a:pPr>
            <a:r>
              <a:rPr lang="en-US" sz="1200" dirty="0">
                <a:solidFill>
                  <a:srgbClr val="5F6B7A"/>
                </a:solidFill>
              </a:rPr>
              <a:t>5 in a row → pull over</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Results: Training Progress</a:t>
            </a:r>
            <a:endParaRPr lang="en-US" sz="3000" dirty="0"/>
          </a:p>
        </p:txBody>
      </p:sp>
      <p:graphicFrame>
        <p:nvGraphicFramePr>
          <p:cNvPr id="3" name="Chart 0" descr=""/>
          <p:cNvGraphicFramePr/>
          <p:nvPr/>
        </p:nvGraphicFramePr>
        <p:xfrm>
          <a:off x="365760" y="109728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217920" y="1280160"/>
            <a:ext cx="2468880" cy="731520"/>
          </a:xfrm>
          <a:prstGeom prst="rect">
            <a:avLst/>
          </a:prstGeom>
          <a:noFill/>
          <a:ln/>
        </p:spPr>
        <p:txBody>
          <a:bodyPr wrap="square" lIns="0" tIns="0" rIns="0" bIns="0" rtlCol="0" anchor="t"/>
          <a:lstStyle/>
          <a:p>
            <a:pPr indent="0" marL="0">
              <a:buNone/>
            </a:pPr>
            <a:r>
              <a:rPr lang="en-US" sz="4400" b="1" dirty="0">
                <a:solidFill>
                  <a:srgbClr val="2E8B57"/>
                </a:solidFill>
              </a:rPr>
              <a:t>85.4%</a:t>
            </a:r>
            <a:endParaRPr lang="en-US" sz="4400" dirty="0"/>
          </a:p>
        </p:txBody>
      </p:sp>
      <p:sp>
        <p:nvSpPr>
          <p:cNvPr id="5" name="Text 2"/>
          <p:cNvSpPr txBox="1"/>
          <p:nvPr/>
        </p:nvSpPr>
        <p:spPr>
          <a:xfrm>
            <a:off x="6217920" y="2011680"/>
            <a:ext cx="2468880" cy="457200"/>
          </a:xfrm>
          <a:prstGeom prst="rect">
            <a:avLst/>
          </a:prstGeom>
          <a:noFill/>
          <a:ln/>
        </p:spPr>
        <p:txBody>
          <a:bodyPr wrap="square" lIns="0" tIns="0" rIns="0" bIns="0" rtlCol="0" anchor="t"/>
          <a:lstStyle/>
          <a:p>
            <a:pPr indent="0" marL="0">
              <a:buNone/>
            </a:pPr>
            <a:r>
              <a:rPr lang="en-US" sz="1400" dirty="0">
                <a:solidFill>
                  <a:srgbClr val="5F6B7A"/>
                </a:solidFill>
              </a:rPr>
              <a:t>best accuracy, reached at epoch 15</a:t>
            </a:r>
            <a:endParaRPr lang="en-US" sz="1400" dirty="0"/>
          </a:p>
        </p:txBody>
      </p:sp>
      <p:sp>
        <p:nvSpPr>
          <p:cNvPr id="6" name="Text 3"/>
          <p:cNvSpPr txBox="1"/>
          <p:nvPr/>
        </p:nvSpPr>
        <p:spPr>
          <a:xfrm>
            <a:off x="6217920" y="2743200"/>
            <a:ext cx="246888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Validation loss went down from 0.53 to about 0.42</a:t>
            </a:r>
            <a:endParaRPr lang="en-US" sz="1300" dirty="0"/>
          </a:p>
          <a:p>
            <a:pPr marL="342900" indent="-342900">
              <a:spcAft>
                <a:spcPts val="800"/>
              </a:spcAft>
              <a:buSzPct val="100000"/>
              <a:buChar char="•"/>
            </a:pPr>
            <a:r>
              <a:rPr lang="en-US" sz="1300" dirty="0">
                <a:solidFill>
                  <a:srgbClr val="222831"/>
                </a:solidFill>
              </a:rPr>
              <a:t>Accuracy jumps around between epochs, so we kept the best checkpoint</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Results: Where the Model Gets It Right and Wrong</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389120" cy="914400"/>
        </p:xfrm>
        <a:graphic>
          <a:graphicData uri="http://schemas.openxmlformats.org/drawingml/2006/table">
            <a:tbl>
              <a:tblPr/>
              <a:tblGrid>
                <a:gridCol w="1371600"/>
                <a:gridCol w="1508760"/>
                <a:gridCol w="1508760"/>
              </a:tblGrid>
              <a:tr h="457200">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Alert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Drowsy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36"/>
                    </a:solidFill>
                  </a:tcPr>
                </a:tc>
              </a:tr>
              <a:tr h="914400">
                <a:tc>
                  <a:txBody>
                    <a:bodyPr/>
                    <a:lstStyle/>
                    <a:p>
                      <a:pPr algn="ctr" indent="0" marL="0">
                        <a:buNone/>
                      </a:pPr>
                      <a:r>
                        <a:rPr lang="en-US" sz="1300" b="1" dirty="0">
                          <a:solidFill>
                            <a:srgbClr val="1F2A36"/>
                          </a:solidFill>
                          <a:latin typeface="Calibri" pitchFamily="34" charset="0"/>
                          <a:ea typeface="Calibri" pitchFamily="34" charset="-122"/>
                          <a:cs typeface="Calibri" pitchFamily="34" charset="-120"/>
                        </a:rPr>
                        <a:t>Actually Alert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3F5"/>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897</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8B57"/>
                    </a:solidFill>
                  </a:tcPr>
                </a:tc>
                <a:tc>
                  <a:txBody>
                    <a:bodyPr/>
                    <a:lstStyle/>
                    <a:p>
                      <a:pPr algn="ctr" indent="0" marL="0">
                        <a:buNone/>
                      </a:pPr>
                      <a:r>
                        <a:rPr lang="en-US" sz="2200" b="1" dirty="0">
                          <a:solidFill>
                            <a:srgbClr val="C0392B"/>
                          </a:solidFill>
                          <a:latin typeface="Calibri" pitchFamily="34" charset="0"/>
                          <a:ea typeface="Calibri" pitchFamily="34" charset="-122"/>
                          <a:cs typeface="Calibri" pitchFamily="34" charset="-120"/>
                        </a:rPr>
                        <a:t>15</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r>
              <a:tr h="914400">
                <a:tc>
                  <a:txBody>
                    <a:bodyPr/>
                    <a:lstStyle/>
                    <a:p>
                      <a:pPr algn="ctr" indent="0" marL="0">
                        <a:buNone/>
                      </a:pPr>
                      <a:r>
                        <a:rPr lang="en-US" sz="1300" b="1" dirty="0">
                          <a:solidFill>
                            <a:srgbClr val="1F2A36"/>
                          </a:solidFill>
                          <a:latin typeface="Calibri" pitchFamily="34" charset="0"/>
                          <a:ea typeface="Calibri" pitchFamily="34" charset="-122"/>
                          <a:cs typeface="Calibri" pitchFamily="34" charset="-120"/>
                        </a:rPr>
                        <a:t>Actually Drowsy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3F5"/>
                    </a:solidFill>
                  </a:tcPr>
                </a:tc>
                <a:tc>
                  <a:txBody>
                    <a:bodyPr/>
                    <a:lstStyle/>
                    <a:p>
                      <a:pPr algn="ctr" indent="0" marL="0">
                        <a:buNone/>
                      </a:pPr>
                      <a:r>
                        <a:rPr lang="en-US" sz="2200" b="1" dirty="0">
                          <a:solidFill>
                            <a:srgbClr val="C0392B"/>
                          </a:solidFill>
                          <a:latin typeface="Calibri" pitchFamily="34" charset="0"/>
                          <a:ea typeface="Calibri" pitchFamily="34" charset="-122"/>
                          <a:cs typeface="Calibri" pitchFamily="34" charset="-120"/>
                        </a:rPr>
                        <a:t>253</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659</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8B57"/>
                    </a:solidFill>
                  </a:tcPr>
                </a:tc>
              </a:tr>
            </a:tbl>
          </a:graphicData>
        </a:graphic>
      </p:graphicFrame>
      <p:sp>
        <p:nvSpPr>
          <p:cNvPr id="4" name="Text 1"/>
          <p:cNvSpPr txBox="1"/>
          <p:nvPr/>
        </p:nvSpPr>
        <p:spPr>
          <a:xfrm>
            <a:off x="457200" y="3703320"/>
            <a:ext cx="4389120" cy="274320"/>
          </a:xfrm>
          <a:prstGeom prst="rect">
            <a:avLst/>
          </a:prstGeom>
          <a:noFill/>
          <a:ln/>
        </p:spPr>
        <p:txBody>
          <a:bodyPr wrap="square" lIns="0" tIns="0" rIns="0" bIns="0" rtlCol="0" anchor="t"/>
          <a:lstStyle/>
          <a:p>
            <a:pPr indent="0" marL="0">
              <a:buNone/>
            </a:pPr>
            <a:r>
              <a:rPr lang="en-US" sz="1100" i="1" dirty="0">
                <a:solidFill>
                  <a:srgbClr val="5F6B7A"/>
                </a:solidFill>
              </a:rPr>
              <a:t>Validation set: 1,824 images, default 0.5 cut-off</a:t>
            </a:r>
            <a:endParaRPr lang="en-US" sz="1100" dirty="0"/>
          </a:p>
        </p:txBody>
      </p:sp>
      <p:sp>
        <p:nvSpPr>
          <p:cNvPr id="5" name="Shape 2"/>
          <p:cNvSpPr/>
          <p:nvPr/>
        </p:nvSpPr>
        <p:spPr>
          <a:xfrm>
            <a:off x="5303520" y="1280160"/>
            <a:ext cx="1600200" cy="1005840"/>
          </a:xfrm>
          <a:prstGeom prst="roundRect">
            <a:avLst>
              <a:gd name="adj" fmla="val 7273"/>
            </a:avLst>
          </a:prstGeom>
          <a:solidFill>
            <a:srgbClr val="F1F3F5"/>
          </a:solidFill>
          <a:ln w="12700">
            <a:solidFill>
              <a:srgbClr val="F1F3F5"/>
            </a:solidFill>
            <a:prstDash val="solid"/>
          </a:ln>
        </p:spPr>
      </p:sp>
      <p:sp>
        <p:nvSpPr>
          <p:cNvPr id="6" name="Text 3"/>
          <p:cNvSpPr txBox="1"/>
          <p:nvPr/>
        </p:nvSpPr>
        <p:spPr>
          <a:xfrm>
            <a:off x="5303520" y="1389888"/>
            <a:ext cx="1600200" cy="502920"/>
          </a:xfrm>
          <a:prstGeom prst="rect">
            <a:avLst/>
          </a:prstGeom>
          <a:noFill/>
          <a:ln/>
        </p:spPr>
        <p:txBody>
          <a:bodyPr wrap="square" lIns="0" tIns="0" rIns="0" bIns="0" rtlCol="0" anchor="t"/>
          <a:lstStyle/>
          <a:p>
            <a:pPr algn="ctr" indent="0" marL="0">
              <a:buNone/>
            </a:pPr>
            <a:r>
              <a:rPr lang="en-US" sz="2400" b="1" dirty="0">
                <a:solidFill>
                  <a:srgbClr val="1F2A36"/>
                </a:solidFill>
              </a:rPr>
              <a:t>85.3%</a:t>
            </a:r>
            <a:endParaRPr lang="en-US" sz="2400" dirty="0"/>
          </a:p>
        </p:txBody>
      </p:sp>
      <p:sp>
        <p:nvSpPr>
          <p:cNvPr id="7" name="Text 4"/>
          <p:cNvSpPr txBox="1"/>
          <p:nvPr/>
        </p:nvSpPr>
        <p:spPr>
          <a:xfrm>
            <a:off x="5303520" y="192024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Overall accuracy</a:t>
            </a:r>
            <a:endParaRPr lang="en-US" sz="1200" dirty="0"/>
          </a:p>
        </p:txBody>
      </p:sp>
      <p:sp>
        <p:nvSpPr>
          <p:cNvPr id="8" name="Shape 5"/>
          <p:cNvSpPr/>
          <p:nvPr/>
        </p:nvSpPr>
        <p:spPr>
          <a:xfrm>
            <a:off x="7040880" y="1280160"/>
            <a:ext cx="1600200" cy="1005840"/>
          </a:xfrm>
          <a:prstGeom prst="roundRect">
            <a:avLst>
              <a:gd name="adj" fmla="val 7273"/>
            </a:avLst>
          </a:prstGeom>
          <a:solidFill>
            <a:srgbClr val="F1F3F5"/>
          </a:solidFill>
          <a:ln w="12700">
            <a:solidFill>
              <a:srgbClr val="F1F3F5"/>
            </a:solidFill>
            <a:prstDash val="solid"/>
          </a:ln>
        </p:spPr>
      </p:sp>
      <p:sp>
        <p:nvSpPr>
          <p:cNvPr id="9" name="Text 6"/>
          <p:cNvSpPr txBox="1"/>
          <p:nvPr/>
        </p:nvSpPr>
        <p:spPr>
          <a:xfrm>
            <a:off x="7040880" y="1389888"/>
            <a:ext cx="1600200" cy="502920"/>
          </a:xfrm>
          <a:prstGeom prst="rect">
            <a:avLst/>
          </a:prstGeom>
          <a:noFill/>
          <a:ln/>
        </p:spPr>
        <p:txBody>
          <a:bodyPr wrap="square" lIns="0" tIns="0" rIns="0" bIns="0" rtlCol="0" anchor="t"/>
          <a:lstStyle/>
          <a:p>
            <a:pPr algn="ctr" indent="0" marL="0">
              <a:buNone/>
            </a:pPr>
            <a:r>
              <a:rPr lang="en-US" sz="2400" b="1" dirty="0">
                <a:solidFill>
                  <a:srgbClr val="2E8B57"/>
                </a:solidFill>
              </a:rPr>
              <a:t>97.8%</a:t>
            </a:r>
            <a:endParaRPr lang="en-US" sz="2400" dirty="0"/>
          </a:p>
        </p:txBody>
      </p:sp>
      <p:sp>
        <p:nvSpPr>
          <p:cNvPr id="10" name="Text 7"/>
          <p:cNvSpPr txBox="1"/>
          <p:nvPr/>
        </p:nvSpPr>
        <p:spPr>
          <a:xfrm>
            <a:off x="7040880" y="192024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Drowsy precision</a:t>
            </a:r>
            <a:endParaRPr lang="en-US" sz="1200" dirty="0"/>
          </a:p>
        </p:txBody>
      </p:sp>
      <p:sp>
        <p:nvSpPr>
          <p:cNvPr id="11" name="Shape 8"/>
          <p:cNvSpPr/>
          <p:nvPr/>
        </p:nvSpPr>
        <p:spPr>
          <a:xfrm>
            <a:off x="5303520" y="2468880"/>
            <a:ext cx="1600200" cy="1005840"/>
          </a:xfrm>
          <a:prstGeom prst="roundRect">
            <a:avLst>
              <a:gd name="adj" fmla="val 7273"/>
            </a:avLst>
          </a:prstGeom>
          <a:solidFill>
            <a:srgbClr val="F1F3F5"/>
          </a:solidFill>
          <a:ln w="12700">
            <a:solidFill>
              <a:srgbClr val="F1F3F5"/>
            </a:solidFill>
            <a:prstDash val="solid"/>
          </a:ln>
        </p:spPr>
      </p:sp>
      <p:sp>
        <p:nvSpPr>
          <p:cNvPr id="12" name="Text 9"/>
          <p:cNvSpPr txBox="1"/>
          <p:nvPr/>
        </p:nvSpPr>
        <p:spPr>
          <a:xfrm>
            <a:off x="5303520" y="2578608"/>
            <a:ext cx="1600200" cy="502920"/>
          </a:xfrm>
          <a:prstGeom prst="rect">
            <a:avLst/>
          </a:prstGeom>
          <a:noFill/>
          <a:ln/>
        </p:spPr>
        <p:txBody>
          <a:bodyPr wrap="square" lIns="0" tIns="0" rIns="0" bIns="0" rtlCol="0" anchor="t"/>
          <a:lstStyle/>
          <a:p>
            <a:pPr algn="ctr" indent="0" marL="0">
              <a:buNone/>
            </a:pPr>
            <a:r>
              <a:rPr lang="en-US" sz="2400" b="1" dirty="0">
                <a:solidFill>
                  <a:srgbClr val="E67E22"/>
                </a:solidFill>
              </a:rPr>
              <a:t>72.3%</a:t>
            </a:r>
            <a:endParaRPr lang="en-US" sz="2400" dirty="0"/>
          </a:p>
        </p:txBody>
      </p:sp>
      <p:sp>
        <p:nvSpPr>
          <p:cNvPr id="13" name="Text 10"/>
          <p:cNvSpPr txBox="1"/>
          <p:nvPr/>
        </p:nvSpPr>
        <p:spPr>
          <a:xfrm>
            <a:off x="5303520" y="310896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Drowsy recall</a:t>
            </a:r>
            <a:endParaRPr lang="en-US" sz="1200" dirty="0"/>
          </a:p>
        </p:txBody>
      </p:sp>
      <p:sp>
        <p:nvSpPr>
          <p:cNvPr id="14" name="Shape 11"/>
          <p:cNvSpPr/>
          <p:nvPr/>
        </p:nvSpPr>
        <p:spPr>
          <a:xfrm>
            <a:off x="7040880" y="2468880"/>
            <a:ext cx="1600200" cy="1005840"/>
          </a:xfrm>
          <a:prstGeom prst="roundRect">
            <a:avLst>
              <a:gd name="adj" fmla="val 7273"/>
            </a:avLst>
          </a:prstGeom>
          <a:solidFill>
            <a:srgbClr val="F1F3F5"/>
          </a:solidFill>
          <a:ln w="12700">
            <a:solidFill>
              <a:srgbClr val="F1F3F5"/>
            </a:solidFill>
            <a:prstDash val="solid"/>
          </a:ln>
        </p:spPr>
      </p:sp>
      <p:sp>
        <p:nvSpPr>
          <p:cNvPr id="15" name="Text 12"/>
          <p:cNvSpPr txBox="1"/>
          <p:nvPr/>
        </p:nvSpPr>
        <p:spPr>
          <a:xfrm>
            <a:off x="7040880" y="2578608"/>
            <a:ext cx="1600200" cy="502920"/>
          </a:xfrm>
          <a:prstGeom prst="rect">
            <a:avLst/>
          </a:prstGeom>
          <a:noFill/>
          <a:ln/>
        </p:spPr>
        <p:txBody>
          <a:bodyPr wrap="square" lIns="0" tIns="0" rIns="0" bIns="0" rtlCol="0" anchor="t"/>
          <a:lstStyle/>
          <a:p>
            <a:pPr algn="ctr" indent="0" marL="0">
              <a:buNone/>
            </a:pPr>
            <a:r>
              <a:rPr lang="en-US" sz="2400" b="1" dirty="0">
                <a:solidFill>
                  <a:srgbClr val="2E8B57"/>
                </a:solidFill>
              </a:rPr>
              <a:t>98.4%</a:t>
            </a:r>
            <a:endParaRPr lang="en-US" sz="2400" dirty="0"/>
          </a:p>
        </p:txBody>
      </p:sp>
      <p:sp>
        <p:nvSpPr>
          <p:cNvPr id="16" name="Text 13"/>
          <p:cNvSpPr txBox="1"/>
          <p:nvPr/>
        </p:nvSpPr>
        <p:spPr>
          <a:xfrm>
            <a:off x="7040880" y="310896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Alert recall</a:t>
            </a:r>
            <a:endParaRPr lang="en-US" sz="1200" dirty="0"/>
          </a:p>
        </p:txBody>
      </p:sp>
      <p:sp>
        <p:nvSpPr>
          <p:cNvPr id="17" name="Text 14"/>
          <p:cNvSpPr txBox="1"/>
          <p:nvPr/>
        </p:nvSpPr>
        <p:spPr>
          <a:xfrm>
            <a:off x="457200" y="4069080"/>
            <a:ext cx="8229600" cy="594360"/>
          </a:xfrm>
          <a:prstGeom prst="rect">
            <a:avLst/>
          </a:prstGeom>
          <a:noFill/>
          <a:ln/>
        </p:spPr>
        <p:txBody>
          <a:bodyPr wrap="square" lIns="0" tIns="0" rIns="0" bIns="0" rtlCol="0" anchor="t"/>
          <a:lstStyle/>
          <a:p>
            <a:pPr indent="0" marL="0">
              <a:buNone/>
            </a:pPr>
            <a:r>
              <a:rPr lang="en-US" sz="1300" dirty="0">
                <a:solidFill>
                  <a:srgbClr val="222831"/>
                </a:solidFill>
              </a:rPr>
              <a:t>When it says drowsy, it's almost always right. But it misses some drowsy frames, which is why we lowered the threshold and use frame history.</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Outputs</a:t>
            </a:r>
            <a:endParaRPr lang="en-US" sz="3000" dirty="0"/>
          </a:p>
        </p:txBody>
      </p:sp>
      <p:pic>
        <p:nvPicPr>
          <p:cNvPr id="3" name="Image 0" descr="C:\Users\sriss\Downloads\Driver_Monitoring-main (2)\Driver_Monitoring-main\ml_pipeline\models\drowsiness_detection\val_batch0_pred.jpg">    </p:cNvPr>
          <p:cNvPicPr>
            <a:picLocks noChangeAspect="1"/>
          </p:cNvPicPr>
          <p:nvPr/>
        </p:nvPicPr>
        <p:blipFill>
          <a:blip r:embed="rId1"/>
          <a:stretch>
            <a:fillRect/>
          </a:stretch>
        </p:blipFill>
        <p:spPr>
          <a:xfrm>
            <a:off x="457200" y="1097280"/>
            <a:ext cx="3520440" cy="3520440"/>
          </a:xfrm>
          <a:prstGeom prst="rect">
            <a:avLst/>
          </a:prstGeom>
        </p:spPr>
      </p:pic>
      <p:sp>
        <p:nvSpPr>
          <p:cNvPr id="4" name="Text 1"/>
          <p:cNvSpPr txBox="1"/>
          <p:nvPr/>
        </p:nvSpPr>
        <p:spPr>
          <a:xfrm>
            <a:off x="457200" y="4663440"/>
            <a:ext cx="3520440" cy="274320"/>
          </a:xfrm>
          <a:prstGeom prst="rect">
            <a:avLst/>
          </a:prstGeom>
          <a:noFill/>
          <a:ln/>
        </p:spPr>
        <p:txBody>
          <a:bodyPr wrap="square" lIns="0" tIns="0" rIns="0" bIns="0" rtlCol="0" anchor="t"/>
          <a:lstStyle/>
          <a:p>
            <a:pPr indent="0" marL="0">
              <a:buNone/>
            </a:pPr>
            <a:r>
              <a:rPr lang="en-US" sz="1000" i="1" dirty="0">
                <a:solidFill>
                  <a:srgbClr val="5F6B7A"/>
                </a:solidFill>
              </a:rPr>
              <a:t>Model predictions on validation images (label + confidence)</a:t>
            </a:r>
            <a:endParaRPr lang="en-US" sz="1000" dirty="0"/>
          </a:p>
        </p:txBody>
      </p:sp>
      <p:sp>
        <p:nvSpPr>
          <p:cNvPr id="5" name="Shape 2"/>
          <p:cNvSpPr/>
          <p:nvPr/>
        </p:nvSpPr>
        <p:spPr>
          <a:xfrm>
            <a:off x="4343400" y="1097280"/>
            <a:ext cx="4343400" cy="2194560"/>
          </a:xfrm>
          <a:prstGeom prst="roundRect">
            <a:avLst>
              <a:gd name="adj" fmla="val 3333"/>
            </a:avLst>
          </a:prstGeom>
          <a:solidFill>
            <a:srgbClr val="F1F3F5"/>
          </a:solidFill>
          <a:ln w="12700">
            <a:solidFill>
              <a:srgbClr val="9AA5B1"/>
            </a:solidFill>
            <a:prstDash val="dash"/>
          </a:ln>
        </p:spPr>
      </p:sp>
      <p:sp>
        <p:nvSpPr>
          <p:cNvPr id="6" name="Text 3"/>
          <p:cNvSpPr txBox="1"/>
          <p:nvPr/>
        </p:nvSpPr>
        <p:spPr>
          <a:xfrm>
            <a:off x="4343400" y="2011680"/>
            <a:ext cx="4343400" cy="365760"/>
          </a:xfrm>
          <a:prstGeom prst="rect">
            <a:avLst/>
          </a:prstGeom>
          <a:noFill/>
          <a:ln/>
        </p:spPr>
        <p:txBody>
          <a:bodyPr wrap="square" lIns="0" tIns="0" rIns="0" bIns="0" rtlCol="0" anchor="t"/>
          <a:lstStyle/>
          <a:p>
            <a:pPr algn="ctr" indent="0" marL="0">
              <a:buNone/>
            </a:pPr>
            <a:r>
              <a:rPr lang="en-US" sz="1400" dirty="0">
                <a:solidFill>
                  <a:srgbClr val="5F6B7A"/>
                </a:solidFill>
              </a:rPr>
              <a:t>Paste a screenshot of the web app here</a:t>
            </a:r>
            <a:endParaRPr lang="en-US" sz="1400" dirty="0"/>
          </a:p>
        </p:txBody>
      </p:sp>
      <p:sp>
        <p:nvSpPr>
          <p:cNvPr id="7" name="Text 4"/>
          <p:cNvSpPr txBox="1"/>
          <p:nvPr/>
        </p:nvSpPr>
        <p:spPr>
          <a:xfrm>
            <a:off x="4343400" y="3474720"/>
            <a:ext cx="4343400" cy="320040"/>
          </a:xfrm>
          <a:prstGeom prst="rect">
            <a:avLst/>
          </a:prstGeom>
          <a:noFill/>
          <a:ln/>
        </p:spPr>
        <p:txBody>
          <a:bodyPr wrap="square" lIns="0" tIns="0" rIns="0" bIns="0" rtlCol="0" anchor="t"/>
          <a:lstStyle/>
          <a:p>
            <a:pPr indent="0" marL="0">
              <a:buNone/>
            </a:pPr>
            <a:r>
              <a:rPr lang="en-US" sz="1500" b="1" dirty="0">
                <a:solidFill>
                  <a:srgbClr val="1F2A36"/>
                </a:solidFill>
              </a:rPr>
              <a:t>What the web app shows:</a:t>
            </a:r>
            <a:endParaRPr lang="en-US" sz="1500" dirty="0"/>
          </a:p>
        </p:txBody>
      </p:sp>
      <p:sp>
        <p:nvSpPr>
          <p:cNvPr id="8" name="Text 5"/>
          <p:cNvSpPr txBox="1"/>
          <p:nvPr/>
        </p:nvSpPr>
        <p:spPr>
          <a:xfrm>
            <a:off x="4343400" y="3840480"/>
            <a:ext cx="43434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831"/>
                </a:solidFill>
              </a:rPr>
              <a:t>Green / red status card (Alert or Drowsy) with confidence</a:t>
            </a:r>
            <a:endParaRPr lang="en-US" sz="1300" dirty="0"/>
          </a:p>
          <a:p>
            <a:pPr marL="342900" indent="-342900">
              <a:spcAft>
                <a:spcPts val="300"/>
              </a:spcAft>
              <a:buSzPct val="100000"/>
              <a:buChar char="•"/>
            </a:pPr>
            <a:r>
              <a:rPr lang="en-US" sz="1300" dirty="0">
                <a:solidFill>
                  <a:srgbClr val="222831"/>
                </a:solidFill>
              </a:rPr>
              <a:t>Alert level 0–3 and a short advice message</a:t>
            </a:r>
            <a:endParaRPr lang="en-US" sz="1300" dirty="0"/>
          </a:p>
          <a:p>
            <a:pPr marL="342900" indent="-342900">
              <a:spcAft>
                <a:spcPts val="300"/>
              </a:spcAft>
              <a:buSzPct val="100000"/>
              <a:buChar char="•"/>
            </a:pPr>
            <a:r>
              <a:rPr lang="en-US" sz="1300" dirty="0">
                <a:solidFill>
                  <a:srgbClr val="222831"/>
                </a:solidFill>
              </a:rPr>
              <a:t>Beeping alarm after 5 s of drowsiness</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Conclusion</a:t>
            </a:r>
            <a:endParaRPr lang="en-US" sz="3000" dirty="0"/>
          </a:p>
        </p:txBody>
      </p:sp>
      <p:sp>
        <p:nvSpPr>
          <p:cNvPr id="3" name="Shape 1"/>
          <p:cNvSpPr/>
          <p:nvPr/>
        </p:nvSpPr>
        <p:spPr>
          <a:xfrm>
            <a:off x="457200" y="1188720"/>
            <a:ext cx="2651760" cy="3337560"/>
          </a:xfrm>
          <a:prstGeom prst="roundRect">
            <a:avLst>
              <a:gd name="adj" fmla="val 3448"/>
            </a:avLst>
          </a:prstGeom>
          <a:solidFill>
            <a:srgbClr val="F1F3F5"/>
          </a:solidFill>
          <a:ln w="12700">
            <a:solidFill>
              <a:srgbClr val="F1F3F5"/>
            </a:solidFill>
            <a:prstDash val="solid"/>
          </a:ln>
        </p:spPr>
      </p:sp>
      <p:sp>
        <p:nvSpPr>
          <p:cNvPr id="4" name="Shape 2"/>
          <p:cNvSpPr/>
          <p:nvPr/>
        </p:nvSpPr>
        <p:spPr>
          <a:xfrm>
            <a:off x="640080" y="1389888"/>
            <a:ext cx="256032" cy="256032"/>
          </a:xfrm>
          <a:prstGeom prst="ellipse">
            <a:avLst/>
          </a:prstGeom>
          <a:solidFill>
            <a:srgbClr val="2E8B57"/>
          </a:solidFill>
          <a:ln w="12700">
            <a:solidFill>
              <a:srgbClr val="2E8B57"/>
            </a:solidFill>
            <a:prstDash val="solid"/>
          </a:ln>
        </p:spPr>
      </p:sp>
      <p:sp>
        <p:nvSpPr>
          <p:cNvPr id="5" name="Text 3"/>
          <p:cNvSpPr txBox="1"/>
          <p:nvPr/>
        </p:nvSpPr>
        <p:spPr>
          <a:xfrm>
            <a:off x="100584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What we did</a:t>
            </a:r>
            <a:endParaRPr lang="en-US" sz="1800" dirty="0"/>
          </a:p>
        </p:txBody>
      </p:sp>
      <p:sp>
        <p:nvSpPr>
          <p:cNvPr id="6" name="Text 4"/>
          <p:cNvSpPr txBox="1"/>
          <p:nvPr/>
        </p:nvSpPr>
        <p:spPr>
          <a:xfrm>
            <a:off x="64008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Built a full working system: webcam → model → alarm</a:t>
            </a:r>
            <a:endParaRPr lang="en-US" sz="1300" dirty="0"/>
          </a:p>
          <a:p>
            <a:pPr marL="342900" indent="-342900">
              <a:spcAft>
                <a:spcPts val="800"/>
              </a:spcAft>
              <a:buSzPct val="100000"/>
              <a:buChar char="•"/>
            </a:pPr>
            <a:r>
              <a:rPr lang="en-US" sz="1300" dirty="0">
                <a:solidFill>
                  <a:srgbClr val="222831"/>
                </a:solidFill>
              </a:rPr>
              <a:t>About 85% accuracy per frame with a small model that runs on CPU</a:t>
            </a:r>
            <a:endParaRPr lang="en-US" sz="1300" dirty="0"/>
          </a:p>
          <a:p>
            <a:pPr marL="342900" indent="-342900">
              <a:spcAft>
                <a:spcPts val="800"/>
              </a:spcAft>
              <a:buSzPct val="100000"/>
              <a:buChar char="•"/>
            </a:pPr>
            <a:r>
              <a:rPr lang="en-US" sz="1300" dirty="0">
                <a:solidFill>
                  <a:srgbClr val="222831"/>
                </a:solidFill>
              </a:rPr>
              <a:t>HOG, Sobel, morphology and optical flow features for every frame</a:t>
            </a:r>
            <a:endParaRPr lang="en-US" sz="1300" dirty="0"/>
          </a:p>
          <a:p>
            <a:pPr marL="342900" indent="-342900">
              <a:spcAft>
                <a:spcPts val="800"/>
              </a:spcAft>
              <a:buSzPct val="100000"/>
              <a:buChar char="•"/>
            </a:pPr>
            <a:r>
              <a:rPr lang="en-US" sz="1300" dirty="0">
                <a:solidFill>
                  <a:srgbClr val="222831"/>
                </a:solidFill>
              </a:rPr>
              <a:t>Frame history cuts down false alarms</a:t>
            </a:r>
            <a:endParaRPr lang="en-US" sz="1300" dirty="0"/>
          </a:p>
        </p:txBody>
      </p:sp>
      <p:sp>
        <p:nvSpPr>
          <p:cNvPr id="7" name="Shape 5"/>
          <p:cNvSpPr/>
          <p:nvPr/>
        </p:nvSpPr>
        <p:spPr>
          <a:xfrm>
            <a:off x="3246120" y="1188720"/>
            <a:ext cx="2651760" cy="3337560"/>
          </a:xfrm>
          <a:prstGeom prst="roundRect">
            <a:avLst>
              <a:gd name="adj" fmla="val 3448"/>
            </a:avLst>
          </a:prstGeom>
          <a:solidFill>
            <a:srgbClr val="F1F3F5"/>
          </a:solidFill>
          <a:ln w="12700">
            <a:solidFill>
              <a:srgbClr val="F1F3F5"/>
            </a:solidFill>
            <a:prstDash val="solid"/>
          </a:ln>
        </p:spPr>
      </p:sp>
      <p:sp>
        <p:nvSpPr>
          <p:cNvPr id="8" name="Shape 6"/>
          <p:cNvSpPr/>
          <p:nvPr/>
        </p:nvSpPr>
        <p:spPr>
          <a:xfrm>
            <a:off x="3429000" y="1389888"/>
            <a:ext cx="256032" cy="256032"/>
          </a:xfrm>
          <a:prstGeom prst="ellipse">
            <a:avLst/>
          </a:prstGeom>
          <a:solidFill>
            <a:srgbClr val="C0392B"/>
          </a:solidFill>
          <a:ln w="12700">
            <a:solidFill>
              <a:srgbClr val="C0392B"/>
            </a:solidFill>
            <a:prstDash val="solid"/>
          </a:ln>
        </p:spPr>
      </p:sp>
      <p:sp>
        <p:nvSpPr>
          <p:cNvPr id="9" name="Text 7"/>
          <p:cNvSpPr txBox="1"/>
          <p:nvPr/>
        </p:nvSpPr>
        <p:spPr>
          <a:xfrm>
            <a:off x="379476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Limitations</a:t>
            </a:r>
            <a:endParaRPr lang="en-US" sz="1800" dirty="0"/>
          </a:p>
        </p:txBody>
      </p:sp>
      <p:sp>
        <p:nvSpPr>
          <p:cNvPr id="10" name="Text 8"/>
          <p:cNvSpPr txBox="1"/>
          <p:nvPr/>
        </p:nvSpPr>
        <p:spPr>
          <a:xfrm>
            <a:off x="342900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Misses ~28% of drowsy frames when looking at one frame alone</a:t>
            </a:r>
            <a:endParaRPr lang="en-US" sz="1300" dirty="0"/>
          </a:p>
          <a:p>
            <a:pPr marL="342900" indent="-342900">
              <a:spcAft>
                <a:spcPts val="800"/>
              </a:spcAft>
              <a:buSzPct val="100000"/>
              <a:buChar char="•"/>
            </a:pPr>
            <a:r>
              <a:rPr lang="en-US" sz="1300" dirty="0">
                <a:solidFill>
                  <a:srgbClr val="222831"/>
                </a:solidFill>
              </a:rPr>
              <a:t>The model is tested only on the split dataset, not in real-world driving</a:t>
            </a:r>
            <a:endParaRPr lang="en-US" sz="1300" dirty="0"/>
          </a:p>
          <a:p>
            <a:pPr marL="342900" indent="-342900">
              <a:spcAft>
                <a:spcPts val="800"/>
              </a:spcAft>
              <a:buSzPct val="100000"/>
              <a:buChar char="•"/>
            </a:pPr>
            <a:r>
              <a:rPr lang="en-US" sz="1300" dirty="0">
                <a:solidFill>
                  <a:srgbClr val="222831"/>
                </a:solidFill>
              </a:rPr>
              <a:t>Lighting, glasses and camera angle affect results</a:t>
            </a:r>
            <a:endParaRPr lang="en-US" sz="1300" dirty="0"/>
          </a:p>
        </p:txBody>
      </p:sp>
      <p:sp>
        <p:nvSpPr>
          <p:cNvPr id="11" name="Shape 9"/>
          <p:cNvSpPr/>
          <p:nvPr/>
        </p:nvSpPr>
        <p:spPr>
          <a:xfrm>
            <a:off x="6035040" y="1188720"/>
            <a:ext cx="2651760" cy="3337560"/>
          </a:xfrm>
          <a:prstGeom prst="roundRect">
            <a:avLst>
              <a:gd name="adj" fmla="val 3448"/>
            </a:avLst>
          </a:prstGeom>
          <a:solidFill>
            <a:srgbClr val="F1F3F5"/>
          </a:solidFill>
          <a:ln w="12700">
            <a:solidFill>
              <a:srgbClr val="F1F3F5"/>
            </a:solidFill>
            <a:prstDash val="solid"/>
          </a:ln>
        </p:spPr>
      </p:sp>
      <p:sp>
        <p:nvSpPr>
          <p:cNvPr id="12" name="Shape 10"/>
          <p:cNvSpPr/>
          <p:nvPr/>
        </p:nvSpPr>
        <p:spPr>
          <a:xfrm>
            <a:off x="6217920" y="1389888"/>
            <a:ext cx="256032" cy="256032"/>
          </a:xfrm>
          <a:prstGeom prst="ellipse">
            <a:avLst/>
          </a:prstGeom>
          <a:solidFill>
            <a:srgbClr val="3B6E8F"/>
          </a:solidFill>
          <a:ln w="12700">
            <a:solidFill>
              <a:srgbClr val="3B6E8F"/>
            </a:solidFill>
            <a:prstDash val="solid"/>
          </a:ln>
        </p:spPr>
      </p:sp>
      <p:sp>
        <p:nvSpPr>
          <p:cNvPr id="13" name="Text 11"/>
          <p:cNvSpPr txBox="1"/>
          <p:nvPr/>
        </p:nvSpPr>
        <p:spPr>
          <a:xfrm>
            <a:off x="658368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Future work</a:t>
            </a:r>
            <a:endParaRPr lang="en-US" sz="1800" dirty="0"/>
          </a:p>
        </p:txBody>
      </p:sp>
      <p:sp>
        <p:nvSpPr>
          <p:cNvPr id="14" name="Text 12"/>
          <p:cNvSpPr txBox="1"/>
          <p:nvPr/>
        </p:nvSpPr>
        <p:spPr>
          <a:xfrm>
            <a:off x="621792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Use the CV features (edges, motion) directly in the drowsy decision</a:t>
            </a:r>
            <a:endParaRPr lang="en-US" sz="1300" dirty="0"/>
          </a:p>
          <a:p>
            <a:pPr marL="342900" indent="-342900">
              <a:spcAft>
                <a:spcPts val="800"/>
              </a:spcAft>
              <a:buSzPct val="100000"/>
              <a:buChar char="•"/>
            </a:pPr>
            <a:r>
              <a:rPr lang="en-US" sz="1300" dirty="0">
                <a:solidFill>
                  <a:srgbClr val="222831"/>
                </a:solidFill>
              </a:rPr>
              <a:t>Add eye-closure and yawn checks using face landmarks</a:t>
            </a:r>
            <a:endParaRPr lang="en-US" sz="1300" dirty="0"/>
          </a:p>
          <a:p>
            <a:pPr marL="342900" indent="-342900">
              <a:spcAft>
                <a:spcPts val="800"/>
              </a:spcAft>
              <a:buSzPct val="100000"/>
              <a:buChar char="•"/>
            </a:pPr>
            <a:r>
              <a:rPr lang="en-US" sz="1300" dirty="0">
                <a:solidFill>
                  <a:srgbClr val="222831"/>
                </a:solidFill>
              </a:rPr>
              <a:t>Test it in a real car and run it on a phone or small device</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645920"/>
            <a:ext cx="8046720" cy="822960"/>
          </a:xfrm>
          <a:prstGeom prst="rect">
            <a:avLst/>
          </a:prstGeom>
          <a:noFill/>
          <a:ln/>
        </p:spPr>
        <p:txBody>
          <a:bodyPr wrap="square" lIns="0" tIns="0" rIns="0" bIns="0" rtlCol="0" anchor="t"/>
          <a:lstStyle/>
          <a:p>
            <a:pPr algn="ctr" indent="0" marL="0">
              <a:buNone/>
            </a:pPr>
            <a:r>
              <a:rPr lang="en-US" sz="4400" b="1" dirty="0">
                <a:solidFill>
                  <a:srgbClr val="FFFFFF"/>
                </a:solidFill>
              </a:rPr>
              <a:t>Thank You</a:t>
            </a:r>
            <a:endParaRPr lang="en-US" sz="4400" dirty="0"/>
          </a:p>
        </p:txBody>
      </p:sp>
      <p:sp>
        <p:nvSpPr>
          <p:cNvPr id="3" name="Text 1"/>
          <p:cNvSpPr txBox="1"/>
          <p:nvPr/>
        </p:nvSpPr>
        <p:spPr>
          <a:xfrm>
            <a:off x="548640" y="2514600"/>
            <a:ext cx="8046720" cy="548640"/>
          </a:xfrm>
          <a:prstGeom prst="rect">
            <a:avLst/>
          </a:prstGeom>
          <a:noFill/>
          <a:ln/>
        </p:spPr>
        <p:txBody>
          <a:bodyPr wrap="square" lIns="0" tIns="0" rIns="0" bIns="0" rtlCol="0" anchor="t"/>
          <a:lstStyle/>
          <a:p>
            <a:pPr algn="ctr" indent="0" marL="0">
              <a:buNone/>
            </a:pPr>
            <a:r>
              <a:rPr lang="en-US" sz="2400" dirty="0">
                <a:solidFill>
                  <a:srgbClr val="F2A900"/>
                </a:solidFill>
              </a:rPr>
              <a:t>Questions?</a:t>
            </a:r>
            <a:endParaRPr lang="en-US" sz="2400" dirty="0"/>
          </a:p>
        </p:txBody>
      </p:sp>
    </p:spTree>
  </p:cSld>
  <p:clrMapOvr>
    <a:masterClrMapping/>
  </p:clrMapOvr>
</p:sld>
</file>

<file path=ppt/theme/theme1.xml><?xml version="1.0" encoding="utf-8"?>
<a:theme xmlns:a="http://schemas.openxmlformats.org/drawingml/2006/main" name="Drowsiness">
  <a:themeElements>
    <a:clrScheme name="Drowsiness">
      <a:dk1>
        <a:srgbClr val="222831"/>
      </a:dk1>
      <a:lt1>
        <a:srgbClr val="FFFFFF"/>
      </a:lt1>
      <a:dk2>
        <a:srgbClr val="1F2A36"/>
      </a:dk2>
      <a:lt2>
        <a:srgbClr val="F1F3F5"/>
      </a:lt2>
      <a:accent1>
        <a:srgbClr val="F2A900"/>
      </a:accent1>
      <a:accent2>
        <a:srgbClr val="2E8B57"/>
      </a:accent2>
      <a:accent3>
        <a:srgbClr val="C0392B"/>
      </a:accent3>
      <a:accent4>
        <a:srgbClr val="E67E22"/>
      </a:accent4>
      <a:accent5>
        <a:srgbClr val="3B6E8F"/>
      </a:accent5>
      <a:accent6>
        <a:srgbClr val="5F6B7A"/>
      </a:accent6>
      <a:hlink>
        <a:srgbClr val="3B6E8F"/>
      </a:hlink>
      <a:folHlink>
        <a:srgbClr val="5F6B7A"/>
      </a:folHlink>
    </a:clrScheme>
    <a:fontScheme name="Drowsi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Drowsiness Detection</dc:title>
  <dc:subject>PptxGenJS Presentation</dc:subject>
  <dc:creator>PptxGenJS</dc:creator>
  <cp:lastModifiedBy>PptxGenJS</cp:lastModifiedBy>
  <cp:revision>1</cp:revision>
  <dcterms:created xsi:type="dcterms:W3CDTF">2026-10-15T07:22:15Z</dcterms:created>
  <dcterms:modified xsi:type="dcterms:W3CDTF">2026-10-15T07:22:15Z</dcterms:modified>
</cp:coreProperties>
</file>